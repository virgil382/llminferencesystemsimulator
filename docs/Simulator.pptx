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60" r:id="rId3"/>
    <p:sldId id="264" r:id="rId4"/>
    <p:sldId id="265" r:id="rId5"/>
    <p:sldId id="266" r:id="rId6"/>
    <p:sldId id="26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C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639" autoAdjust="0"/>
  </p:normalViewPr>
  <p:slideViewPr>
    <p:cSldViewPr snapToGrid="0">
      <p:cViewPr>
        <p:scale>
          <a:sx n="125" d="100"/>
          <a:sy n="125" d="100"/>
        </p:scale>
        <p:origin x="210" y="-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4746B9-973E-42EE-833B-2CCE415A7F55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E4984D-4A2B-49D3-A2B8-537353A37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479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E4984D-4A2B-49D3-A2B8-537353A3719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287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4CDCA-67F7-B0DA-5147-717B19AB5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2BC998-16E1-5F12-CB7F-08D5E63D25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4E555C-4398-A00D-12C3-77066CC7D8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3A265D-F9C4-3D6F-318B-BD3B076DE6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E4984D-4A2B-49D3-A2B8-537353A3719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4215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FFAFD-FC17-1A97-09D3-9F69DA4C6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446FAF-B8EE-B3B6-1521-A099B92990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7EEF34-9257-5671-6392-F0F456EEBA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A74B98-5A0E-545D-4DBA-B66281B02C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E4984D-4A2B-49D3-A2B8-537353A3719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941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66666-1877-3F9B-92B3-A7D284625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05C4D7-64A2-ADA6-8F23-C3C62BC8B1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764DC7-27A2-92A5-4FD6-55996D9499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4AE267-D99B-97DD-74B4-618BE13404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E4984D-4A2B-49D3-A2B8-537353A3719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4909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A5F41-2B69-1223-8140-6B03B7B2E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A1B700-9D8E-036E-A4B8-4A47397265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3D6E93-D556-0D72-C50F-F122975E43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E78EB4-1D1A-6B63-6A97-4A73516E68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E4984D-4A2B-49D3-A2B8-537353A3719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3887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9017B-033C-889B-1F68-10744C6069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1B2449-7035-559C-A11B-67CBDC5B0C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EA0CA-0E4E-B6C8-969F-6F9AC275F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BEE99-EB13-440C-B182-3BC3988FEC29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9A0BF-3283-A359-891E-A003BF4E4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0A263-77E2-9307-3EEF-76084A535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02E2-632A-4EB4-B76C-5F94BE43E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543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3B0BD-2EF9-D851-7EF5-D359F71C7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59CCF-32CF-3267-057A-025595337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D5B3A-CC0B-C44B-1E08-71F0D678D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BEE99-EB13-440C-B182-3BC3988FEC29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24E61A-E0DA-B5A1-B436-2131F96B5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C79267-AE62-DC0B-D53B-3FF4261D9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02E2-632A-4EB4-B76C-5F94BE43E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715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FE12C-921F-19B3-09F4-0FFF17642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107A37-57A5-A0A2-4B17-1C86210C6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CA903-575B-03A3-0E52-C076CACDF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BEE99-EB13-440C-B182-3BC3988FEC29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725957-848A-FD11-D6A7-83432C279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F174F-DE02-44E6-6B1A-5B2E8C239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02E2-632A-4EB4-B76C-5F94BE43E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219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B1DEA-CC3E-4270-4FCC-BFE3B8927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5EB73-0694-C227-4D61-AE2D50EFA0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E0B569-6DEF-0D95-74E7-E636DB9E1F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6AED7-DFF5-C60B-ADE2-865B2BAFA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BEE99-EB13-440C-B182-3BC3988FEC29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CAB50A-1FF9-8351-513C-F3410F53B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2BE812-9FAB-E971-9994-292EE307C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02E2-632A-4EB4-B76C-5F94BE43E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477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6B913-BA46-404C-7FD1-3C756B757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F45D36-5399-BB9A-A420-0A7804CEFE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CD901D-9408-8B89-49BA-42679AB4D6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11B1C8-1477-15F8-54DB-FF944AA5BE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B4CB4D-E393-B0C8-3C7B-1D7188A23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0C3079-4E52-1D84-729E-E5C7FB71E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BEE99-EB13-440C-B182-3BC3988FEC29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4B6A14-A0A5-E370-51CF-4B3327776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12843A-B7AB-084A-85A9-1A79CF656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02E2-632A-4EB4-B76C-5F94BE43E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883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61E73-396B-AF51-D7C1-471EC5D03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FCAF2D-35A2-88D0-0B94-E17155C31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BEE99-EB13-440C-B182-3BC3988FEC29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17B86C-4D9C-1C49-3D6B-07F98DAFA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EA44-85B2-C592-37BB-51E59C6B5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02E2-632A-4EB4-B76C-5F94BE43E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852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CD8A47-FA01-64D1-C2D1-5BB96DC50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BEE99-EB13-440C-B182-3BC3988FEC29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8996C1-5FF4-6DBF-3A42-7AF2A4C87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8A2076-6AA0-4540-63D4-6AD226954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02E2-632A-4EB4-B76C-5F94BE43E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043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4FB24-5F39-7BB9-3AB4-A3784ED2B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C80AC-EA21-9CBD-F7DE-2E04C6686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6C5C86-315E-4904-A92B-FA3D6F7A6B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E587E7-AEC4-63C5-342A-62F1D4D7A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BEE99-EB13-440C-B182-3BC3988FEC29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7B2E13-C121-C403-3A1F-A0B1F79C6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F935FB-A9E9-5C1E-3921-D1F7646A5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02E2-632A-4EB4-B76C-5F94BE43E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954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8CFC5-7FC9-7AE1-D69A-065B92A8F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22B691-0D3C-7BC6-9AA2-A512B63740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38DB58-ED24-38BF-33AB-DD61E30A9A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A0044B-83D7-8BB8-DC22-17E45BB67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BEE99-EB13-440C-B182-3BC3988FEC29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F38088-55D5-7394-7902-224A83D62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4A1A4C-79BE-5282-9E01-29DDAA902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02E2-632A-4EB4-B76C-5F94BE43E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82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7D12E-5271-3447-FF72-39F8662C3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2CF66F-39B3-8731-B629-790BAD21DE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17C580-2CD8-72DC-388F-304673135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BEE99-EB13-440C-B182-3BC3988FEC29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56F1D-640D-4269-45C8-92E672746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06493-4DD1-9198-C366-041CFFF9D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02E2-632A-4EB4-B76C-5F94BE43E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632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AD6FDC-3A7A-D5C1-587E-BE11015B41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A35BF6-9AC3-BB40-7CDF-AEBFDCDE41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C086B-4A0A-933B-81A3-BDC9FACAD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BEE99-EB13-440C-B182-3BC3988FEC29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1CB3A5-D919-CD88-2BC0-C60999320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1A29E8-622C-0ED4-10B9-2218E168B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02E2-632A-4EB4-B76C-5F94BE43E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536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3F6F36-FAB2-13C4-D7AA-E459B55DC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A89BAD-4733-22B8-C088-6EF6E5AB4D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8C975-81D1-CAC0-ADEC-7F01DCDD96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BEE99-EB13-440C-B182-3BC3988FEC29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D42E29-7346-04B0-654C-8FC185D760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B416E6-1B1F-FC0E-5179-C3979D1418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D302E2-632A-4EB4-B76C-5F94BE43E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18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10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8.png"/><Relationship Id="rId10" Type="http://schemas.openxmlformats.org/officeDocument/2006/relationships/image" Target="../media/image8.png"/><Relationship Id="rId4" Type="http://schemas.openxmlformats.org/officeDocument/2006/relationships/image" Target="../media/image210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0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8EF94-C843-577B-4C92-521EDDB8ED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6864"/>
            <a:ext cx="9144000" cy="2387600"/>
          </a:xfrm>
        </p:spPr>
        <p:txBody>
          <a:bodyPr>
            <a:normAutofit/>
          </a:bodyPr>
          <a:lstStyle/>
          <a:p>
            <a:r>
              <a:rPr lang="en-US" sz="5400" dirty="0"/>
              <a:t>Discrete-Event Simulator (DES)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CAFB8C-B0B5-B7F7-88B7-DB868869DA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746539"/>
            <a:ext cx="9144000" cy="1655762"/>
          </a:xfrm>
        </p:spPr>
        <p:txBody>
          <a:bodyPr/>
          <a:lstStyle/>
          <a:p>
            <a:r>
              <a:rPr lang="en-US" dirty="0"/>
              <a:t>for Concurrent Communication and Computation in Distributed Systems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6BB0B7-CC1A-D764-11AF-BF58677E3F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362" y="3885483"/>
            <a:ext cx="2385329" cy="22926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A5FEAD-AB8C-E03F-4707-183DF3F3D6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769" y="3885483"/>
            <a:ext cx="2495185" cy="22926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FEEB69-CBF5-E178-3965-582501E503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9131" y="3885483"/>
            <a:ext cx="4757198" cy="2292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785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344D1-E028-570F-40E1-10318CF70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0ABB144-8567-01C8-5938-BFCB5703F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68458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DataBatch</a:t>
            </a:r>
            <a:r>
              <a:rPr lang="en-US" dirty="0"/>
              <a:t>      Transfer Modeling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37B70815-166E-051C-8A95-DEC25272BCF7}"/>
                  </a:ext>
                </a:extLst>
              </p:cNvPr>
              <p:cNvSpPr/>
              <p:nvPr/>
            </p:nvSpPr>
            <p:spPr>
              <a:xfrm>
                <a:off x="2105267" y="4881496"/>
                <a:ext cx="484554" cy="484554"/>
              </a:xfrm>
              <a:prstGeom prst="rect">
                <a:avLst/>
              </a:prstGeom>
              <a:solidFill>
                <a:srgbClr val="FF0000">
                  <a:alpha val="44000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37B70815-166E-051C-8A95-DEC25272BC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5267" y="4881496"/>
                <a:ext cx="484554" cy="484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EA7C038A-EC88-DCC9-C05B-45B62475EBF8}"/>
                  </a:ext>
                </a:extLst>
              </p:cNvPr>
              <p:cNvSpPr/>
              <p:nvPr/>
            </p:nvSpPr>
            <p:spPr>
              <a:xfrm>
                <a:off x="4237741" y="4535182"/>
                <a:ext cx="1013161" cy="1013161"/>
              </a:xfrm>
              <a:prstGeom prst="rect">
                <a:avLst/>
              </a:prstGeom>
              <a:solidFill>
                <a:srgbClr val="00B050">
                  <a:alpha val="44000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EA7C038A-EC88-DCC9-C05B-45B62475EB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7741" y="4535182"/>
                <a:ext cx="1013161" cy="101316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Speech Bubble: Rectangle with Corners Rounded 53">
                <a:extLst>
                  <a:ext uri="{FF2B5EF4-FFF2-40B4-BE49-F238E27FC236}">
                    <a16:creationId xmlns:a16="http://schemas.microsoft.com/office/drawing/2014/main" id="{A5DDA25E-77F0-3208-265F-E372686E25B6}"/>
                  </a:ext>
                </a:extLst>
              </p:cNvPr>
              <p:cNvSpPr/>
              <p:nvPr/>
            </p:nvSpPr>
            <p:spPr>
              <a:xfrm>
                <a:off x="1025703" y="2647394"/>
                <a:ext cx="1330763" cy="637237"/>
              </a:xfrm>
              <a:prstGeom prst="wedgeRoundRectCallout">
                <a:avLst>
                  <a:gd name="adj1" fmla="val 30520"/>
                  <a:gd name="adj2" fmla="val -80928"/>
                  <a:gd name="adj3" fmla="val 16667"/>
                </a:avLst>
              </a:prstGeom>
              <a:solidFill>
                <a:srgbClr val="FFFC8F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sz="1000" dirty="0">
                    <a:solidFill>
                      <a:schemeClr val="tx1"/>
                    </a:solidFill>
                  </a:rPr>
                  <a:t>CommChannel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1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000" dirty="0">
                    <a:solidFill>
                      <a:schemeClr val="tx1"/>
                    </a:solidFill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bandwidth</m:t>
                    </m:r>
                    <m:r>
                      <a:rPr lang="en-US" sz="1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1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000" dirty="0">
                    <a:solidFill>
                      <a:schemeClr val="tx1"/>
                    </a:solidFill>
                  </a:rPr>
                  <a:t> and latency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1000" dirty="0">
                  <a:solidFill>
                    <a:schemeClr val="tx1"/>
                  </a:solidFill>
                </a:endParaRPr>
              </a:p>
              <a:p>
                <a:endParaRPr lang="en-US" sz="1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4" name="Speech Bubble: Rectangle with Corners Rounded 53">
                <a:extLst>
                  <a:ext uri="{FF2B5EF4-FFF2-40B4-BE49-F238E27FC236}">
                    <a16:creationId xmlns:a16="http://schemas.microsoft.com/office/drawing/2014/main" id="{A5DDA25E-77F0-3208-265F-E372686E25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703" y="2647394"/>
                <a:ext cx="1330763" cy="637237"/>
              </a:xfrm>
              <a:prstGeom prst="wedgeRoundRectCallout">
                <a:avLst>
                  <a:gd name="adj1" fmla="val 30520"/>
                  <a:gd name="adj2" fmla="val -80928"/>
                  <a:gd name="adj3" fmla="val 16667"/>
                </a:avLst>
              </a:prstGeom>
              <a:blipFill>
                <a:blip r:embed="rId5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Speech Bubble: Rectangle with Corners Rounded 58">
                <a:extLst>
                  <a:ext uri="{FF2B5EF4-FFF2-40B4-BE49-F238E27FC236}">
                    <a16:creationId xmlns:a16="http://schemas.microsoft.com/office/drawing/2014/main" id="{05FE8387-4834-FBA0-391F-35AD091109BB}"/>
                  </a:ext>
                </a:extLst>
              </p:cNvPr>
              <p:cNvSpPr/>
              <p:nvPr/>
            </p:nvSpPr>
            <p:spPr>
              <a:xfrm>
                <a:off x="4432428" y="2576003"/>
                <a:ext cx="1330763" cy="637237"/>
              </a:xfrm>
              <a:prstGeom prst="wedgeRoundRectCallout">
                <a:avLst>
                  <a:gd name="adj1" fmla="val -31108"/>
                  <a:gd name="adj2" fmla="val -83838"/>
                  <a:gd name="adj3" fmla="val 16667"/>
                </a:avLst>
              </a:prstGeom>
              <a:solidFill>
                <a:srgbClr val="FFFC8F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sz="1000" dirty="0">
                    <a:solidFill>
                      <a:schemeClr val="tx1"/>
                    </a:solidFill>
                  </a:rPr>
                  <a:t>CommChannel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000" dirty="0">
                    <a:solidFill>
                      <a:schemeClr val="tx1"/>
                    </a:solidFill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bandwidth</m:t>
                    </m:r>
                    <m:r>
                      <a:rPr lang="en-US" sz="1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000" dirty="0">
                    <a:solidFill>
                      <a:schemeClr val="tx1"/>
                    </a:solidFill>
                  </a:rPr>
                  <a:t> and latency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1000" dirty="0">
                  <a:solidFill>
                    <a:schemeClr val="tx1"/>
                  </a:solidFill>
                </a:endParaRPr>
              </a:p>
              <a:p>
                <a:endParaRPr lang="en-US" sz="1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" name="Speech Bubble: Rectangle with Corners Rounded 58">
                <a:extLst>
                  <a:ext uri="{FF2B5EF4-FFF2-40B4-BE49-F238E27FC236}">
                    <a16:creationId xmlns:a16="http://schemas.microsoft.com/office/drawing/2014/main" id="{05FE8387-4834-FBA0-391F-35AD091109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2428" y="2576003"/>
                <a:ext cx="1330763" cy="637237"/>
              </a:xfrm>
              <a:prstGeom prst="wedgeRoundRectCallout">
                <a:avLst>
                  <a:gd name="adj1" fmla="val -31108"/>
                  <a:gd name="adj2" fmla="val -83838"/>
                  <a:gd name="adj3" fmla="val 16667"/>
                </a:avLst>
              </a:prstGeom>
              <a:blipFill>
                <a:blip r:embed="rId6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6" name="Freeform: Shape 465">
            <a:extLst>
              <a:ext uri="{FF2B5EF4-FFF2-40B4-BE49-F238E27FC236}">
                <a16:creationId xmlns:a16="http://schemas.microsoft.com/office/drawing/2014/main" id="{66A24853-0C58-4BF7-2AA8-A9917F6E37E3}"/>
              </a:ext>
            </a:extLst>
          </p:cNvPr>
          <p:cNvSpPr/>
          <p:nvPr/>
        </p:nvSpPr>
        <p:spPr>
          <a:xfrm>
            <a:off x="1680210" y="1310639"/>
            <a:ext cx="1676870" cy="3842365"/>
          </a:xfrm>
          <a:custGeom>
            <a:avLst/>
            <a:gdLst>
              <a:gd name="csX0" fmla="*/ 996950 w 1676870"/>
              <a:gd name="csY0" fmla="*/ 3816350 h 3919922"/>
              <a:gd name="csX1" fmla="*/ 1498600 w 1676870"/>
              <a:gd name="csY1" fmla="*/ 3790950 h 3919922"/>
              <a:gd name="csX2" fmla="*/ 1676400 w 1676870"/>
              <a:gd name="csY2" fmla="*/ 2540000 h 3919922"/>
              <a:gd name="csX3" fmla="*/ 1524000 w 1676870"/>
              <a:gd name="csY3" fmla="*/ 1555750 h 3919922"/>
              <a:gd name="csX4" fmla="*/ 869950 w 1676870"/>
              <a:gd name="csY4" fmla="*/ 882650 h 3919922"/>
              <a:gd name="csX5" fmla="*/ 0 w 1676870"/>
              <a:gd name="csY5" fmla="*/ 0 h 3919922"/>
              <a:gd name="csX0" fmla="*/ 996950 w 1676870"/>
              <a:gd name="csY0" fmla="*/ 3816350 h 3870761"/>
              <a:gd name="csX1" fmla="*/ 1498600 w 1676870"/>
              <a:gd name="csY1" fmla="*/ 3790950 h 3870761"/>
              <a:gd name="csX2" fmla="*/ 1676400 w 1676870"/>
              <a:gd name="csY2" fmla="*/ 2540000 h 3870761"/>
              <a:gd name="csX3" fmla="*/ 1524000 w 1676870"/>
              <a:gd name="csY3" fmla="*/ 1555750 h 3870761"/>
              <a:gd name="csX4" fmla="*/ 869950 w 1676870"/>
              <a:gd name="csY4" fmla="*/ 882650 h 3870761"/>
              <a:gd name="csX5" fmla="*/ 0 w 1676870"/>
              <a:gd name="csY5" fmla="*/ 0 h 3870761"/>
              <a:gd name="csX0" fmla="*/ 996950 w 1676870"/>
              <a:gd name="csY0" fmla="*/ 3816350 h 3842365"/>
              <a:gd name="csX1" fmla="*/ 1498600 w 1676870"/>
              <a:gd name="csY1" fmla="*/ 3790950 h 3842365"/>
              <a:gd name="csX2" fmla="*/ 1676400 w 1676870"/>
              <a:gd name="csY2" fmla="*/ 2540000 h 3842365"/>
              <a:gd name="csX3" fmla="*/ 1524000 w 1676870"/>
              <a:gd name="csY3" fmla="*/ 1555750 h 3842365"/>
              <a:gd name="csX4" fmla="*/ 869950 w 1676870"/>
              <a:gd name="csY4" fmla="*/ 882650 h 3842365"/>
              <a:gd name="csX5" fmla="*/ 0 w 1676870"/>
              <a:gd name="csY5" fmla="*/ 0 h 38423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676870" h="3842365">
                <a:moveTo>
                  <a:pt x="996950" y="3816350"/>
                </a:moveTo>
                <a:cubicBezTo>
                  <a:pt x="1248304" y="3840162"/>
                  <a:pt x="1328208" y="3870325"/>
                  <a:pt x="1498600" y="3790950"/>
                </a:cubicBezTo>
                <a:cubicBezTo>
                  <a:pt x="1668992" y="3711575"/>
                  <a:pt x="1672167" y="2912533"/>
                  <a:pt x="1676400" y="2540000"/>
                </a:cubicBezTo>
                <a:cubicBezTo>
                  <a:pt x="1680633" y="2167467"/>
                  <a:pt x="1658408" y="1831975"/>
                  <a:pt x="1524000" y="1555750"/>
                </a:cubicBezTo>
                <a:cubicBezTo>
                  <a:pt x="1389592" y="1279525"/>
                  <a:pt x="869950" y="882650"/>
                  <a:pt x="869950" y="882650"/>
                </a:cubicBezTo>
                <a:lnTo>
                  <a:pt x="0" y="0"/>
                </a:lnTo>
              </a:path>
            </a:pathLst>
          </a:custGeom>
          <a:noFill/>
          <a:ln>
            <a:solidFill>
              <a:srgbClr val="FF0000"/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7" name="Freeform: Shape 466">
            <a:extLst>
              <a:ext uri="{FF2B5EF4-FFF2-40B4-BE49-F238E27FC236}">
                <a16:creationId xmlns:a16="http://schemas.microsoft.com/office/drawing/2014/main" id="{AF716250-8479-115E-2D3E-4CA6DB4F87FB}"/>
              </a:ext>
            </a:extLst>
          </p:cNvPr>
          <p:cNvSpPr/>
          <p:nvPr/>
        </p:nvSpPr>
        <p:spPr>
          <a:xfrm flipH="1">
            <a:off x="3408136" y="1310638"/>
            <a:ext cx="1676870" cy="3842365"/>
          </a:xfrm>
          <a:custGeom>
            <a:avLst/>
            <a:gdLst>
              <a:gd name="csX0" fmla="*/ 996950 w 1676870"/>
              <a:gd name="csY0" fmla="*/ 3816350 h 3919922"/>
              <a:gd name="csX1" fmla="*/ 1498600 w 1676870"/>
              <a:gd name="csY1" fmla="*/ 3790950 h 3919922"/>
              <a:gd name="csX2" fmla="*/ 1676400 w 1676870"/>
              <a:gd name="csY2" fmla="*/ 2540000 h 3919922"/>
              <a:gd name="csX3" fmla="*/ 1524000 w 1676870"/>
              <a:gd name="csY3" fmla="*/ 1555750 h 3919922"/>
              <a:gd name="csX4" fmla="*/ 869950 w 1676870"/>
              <a:gd name="csY4" fmla="*/ 882650 h 3919922"/>
              <a:gd name="csX5" fmla="*/ 0 w 1676870"/>
              <a:gd name="csY5" fmla="*/ 0 h 3919922"/>
              <a:gd name="csX0" fmla="*/ 996950 w 1676870"/>
              <a:gd name="csY0" fmla="*/ 3816350 h 3870761"/>
              <a:gd name="csX1" fmla="*/ 1498600 w 1676870"/>
              <a:gd name="csY1" fmla="*/ 3790950 h 3870761"/>
              <a:gd name="csX2" fmla="*/ 1676400 w 1676870"/>
              <a:gd name="csY2" fmla="*/ 2540000 h 3870761"/>
              <a:gd name="csX3" fmla="*/ 1524000 w 1676870"/>
              <a:gd name="csY3" fmla="*/ 1555750 h 3870761"/>
              <a:gd name="csX4" fmla="*/ 869950 w 1676870"/>
              <a:gd name="csY4" fmla="*/ 882650 h 3870761"/>
              <a:gd name="csX5" fmla="*/ 0 w 1676870"/>
              <a:gd name="csY5" fmla="*/ 0 h 3870761"/>
              <a:gd name="csX0" fmla="*/ 996950 w 1676870"/>
              <a:gd name="csY0" fmla="*/ 3816350 h 3842365"/>
              <a:gd name="csX1" fmla="*/ 1498600 w 1676870"/>
              <a:gd name="csY1" fmla="*/ 3790950 h 3842365"/>
              <a:gd name="csX2" fmla="*/ 1676400 w 1676870"/>
              <a:gd name="csY2" fmla="*/ 2540000 h 3842365"/>
              <a:gd name="csX3" fmla="*/ 1524000 w 1676870"/>
              <a:gd name="csY3" fmla="*/ 1555750 h 3842365"/>
              <a:gd name="csX4" fmla="*/ 869950 w 1676870"/>
              <a:gd name="csY4" fmla="*/ 882650 h 3842365"/>
              <a:gd name="csX5" fmla="*/ 0 w 1676870"/>
              <a:gd name="csY5" fmla="*/ 0 h 38423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676870" h="3842365">
                <a:moveTo>
                  <a:pt x="996950" y="3816350"/>
                </a:moveTo>
                <a:cubicBezTo>
                  <a:pt x="1248304" y="3840162"/>
                  <a:pt x="1328208" y="3870325"/>
                  <a:pt x="1498600" y="3790950"/>
                </a:cubicBezTo>
                <a:cubicBezTo>
                  <a:pt x="1668992" y="3711575"/>
                  <a:pt x="1672167" y="2912533"/>
                  <a:pt x="1676400" y="2540000"/>
                </a:cubicBezTo>
                <a:cubicBezTo>
                  <a:pt x="1680633" y="2167467"/>
                  <a:pt x="1658408" y="1831975"/>
                  <a:pt x="1524000" y="1555750"/>
                </a:cubicBezTo>
                <a:cubicBezTo>
                  <a:pt x="1389592" y="1279525"/>
                  <a:pt x="869950" y="882650"/>
                  <a:pt x="869950" y="882650"/>
                </a:cubicBezTo>
                <a:lnTo>
                  <a:pt x="0" y="0"/>
                </a:lnTo>
              </a:path>
            </a:pathLst>
          </a:custGeom>
          <a:noFill/>
          <a:ln>
            <a:solidFill>
              <a:srgbClr val="00B050"/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2" name="TextBox 461">
                <a:extLst>
                  <a:ext uri="{FF2B5EF4-FFF2-40B4-BE49-F238E27FC236}">
                    <a16:creationId xmlns:a16="http://schemas.microsoft.com/office/drawing/2014/main" id="{7FC09368-CA99-C80D-4AB0-0C3700F0BD43}"/>
                  </a:ext>
                </a:extLst>
              </p:cNvPr>
              <p:cNvSpPr txBox="1"/>
              <p:nvPr/>
            </p:nvSpPr>
            <p:spPr>
              <a:xfrm>
                <a:off x="3122745" y="3605231"/>
                <a:ext cx="49935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chemeClr val="tx1"/>
                    </a:solidFill>
                  </a:rPr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462" name="TextBox 461">
                <a:extLst>
                  <a:ext uri="{FF2B5EF4-FFF2-40B4-BE49-F238E27FC236}">
                    <a16:creationId xmlns:a16="http://schemas.microsoft.com/office/drawing/2014/main" id="{7FC09368-CA99-C80D-4AB0-0C3700F0BD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2745" y="3605231"/>
                <a:ext cx="499351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9" name="Speech Bubble: Rectangle with Corners Rounded 468">
                <a:extLst>
                  <a:ext uri="{FF2B5EF4-FFF2-40B4-BE49-F238E27FC236}">
                    <a16:creationId xmlns:a16="http://schemas.microsoft.com/office/drawing/2014/main" id="{69690AD6-E06E-6AB5-50A8-D6EB76AC43E9}"/>
                  </a:ext>
                </a:extLst>
              </p:cNvPr>
              <p:cNvSpPr/>
              <p:nvPr/>
            </p:nvSpPr>
            <p:spPr>
              <a:xfrm>
                <a:off x="4337149" y="3529243"/>
                <a:ext cx="2010704" cy="875087"/>
              </a:xfrm>
              <a:prstGeom prst="wedgeRoundRectCallout">
                <a:avLst>
                  <a:gd name="adj1" fmla="val -70167"/>
                  <a:gd name="adj2" fmla="val -28863"/>
                  <a:gd name="adj3" fmla="val 16667"/>
                </a:avLst>
              </a:prstGeom>
              <a:solidFill>
                <a:srgbClr val="FFFC8F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sz="1000" dirty="0">
                    <a:solidFill>
                      <a:schemeClr val="tx1"/>
                    </a:solidFill>
                  </a:rPr>
                  <a:t>CommChannel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000" dirty="0">
                    <a:solidFill>
                      <a:schemeClr val="tx1"/>
                    </a:solidFill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bandwidth</m:t>
                    </m:r>
                    <m:r>
                      <a:rPr lang="en-US" sz="1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000" dirty="0">
                    <a:solidFill>
                      <a:schemeClr val="tx1"/>
                    </a:solidFill>
                  </a:rPr>
                  <a:t> and latency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000" dirty="0">
                    <a:solidFill>
                      <a:schemeClr val="tx1"/>
                    </a:solidFill>
                  </a:rPr>
                  <a:t>.  For some time,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1000" dirty="0">
                    <a:solidFill>
                      <a:srgbClr val="FF0000"/>
                    </a:solidFill>
                  </a:rPr>
                  <a:t> </a:t>
                </a:r>
                <a:r>
                  <a:rPr lang="en-US" sz="1000" dirty="0">
                    <a:solidFill>
                      <a:schemeClr val="tx1"/>
                    </a:solidFill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0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1000" dirty="0">
                    <a:solidFill>
                      <a:schemeClr val="tx1"/>
                    </a:solidFill>
                  </a:rPr>
                  <a:t> contend for its bandwidth (until the transfer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1000" dirty="0">
                    <a:solidFill>
                      <a:srgbClr val="FF0000"/>
                    </a:solidFill>
                  </a:rPr>
                  <a:t> </a:t>
                </a:r>
                <a:r>
                  <a:rPr lang="en-US" sz="1000" dirty="0">
                    <a:solidFill>
                      <a:schemeClr val="tx1"/>
                    </a:solidFill>
                  </a:rPr>
                  <a:t>completes).</a:t>
                </a:r>
              </a:p>
              <a:p>
                <a:endParaRPr lang="en-US" sz="1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9" name="Speech Bubble: Rectangle with Corners Rounded 468">
                <a:extLst>
                  <a:ext uri="{FF2B5EF4-FFF2-40B4-BE49-F238E27FC236}">
                    <a16:creationId xmlns:a16="http://schemas.microsoft.com/office/drawing/2014/main" id="{69690AD6-E06E-6AB5-50A8-D6EB76AC43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7149" y="3529243"/>
                <a:ext cx="2010704" cy="875087"/>
              </a:xfrm>
              <a:prstGeom prst="wedgeRoundRectCallout">
                <a:avLst>
                  <a:gd name="adj1" fmla="val -70167"/>
                  <a:gd name="adj2" fmla="val -28863"/>
                  <a:gd name="adj3" fmla="val 16667"/>
                </a:avLst>
              </a:prstGeom>
              <a:blipFill>
                <a:blip r:embed="rId8"/>
                <a:stretch>
                  <a:fillRect b="-6207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9E496F38-9428-09B7-02CC-772CF2224818}"/>
                  </a:ext>
                </a:extLst>
              </p:cNvPr>
              <p:cNvSpPr txBox="1"/>
              <p:nvPr/>
            </p:nvSpPr>
            <p:spPr>
              <a:xfrm>
                <a:off x="1025702" y="856188"/>
                <a:ext cx="986111" cy="3931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sSub>
                            <m:sSubPr>
                              <m:ctrlPr>
                                <a:rPr lang="en-US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9E496F38-9428-09B7-02CC-772CF22248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702" y="856188"/>
                <a:ext cx="986111" cy="393121"/>
              </a:xfrm>
              <a:prstGeom prst="rect">
                <a:avLst/>
              </a:prstGeom>
              <a:blipFill>
                <a:blip r:embed="rId9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D2B34359-87CB-CC33-C2A0-793B451E2C16}"/>
                  </a:ext>
                </a:extLst>
              </p:cNvPr>
              <p:cNvSpPr txBox="1"/>
              <p:nvPr/>
            </p:nvSpPr>
            <p:spPr>
              <a:xfrm>
                <a:off x="5085006" y="939036"/>
                <a:ext cx="986111" cy="3931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sSub>
                            <m:sSubPr>
                              <m:ctrlPr>
                                <a:rPr lang="en-US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D2B34359-87CB-CC33-C2A0-793B451E2C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5006" y="939036"/>
                <a:ext cx="986111" cy="393121"/>
              </a:xfrm>
              <a:prstGeom prst="rect">
                <a:avLst/>
              </a:prstGeom>
              <a:blipFill>
                <a:blip r:embed="rId10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TextBox 71">
            <a:extLst>
              <a:ext uri="{FF2B5EF4-FFF2-40B4-BE49-F238E27FC236}">
                <a16:creationId xmlns:a16="http://schemas.microsoft.com/office/drawing/2014/main" id="{C3A50389-FE3B-5D1B-7C3D-C0B706914EDE}"/>
              </a:ext>
            </a:extLst>
          </p:cNvPr>
          <p:cNvSpPr txBox="1"/>
          <p:nvPr/>
        </p:nvSpPr>
        <p:spPr>
          <a:xfrm>
            <a:off x="1782558" y="5397438"/>
            <a:ext cx="1147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DataBatch</a:t>
            </a:r>
            <a:endParaRPr lang="en-US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9291862-C58F-45E7-C587-FAFE08B77B3B}"/>
              </a:ext>
            </a:extLst>
          </p:cNvPr>
          <p:cNvSpPr txBox="1"/>
          <p:nvPr/>
        </p:nvSpPr>
        <p:spPr>
          <a:xfrm>
            <a:off x="4170413" y="5563182"/>
            <a:ext cx="1147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DataBatch</a:t>
            </a:r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BF0086-977F-41D6-3EEB-6E9F9BA60992}"/>
              </a:ext>
            </a:extLst>
          </p:cNvPr>
          <p:cNvGrpSpPr/>
          <p:nvPr/>
        </p:nvGrpSpPr>
        <p:grpSpPr>
          <a:xfrm>
            <a:off x="3036667" y="2974340"/>
            <a:ext cx="703385" cy="1668584"/>
            <a:chOff x="4712677" y="2188308"/>
            <a:chExt cx="703385" cy="1668584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7299890-6C4E-DE98-B2E4-A2A4B32EF9F5}"/>
                </a:ext>
              </a:extLst>
            </p:cNvPr>
            <p:cNvSpPr/>
            <p:nvPr/>
          </p:nvSpPr>
          <p:spPr>
            <a:xfrm>
              <a:off x="4712677" y="2188308"/>
              <a:ext cx="703385" cy="234461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228553C-E4AF-2968-529D-3A2912C54126}"/>
                </a:ext>
              </a:extLst>
            </p:cNvPr>
            <p:cNvSpPr/>
            <p:nvPr/>
          </p:nvSpPr>
          <p:spPr>
            <a:xfrm>
              <a:off x="4712677" y="3622431"/>
              <a:ext cx="703385" cy="234461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3946E9F-1E29-8C62-90B8-C39317034643}"/>
                </a:ext>
              </a:extLst>
            </p:cNvPr>
            <p:cNvCxnSpPr>
              <a:stCxn id="16" idx="2"/>
              <a:endCxn id="18" idx="2"/>
            </p:cNvCxnSpPr>
            <p:nvPr/>
          </p:nvCxnSpPr>
          <p:spPr>
            <a:xfrm>
              <a:off x="4712677" y="2305539"/>
              <a:ext cx="0" cy="1434123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D98562C-F6E0-6F57-04AE-5E70A930114E}"/>
                </a:ext>
              </a:extLst>
            </p:cNvPr>
            <p:cNvCxnSpPr>
              <a:stCxn id="16" idx="6"/>
              <a:endCxn id="18" idx="6"/>
            </p:cNvCxnSpPr>
            <p:nvPr/>
          </p:nvCxnSpPr>
          <p:spPr>
            <a:xfrm>
              <a:off x="5416062" y="2305539"/>
              <a:ext cx="0" cy="1434123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B020598-D92F-76BB-3545-EF7228A26CBD}"/>
              </a:ext>
            </a:extLst>
          </p:cNvPr>
          <p:cNvGrpSpPr/>
          <p:nvPr/>
        </p:nvGrpSpPr>
        <p:grpSpPr>
          <a:xfrm rot="18993548">
            <a:off x="2152939" y="1292455"/>
            <a:ext cx="703385" cy="1668584"/>
            <a:chOff x="4712677" y="2188308"/>
            <a:chExt cx="703385" cy="1668584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B4ACEA3-B876-DA67-4A17-70FD6DF42FF9}"/>
                </a:ext>
              </a:extLst>
            </p:cNvPr>
            <p:cNvSpPr/>
            <p:nvPr/>
          </p:nvSpPr>
          <p:spPr>
            <a:xfrm>
              <a:off x="4712677" y="2188308"/>
              <a:ext cx="703385" cy="234461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2D66C5FE-DE89-B299-EBC6-0993B3982F98}"/>
                </a:ext>
              </a:extLst>
            </p:cNvPr>
            <p:cNvSpPr/>
            <p:nvPr/>
          </p:nvSpPr>
          <p:spPr>
            <a:xfrm>
              <a:off x="4712677" y="3622431"/>
              <a:ext cx="703385" cy="234461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9E9F5A1-AA7A-7213-CC67-BDCE2C693420}"/>
                </a:ext>
              </a:extLst>
            </p:cNvPr>
            <p:cNvCxnSpPr>
              <a:stCxn id="25" idx="2"/>
              <a:endCxn id="26" idx="2"/>
            </p:cNvCxnSpPr>
            <p:nvPr/>
          </p:nvCxnSpPr>
          <p:spPr>
            <a:xfrm>
              <a:off x="4712677" y="2305539"/>
              <a:ext cx="0" cy="1434123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A6D816E-316E-CC74-DD6B-7D291EB9A880}"/>
                </a:ext>
              </a:extLst>
            </p:cNvPr>
            <p:cNvCxnSpPr>
              <a:stCxn id="25" idx="6"/>
              <a:endCxn id="26" idx="6"/>
            </p:cNvCxnSpPr>
            <p:nvPr/>
          </p:nvCxnSpPr>
          <p:spPr>
            <a:xfrm>
              <a:off x="5416062" y="2305539"/>
              <a:ext cx="0" cy="1434123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3E5CDEC-C296-2168-D605-25764399E743}"/>
              </a:ext>
            </a:extLst>
          </p:cNvPr>
          <p:cNvGrpSpPr/>
          <p:nvPr/>
        </p:nvGrpSpPr>
        <p:grpSpPr>
          <a:xfrm rot="2513119">
            <a:off x="3887462" y="1284127"/>
            <a:ext cx="703385" cy="1668584"/>
            <a:chOff x="4712677" y="2188308"/>
            <a:chExt cx="703385" cy="1668584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A420D6B3-BC3E-0CCE-DF5E-7ABB0B9CBC06}"/>
                </a:ext>
              </a:extLst>
            </p:cNvPr>
            <p:cNvSpPr/>
            <p:nvPr/>
          </p:nvSpPr>
          <p:spPr>
            <a:xfrm>
              <a:off x="4712677" y="2188308"/>
              <a:ext cx="703385" cy="234461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926DF407-E428-1146-2713-F369DBEC8BC2}"/>
                </a:ext>
              </a:extLst>
            </p:cNvPr>
            <p:cNvSpPr/>
            <p:nvPr/>
          </p:nvSpPr>
          <p:spPr>
            <a:xfrm>
              <a:off x="4712677" y="3622431"/>
              <a:ext cx="703385" cy="234461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E405E9E-AC6F-EAF4-E454-0E00897BB049}"/>
                </a:ext>
              </a:extLst>
            </p:cNvPr>
            <p:cNvCxnSpPr>
              <a:stCxn id="35" idx="2"/>
              <a:endCxn id="36" idx="2"/>
            </p:cNvCxnSpPr>
            <p:nvPr/>
          </p:nvCxnSpPr>
          <p:spPr>
            <a:xfrm>
              <a:off x="4712677" y="2305539"/>
              <a:ext cx="0" cy="1434123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6362C9A7-55FE-959D-1AAA-2EE7E6C32747}"/>
                </a:ext>
              </a:extLst>
            </p:cNvPr>
            <p:cNvCxnSpPr>
              <a:stCxn id="35" idx="6"/>
              <a:endCxn id="36" idx="6"/>
            </p:cNvCxnSpPr>
            <p:nvPr/>
          </p:nvCxnSpPr>
          <p:spPr>
            <a:xfrm>
              <a:off x="5416062" y="2305539"/>
              <a:ext cx="0" cy="1434123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60" name="TextBox 459">
                <a:extLst>
                  <a:ext uri="{FF2B5EF4-FFF2-40B4-BE49-F238E27FC236}">
                    <a16:creationId xmlns:a16="http://schemas.microsoft.com/office/drawing/2014/main" id="{50EDC768-7A69-CF3A-60DB-8F12C564A78C}"/>
                  </a:ext>
                </a:extLst>
              </p:cNvPr>
              <p:cNvSpPr txBox="1"/>
              <p:nvPr/>
            </p:nvSpPr>
            <p:spPr>
              <a:xfrm>
                <a:off x="3944085" y="1911050"/>
                <a:ext cx="49935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chemeClr val="tx1"/>
                    </a:solidFill>
                  </a:rPr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460" name="TextBox 459">
                <a:extLst>
                  <a:ext uri="{FF2B5EF4-FFF2-40B4-BE49-F238E27FC236}">
                    <a16:creationId xmlns:a16="http://schemas.microsoft.com/office/drawing/2014/main" id="{50EDC768-7A69-CF3A-60DB-8F12C564A7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4085" y="1911050"/>
                <a:ext cx="499351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1" name="TextBox 460">
                <a:extLst>
                  <a:ext uri="{FF2B5EF4-FFF2-40B4-BE49-F238E27FC236}">
                    <a16:creationId xmlns:a16="http://schemas.microsoft.com/office/drawing/2014/main" id="{39DB6BA3-1D10-1D39-99A0-7B1A84D8EF38}"/>
                  </a:ext>
                </a:extLst>
              </p:cNvPr>
              <p:cNvSpPr txBox="1"/>
              <p:nvPr/>
            </p:nvSpPr>
            <p:spPr>
              <a:xfrm>
                <a:off x="2255131" y="1939708"/>
                <a:ext cx="49935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chemeClr val="tx1"/>
                    </a:solidFill>
                  </a:rPr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461" name="TextBox 460">
                <a:extLst>
                  <a:ext uri="{FF2B5EF4-FFF2-40B4-BE49-F238E27FC236}">
                    <a16:creationId xmlns:a16="http://schemas.microsoft.com/office/drawing/2014/main" id="{39DB6BA3-1D10-1D39-99A0-7B1A84D8EF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5131" y="1939708"/>
                <a:ext cx="499351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DD5B733B-20CC-BC92-9D83-3C86B73D6FA7}"/>
                  </a:ext>
                </a:extLst>
              </p:cNvPr>
              <p:cNvSpPr txBox="1"/>
              <p:nvPr/>
            </p:nvSpPr>
            <p:spPr>
              <a:xfrm>
                <a:off x="6905625" y="939036"/>
                <a:ext cx="4867275" cy="50838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 data transfer task D (referred to as a </a:t>
                </a:r>
                <a:r>
                  <a:rPr lang="en-US" dirty="0" err="1"/>
                  <a:t>DataBatch</a:t>
                </a:r>
                <a:r>
                  <a:rPr lang="en-US" dirty="0"/>
                  <a:t>) is defined by its payload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and a discrete path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. The total transfer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dirty="0"/>
                  <a:t> is the sum of the cumulative propagation delay and the serialization delay: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limLoc m:val="undOvr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𝑑𝑆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 is the instantaneous rate allocated to the batch at time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based on network contention.</a:t>
                </a:r>
              </a:p>
              <a:p>
                <a:endParaRPr lang="en-US" dirty="0"/>
              </a:p>
              <a:p>
                <a:r>
                  <a:rPr lang="en-US" dirty="0"/>
                  <a:t>The transfer rate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for a </a:t>
                </a:r>
                <a:r>
                  <a:rPr lang="en-US" dirty="0" err="1"/>
                  <a:t>DataBatch</a:t>
                </a:r>
                <a:r>
                  <a:rPr lang="en-US" dirty="0"/>
                  <a:t> D, is determined by selecting the minimum transfer rate along its path P.  The bandwidth of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is evenly shared with other </a:t>
                </a:r>
                <a:r>
                  <a:rPr lang="en-US" dirty="0" err="1"/>
                  <a:t>DataBatches</a:t>
                </a:r>
                <a:r>
                  <a:rPr lang="en-US" dirty="0"/>
                  <a:t> that may be 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at time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DD5B733B-20CC-BC92-9D83-3C86B73D6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5625" y="939036"/>
                <a:ext cx="4867275" cy="5083828"/>
              </a:xfrm>
              <a:prstGeom prst="rect">
                <a:avLst/>
              </a:prstGeom>
              <a:blipFill>
                <a:blip r:embed="rId13"/>
                <a:stretch>
                  <a:fillRect l="-1128" t="-600" r="-12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Rectangle 83">
            <a:extLst>
              <a:ext uri="{FF2B5EF4-FFF2-40B4-BE49-F238E27FC236}">
                <a16:creationId xmlns:a16="http://schemas.microsoft.com/office/drawing/2014/main" id="{9F4B133C-AE0B-C127-90DA-973FDD099797}"/>
              </a:ext>
            </a:extLst>
          </p:cNvPr>
          <p:cNvSpPr/>
          <p:nvPr/>
        </p:nvSpPr>
        <p:spPr>
          <a:xfrm>
            <a:off x="2416637" y="182061"/>
            <a:ext cx="304337" cy="304337"/>
          </a:xfrm>
          <a:prstGeom prst="rect">
            <a:avLst/>
          </a:prstGeom>
          <a:solidFill>
            <a:schemeClr val="bg1">
              <a:alpha val="4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6260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31AB5-319C-C96C-F482-3596B2462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9F488FC-191A-CEC8-8886-726DA89FC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68458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ComputeJob</a:t>
            </a:r>
            <a:r>
              <a:rPr lang="en-US" dirty="0"/>
              <a:t>      Modeling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36BC1AE5-6586-3569-E90F-6B564250B6AA}"/>
                  </a:ext>
                </a:extLst>
              </p:cNvPr>
              <p:cNvSpPr/>
              <p:nvPr/>
            </p:nvSpPr>
            <p:spPr>
              <a:xfrm>
                <a:off x="1820673" y="2773411"/>
                <a:ext cx="484554" cy="484554"/>
              </a:xfrm>
              <a:prstGeom prst="rect">
                <a:avLst/>
              </a:prstGeom>
              <a:solidFill>
                <a:srgbClr val="FF0000">
                  <a:alpha val="44000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36BC1AE5-6586-3569-E90F-6B564250B6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0673" y="2773411"/>
                <a:ext cx="484554" cy="484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738FCDE1-47FA-1999-6AA4-FA87DC1E7A1F}"/>
                  </a:ext>
                </a:extLst>
              </p:cNvPr>
              <p:cNvSpPr/>
              <p:nvPr/>
            </p:nvSpPr>
            <p:spPr>
              <a:xfrm>
                <a:off x="5375773" y="3933202"/>
                <a:ext cx="1013161" cy="1013161"/>
              </a:xfrm>
              <a:prstGeom prst="rect">
                <a:avLst/>
              </a:prstGeom>
              <a:solidFill>
                <a:srgbClr val="00B050">
                  <a:alpha val="44000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738FCDE1-47FA-1999-6AA4-FA87DC1E7A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5773" y="3933202"/>
                <a:ext cx="1013161" cy="101316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Speech Bubble: Rectangle with Corners Rounded 53">
                <a:extLst>
                  <a:ext uri="{FF2B5EF4-FFF2-40B4-BE49-F238E27FC236}">
                    <a16:creationId xmlns:a16="http://schemas.microsoft.com/office/drawing/2014/main" id="{6C9314B9-586B-E658-594E-B46FA28129BF}"/>
                  </a:ext>
                </a:extLst>
              </p:cNvPr>
              <p:cNvSpPr/>
              <p:nvPr/>
            </p:nvSpPr>
            <p:spPr>
              <a:xfrm>
                <a:off x="7179148" y="3184415"/>
                <a:ext cx="1330763" cy="637237"/>
              </a:xfrm>
              <a:prstGeom prst="wedgeRoundRectCallout">
                <a:avLst>
                  <a:gd name="adj1" fmla="val 22504"/>
                  <a:gd name="adj2" fmla="val 76916"/>
                  <a:gd name="adj3" fmla="val 16667"/>
                </a:avLst>
              </a:prstGeom>
              <a:solidFill>
                <a:srgbClr val="FFFC8F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sz="1000" dirty="0">
                    <a:solidFill>
                      <a:schemeClr val="tx1"/>
                    </a:solidFill>
                  </a:rPr>
                  <a:t>CommChannel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1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000" dirty="0">
                    <a:solidFill>
                      <a:schemeClr val="tx1"/>
                    </a:solidFill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bandwidth</m:t>
                    </m:r>
                    <m:r>
                      <a:rPr lang="en-US" sz="1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1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000" dirty="0">
                    <a:solidFill>
                      <a:schemeClr val="tx1"/>
                    </a:solidFill>
                  </a:rPr>
                  <a:t> and latency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1000" dirty="0">
                  <a:solidFill>
                    <a:schemeClr val="tx1"/>
                  </a:solidFill>
                </a:endParaRPr>
              </a:p>
              <a:p>
                <a:endParaRPr lang="en-US" sz="1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4" name="Speech Bubble: Rectangle with Corners Rounded 53">
                <a:extLst>
                  <a:ext uri="{FF2B5EF4-FFF2-40B4-BE49-F238E27FC236}">
                    <a16:creationId xmlns:a16="http://schemas.microsoft.com/office/drawing/2014/main" id="{6C9314B9-586B-E658-594E-B46FA28129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9148" y="3184415"/>
                <a:ext cx="1330763" cy="637237"/>
              </a:xfrm>
              <a:prstGeom prst="wedgeRoundRectCallout">
                <a:avLst>
                  <a:gd name="adj1" fmla="val 22504"/>
                  <a:gd name="adj2" fmla="val 76916"/>
                  <a:gd name="adj3" fmla="val 16667"/>
                </a:avLst>
              </a:prstGeom>
              <a:blipFill>
                <a:blip r:embed="rId5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Speech Bubble: Rectangle with Corners Rounded 58">
                <a:extLst>
                  <a:ext uri="{FF2B5EF4-FFF2-40B4-BE49-F238E27FC236}">
                    <a16:creationId xmlns:a16="http://schemas.microsoft.com/office/drawing/2014/main" id="{87FBD2D1-1F90-5975-D8E8-8AB3AF9E1ECD}"/>
                  </a:ext>
                </a:extLst>
              </p:cNvPr>
              <p:cNvSpPr/>
              <p:nvPr/>
            </p:nvSpPr>
            <p:spPr>
              <a:xfrm>
                <a:off x="2958304" y="1723822"/>
                <a:ext cx="1330763" cy="637237"/>
              </a:xfrm>
              <a:prstGeom prst="wedgeRoundRectCallout">
                <a:avLst>
                  <a:gd name="adj1" fmla="val 20426"/>
                  <a:gd name="adj2" fmla="val 71614"/>
                  <a:gd name="adj3" fmla="val 16667"/>
                </a:avLst>
              </a:prstGeom>
              <a:solidFill>
                <a:srgbClr val="FFFC8F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sz="1000" dirty="0">
                    <a:solidFill>
                      <a:schemeClr val="tx1"/>
                    </a:solidFill>
                  </a:rPr>
                  <a:t>CommChannel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000" dirty="0">
                    <a:solidFill>
                      <a:schemeClr val="tx1"/>
                    </a:solidFill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bandwidth</m:t>
                    </m:r>
                    <m:r>
                      <a:rPr lang="en-US" sz="1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000" dirty="0">
                    <a:solidFill>
                      <a:schemeClr val="tx1"/>
                    </a:solidFill>
                  </a:rPr>
                  <a:t> and latency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1000" dirty="0">
                  <a:solidFill>
                    <a:schemeClr val="tx1"/>
                  </a:solidFill>
                </a:endParaRPr>
              </a:p>
              <a:p>
                <a:endParaRPr lang="en-US" sz="1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" name="Speech Bubble: Rectangle with Corners Rounded 58">
                <a:extLst>
                  <a:ext uri="{FF2B5EF4-FFF2-40B4-BE49-F238E27FC236}">
                    <a16:creationId xmlns:a16="http://schemas.microsoft.com/office/drawing/2014/main" id="{87FBD2D1-1F90-5975-D8E8-8AB3AF9E1E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8304" y="1723822"/>
                <a:ext cx="1330763" cy="637237"/>
              </a:xfrm>
              <a:prstGeom prst="wedgeRoundRectCallout">
                <a:avLst>
                  <a:gd name="adj1" fmla="val 20426"/>
                  <a:gd name="adj2" fmla="val 71614"/>
                  <a:gd name="adj3" fmla="val 16667"/>
                </a:avLst>
              </a:prstGeom>
              <a:blipFill>
                <a:blip r:embed="rId6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ECF99AED-B128-8508-A9E4-2CBD168862AE}"/>
              </a:ext>
            </a:extLst>
          </p:cNvPr>
          <p:cNvGrpSpPr/>
          <p:nvPr/>
        </p:nvGrpSpPr>
        <p:grpSpPr>
          <a:xfrm rot="5400000">
            <a:off x="3502934" y="2181396"/>
            <a:ext cx="703385" cy="1668584"/>
            <a:chOff x="5094067" y="2974340"/>
            <a:chExt cx="703385" cy="1668584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AF8E658-9B49-6639-275E-1EDBD148AA8D}"/>
                </a:ext>
              </a:extLst>
            </p:cNvPr>
            <p:cNvGrpSpPr/>
            <p:nvPr/>
          </p:nvGrpSpPr>
          <p:grpSpPr>
            <a:xfrm>
              <a:off x="5094067" y="2974340"/>
              <a:ext cx="703385" cy="1668584"/>
              <a:chOff x="4712677" y="2188308"/>
              <a:chExt cx="703385" cy="1668584"/>
            </a:xfrm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122D4768-5B39-1FFE-27B8-EE790806D022}"/>
                  </a:ext>
                </a:extLst>
              </p:cNvPr>
              <p:cNvSpPr/>
              <p:nvPr/>
            </p:nvSpPr>
            <p:spPr>
              <a:xfrm>
                <a:off x="4712677" y="2188308"/>
                <a:ext cx="703385" cy="234461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0A8C083B-332B-87BA-7797-C25D11E0300B}"/>
                  </a:ext>
                </a:extLst>
              </p:cNvPr>
              <p:cNvSpPr/>
              <p:nvPr/>
            </p:nvSpPr>
            <p:spPr>
              <a:xfrm>
                <a:off x="4712677" y="3622431"/>
                <a:ext cx="703385" cy="234461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04FFECC3-3372-75E7-4067-3717D5EFF745}"/>
                  </a:ext>
                </a:extLst>
              </p:cNvPr>
              <p:cNvCxnSpPr>
                <a:stCxn id="16" idx="2"/>
                <a:endCxn id="18" idx="2"/>
              </p:cNvCxnSpPr>
              <p:nvPr/>
            </p:nvCxnSpPr>
            <p:spPr>
              <a:xfrm>
                <a:off x="4712677" y="2305539"/>
                <a:ext cx="0" cy="1434123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ED783E84-D448-9FDC-BCA1-35D54505CAEE}"/>
                  </a:ext>
                </a:extLst>
              </p:cNvPr>
              <p:cNvCxnSpPr>
                <a:stCxn id="16" idx="6"/>
                <a:endCxn id="18" idx="6"/>
              </p:cNvCxnSpPr>
              <p:nvPr/>
            </p:nvCxnSpPr>
            <p:spPr>
              <a:xfrm>
                <a:off x="5416062" y="2305539"/>
                <a:ext cx="0" cy="1434123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2" name="TextBox 461">
                  <a:extLst>
                    <a:ext uri="{FF2B5EF4-FFF2-40B4-BE49-F238E27FC236}">
                      <a16:creationId xmlns:a16="http://schemas.microsoft.com/office/drawing/2014/main" id="{E6D47E06-90A8-AD4C-D2E0-032AA7FA177A}"/>
                    </a:ext>
                  </a:extLst>
                </p:cNvPr>
                <p:cNvSpPr txBox="1"/>
                <p:nvPr/>
              </p:nvSpPr>
              <p:spPr>
                <a:xfrm rot="16200000">
                  <a:off x="5180145" y="3605231"/>
                  <a:ext cx="499351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en-US" sz="1800" dirty="0">
                      <a:solidFill>
                        <a:schemeClr val="tx1"/>
                      </a:solidFill>
                    </a:rPr>
                    <a:t> 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462" name="TextBox 461">
                  <a:extLst>
                    <a:ext uri="{FF2B5EF4-FFF2-40B4-BE49-F238E27FC236}">
                      <a16:creationId xmlns:a16="http://schemas.microsoft.com/office/drawing/2014/main" id="{E6D47E06-90A8-AD4C-D2E0-032AA7FA17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5180145" y="3605231"/>
                  <a:ext cx="499351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9BBE6CF5-9640-7C2F-2900-B610F252387F}"/>
                  </a:ext>
                </a:extLst>
              </p:cNvPr>
              <p:cNvSpPr txBox="1"/>
              <p:nvPr/>
            </p:nvSpPr>
            <p:spPr>
              <a:xfrm>
                <a:off x="9801225" y="4215388"/>
                <a:ext cx="986111" cy="3931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sSub>
                            <m:sSubPr>
                              <m:ctrlPr>
                                <a:rPr lang="en-US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9BBE6CF5-9640-7C2F-2900-B610F25238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1225" y="4215388"/>
                <a:ext cx="986111" cy="393121"/>
              </a:xfrm>
              <a:prstGeom prst="rect">
                <a:avLst/>
              </a:prstGeom>
              <a:blipFill>
                <a:blip r:embed="rId8"/>
                <a:stretch>
                  <a:fillRect b="-1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Isosceles Triangle 12">
                <a:extLst>
                  <a:ext uri="{FF2B5EF4-FFF2-40B4-BE49-F238E27FC236}">
                    <a16:creationId xmlns:a16="http://schemas.microsoft.com/office/drawing/2014/main" id="{D80E1023-F4B5-9F59-8D0B-A62FD1CACD5A}"/>
                  </a:ext>
                </a:extLst>
              </p:cNvPr>
              <p:cNvSpPr/>
              <p:nvPr/>
            </p:nvSpPr>
            <p:spPr>
              <a:xfrm>
                <a:off x="5369681" y="2557790"/>
                <a:ext cx="1025345" cy="883918"/>
              </a:xfrm>
              <a:prstGeom prst="triangle">
                <a:avLst/>
              </a:prstGeom>
              <a:solidFill>
                <a:schemeClr val="accent5">
                  <a:lumMod val="50000"/>
                  <a:alpha val="3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Isosceles Triangle 12">
                <a:extLst>
                  <a:ext uri="{FF2B5EF4-FFF2-40B4-BE49-F238E27FC236}">
                    <a16:creationId xmlns:a16="http://schemas.microsoft.com/office/drawing/2014/main" id="{D80E1023-F4B5-9F59-8D0B-A62FD1CACD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9681" y="2557790"/>
                <a:ext cx="1025345" cy="883918"/>
              </a:xfrm>
              <a:prstGeom prst="triangle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07E0CBA-472A-4372-5EE6-CD9F9C2C57E1}"/>
              </a:ext>
            </a:extLst>
          </p:cNvPr>
          <p:cNvCxnSpPr>
            <a:cxnSpLocks/>
          </p:cNvCxnSpPr>
          <p:nvPr/>
        </p:nvCxnSpPr>
        <p:spPr>
          <a:xfrm flipV="1">
            <a:off x="2417445" y="2999749"/>
            <a:ext cx="3079032" cy="1477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216C4E2-C7DF-05DD-B0C3-81555F52F91C}"/>
              </a:ext>
            </a:extLst>
          </p:cNvPr>
          <p:cNvCxnSpPr>
            <a:cxnSpLocks/>
          </p:cNvCxnSpPr>
          <p:nvPr/>
        </p:nvCxnSpPr>
        <p:spPr>
          <a:xfrm>
            <a:off x="5882353" y="3523774"/>
            <a:ext cx="0" cy="3238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B9145F8-309A-3023-8C1B-F230CBA827FF}"/>
              </a:ext>
            </a:extLst>
          </p:cNvPr>
          <p:cNvCxnSpPr>
            <a:cxnSpLocks/>
          </p:cNvCxnSpPr>
          <p:nvPr/>
        </p:nvCxnSpPr>
        <p:spPr>
          <a:xfrm>
            <a:off x="6562725" y="4439782"/>
            <a:ext cx="3238500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BA1EA10B-9A80-29AF-FC43-9DD4D75454C2}"/>
              </a:ext>
            </a:extLst>
          </p:cNvPr>
          <p:cNvSpPr txBox="1"/>
          <p:nvPr/>
        </p:nvSpPr>
        <p:spPr>
          <a:xfrm>
            <a:off x="5199762" y="2096125"/>
            <a:ext cx="1365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ComputeJob</a:t>
            </a: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5B12E1B-6FE6-5F30-6B8F-CE55E9BB9FAA}"/>
              </a:ext>
            </a:extLst>
          </p:cNvPr>
          <p:cNvGrpSpPr/>
          <p:nvPr/>
        </p:nvGrpSpPr>
        <p:grpSpPr>
          <a:xfrm rot="5400000">
            <a:off x="7822625" y="3605490"/>
            <a:ext cx="703385" cy="1668584"/>
            <a:chOff x="5094067" y="2974340"/>
            <a:chExt cx="703385" cy="1668584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F80CB9C-858B-9F62-D052-D0E8AA333F1B}"/>
                </a:ext>
              </a:extLst>
            </p:cNvPr>
            <p:cNvGrpSpPr/>
            <p:nvPr/>
          </p:nvGrpSpPr>
          <p:grpSpPr>
            <a:xfrm>
              <a:off x="5094067" y="2974340"/>
              <a:ext cx="703385" cy="1668584"/>
              <a:chOff x="4712677" y="2188308"/>
              <a:chExt cx="703385" cy="1668584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9B7CC4CF-112A-0DBA-F107-F989BAB1DC2B}"/>
                  </a:ext>
                </a:extLst>
              </p:cNvPr>
              <p:cNvSpPr/>
              <p:nvPr/>
            </p:nvSpPr>
            <p:spPr>
              <a:xfrm>
                <a:off x="4712677" y="2188308"/>
                <a:ext cx="703385" cy="234461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29F75FCB-B413-D36F-0070-8D33F32232D8}"/>
                  </a:ext>
                </a:extLst>
              </p:cNvPr>
              <p:cNvSpPr/>
              <p:nvPr/>
            </p:nvSpPr>
            <p:spPr>
              <a:xfrm>
                <a:off x="4712677" y="3622431"/>
                <a:ext cx="703385" cy="234461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D8BD908A-C3E4-6E8A-A197-5C34F72F7F4C}"/>
                  </a:ext>
                </a:extLst>
              </p:cNvPr>
              <p:cNvCxnSpPr>
                <a:stCxn id="9" idx="2"/>
                <a:endCxn id="10" idx="2"/>
              </p:cNvCxnSpPr>
              <p:nvPr/>
            </p:nvCxnSpPr>
            <p:spPr>
              <a:xfrm>
                <a:off x="4712677" y="2305539"/>
                <a:ext cx="0" cy="1434123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C26FA1A6-DED0-26B0-2819-9B92D0B09DE8}"/>
                  </a:ext>
                </a:extLst>
              </p:cNvPr>
              <p:cNvCxnSpPr>
                <a:stCxn id="9" idx="6"/>
                <a:endCxn id="10" idx="6"/>
              </p:cNvCxnSpPr>
              <p:nvPr/>
            </p:nvCxnSpPr>
            <p:spPr>
              <a:xfrm>
                <a:off x="5416062" y="2305539"/>
                <a:ext cx="0" cy="1434123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F1B51F4C-0B42-8C8D-E6BE-11897A61C1A9}"/>
                    </a:ext>
                  </a:extLst>
                </p:cNvPr>
                <p:cNvSpPr txBox="1"/>
                <p:nvPr/>
              </p:nvSpPr>
              <p:spPr>
                <a:xfrm rot="16200000">
                  <a:off x="5180145" y="3605231"/>
                  <a:ext cx="499351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sz="1800" dirty="0">
                      <a:solidFill>
                        <a:schemeClr val="tx1"/>
                      </a:solidFill>
                    </a:rPr>
                    <a:t> 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F1B51F4C-0B42-8C8D-E6BE-11897A61C1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5180145" y="3605231"/>
                  <a:ext cx="499351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Speech Bubble: Rectangle with Corners Rounded 41">
                <a:extLst>
                  <a:ext uri="{FF2B5EF4-FFF2-40B4-BE49-F238E27FC236}">
                    <a16:creationId xmlns:a16="http://schemas.microsoft.com/office/drawing/2014/main" id="{3D8F4974-BB35-4D63-8473-ECC098C7686D}"/>
                  </a:ext>
                </a:extLst>
              </p:cNvPr>
              <p:cNvSpPr/>
              <p:nvPr/>
            </p:nvSpPr>
            <p:spPr>
              <a:xfrm>
                <a:off x="5496477" y="1252009"/>
                <a:ext cx="1330763" cy="637237"/>
              </a:xfrm>
              <a:prstGeom prst="wedgeRoundRectCallout">
                <a:avLst>
                  <a:gd name="adj1" fmla="val -21587"/>
                  <a:gd name="adj2" fmla="val 76916"/>
                  <a:gd name="adj3" fmla="val 16667"/>
                </a:avLst>
              </a:prstGeom>
              <a:solidFill>
                <a:srgbClr val="FFFC8F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sz="1000" dirty="0">
                    <a:solidFill>
                      <a:schemeClr val="tx1"/>
                    </a:solidFill>
                  </a:rPr>
                  <a:t>ComputeJob </a:t>
                </a:r>
                <a14:m>
                  <m:oMath xmlns:m="http://schemas.openxmlformats.org/officeDocument/2006/math">
                    <m:r>
                      <a:rPr lang="en-US" sz="1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1000" dirty="0">
                    <a:solidFill>
                      <a:schemeClr val="tx1"/>
                    </a:solidFill>
                  </a:rPr>
                  <a:t> is modeled as a time delay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sz="1000" dirty="0">
                    <a:solidFill>
                      <a:schemeClr val="tx1"/>
                    </a:solidFill>
                  </a:rPr>
                  <a:t> .</a:t>
                </a:r>
              </a:p>
              <a:p>
                <a:endParaRPr lang="en-US" sz="1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" name="Speech Bubble: Rectangle with Corners Rounded 41">
                <a:extLst>
                  <a:ext uri="{FF2B5EF4-FFF2-40B4-BE49-F238E27FC236}">
                    <a16:creationId xmlns:a16="http://schemas.microsoft.com/office/drawing/2014/main" id="{3D8F4974-BB35-4D63-8473-ECC098C768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6477" y="1252009"/>
                <a:ext cx="1330763" cy="637237"/>
              </a:xfrm>
              <a:prstGeom prst="wedgeRoundRectCallout">
                <a:avLst>
                  <a:gd name="adj1" fmla="val -21587"/>
                  <a:gd name="adj2" fmla="val 76916"/>
                  <a:gd name="adj3" fmla="val 16667"/>
                </a:avLst>
              </a:prstGeom>
              <a:blipFill>
                <a:blip r:embed="rId11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25CFD383-D335-E5B2-29E1-B66510743141}"/>
              </a:ext>
            </a:extLst>
          </p:cNvPr>
          <p:cNvSpPr txBox="1"/>
          <p:nvPr/>
        </p:nvSpPr>
        <p:spPr>
          <a:xfrm>
            <a:off x="5369681" y="3534041"/>
            <a:ext cx="5645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Create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7D14A67-9BBF-5458-1902-34D6C4568FA1}"/>
              </a:ext>
            </a:extLst>
          </p:cNvPr>
          <p:cNvSpPr txBox="1"/>
          <p:nvPr/>
        </p:nvSpPr>
        <p:spPr>
          <a:xfrm>
            <a:off x="1489042" y="3271821"/>
            <a:ext cx="1147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DataBatch</a:t>
            </a:r>
            <a:endParaRPr 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1D9B56A-813B-13F0-99EC-528D10B4BB56}"/>
              </a:ext>
            </a:extLst>
          </p:cNvPr>
          <p:cNvSpPr txBox="1"/>
          <p:nvPr/>
        </p:nvSpPr>
        <p:spPr>
          <a:xfrm>
            <a:off x="5308445" y="4946363"/>
            <a:ext cx="1147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DataBatch</a:t>
            </a:r>
            <a:endParaRPr lang="en-US" dirty="0"/>
          </a:p>
        </p:txBody>
      </p:sp>
      <p:sp>
        <p:nvSpPr>
          <p:cNvPr id="48" name="Isosceles Triangle 47">
            <a:extLst>
              <a:ext uri="{FF2B5EF4-FFF2-40B4-BE49-F238E27FC236}">
                <a16:creationId xmlns:a16="http://schemas.microsoft.com/office/drawing/2014/main" id="{2433504F-4B4A-E440-7443-6CA8D4F8F260}"/>
              </a:ext>
            </a:extLst>
          </p:cNvPr>
          <p:cNvSpPr/>
          <p:nvPr/>
        </p:nvSpPr>
        <p:spPr>
          <a:xfrm>
            <a:off x="2858554" y="194763"/>
            <a:ext cx="323562" cy="278933"/>
          </a:xfrm>
          <a:prstGeom prst="triangle">
            <a:avLst/>
          </a:prstGeom>
          <a:solidFill>
            <a:schemeClr val="bg1">
              <a:alpha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154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094BB-C164-B047-8454-A60788855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211506DD-2523-B054-099E-4C94F281882F}"/>
              </a:ext>
            </a:extLst>
          </p:cNvPr>
          <p:cNvSpPr/>
          <p:nvPr/>
        </p:nvSpPr>
        <p:spPr>
          <a:xfrm>
            <a:off x="6095999" y="188360"/>
            <a:ext cx="6018201" cy="1273660"/>
          </a:xfrm>
          <a:prstGeom prst="roundRect">
            <a:avLst>
              <a:gd name="adj" fmla="val 18118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DD39D050-838D-499D-7CDF-6FA4FCF56291}"/>
              </a:ext>
            </a:extLst>
          </p:cNvPr>
          <p:cNvSpPr/>
          <p:nvPr/>
        </p:nvSpPr>
        <p:spPr>
          <a:xfrm>
            <a:off x="452387" y="1617044"/>
            <a:ext cx="7536581" cy="5052597"/>
          </a:xfrm>
          <a:prstGeom prst="roundRect">
            <a:avLst>
              <a:gd name="adj" fmla="val 5427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DC4ACF2-50A2-C99E-3A79-CD026FF35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4504210" cy="491884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UML Class Diagram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6BEB89-10F1-96AA-1B32-044521A31539}"/>
              </a:ext>
            </a:extLst>
          </p:cNvPr>
          <p:cNvSpPr/>
          <p:nvPr/>
        </p:nvSpPr>
        <p:spPr>
          <a:xfrm>
            <a:off x="2684039" y="1747416"/>
            <a:ext cx="3004492" cy="3832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 err="1">
                <a:solidFill>
                  <a:schemeClr val="tx1"/>
                </a:solidFill>
              </a:rPr>
              <a:t>CommNetworkSimulator</a:t>
            </a:r>
            <a:endParaRPr lang="en-US" sz="1050" b="1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75168E-8E3E-631C-CB84-870FD73BDB8F}"/>
              </a:ext>
            </a:extLst>
          </p:cNvPr>
          <p:cNvSpPr/>
          <p:nvPr/>
        </p:nvSpPr>
        <p:spPr>
          <a:xfrm>
            <a:off x="2684039" y="2520137"/>
            <a:ext cx="3004492" cy="6034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50" dirty="0">
                <a:solidFill>
                  <a:schemeClr val="tx1"/>
                </a:solidFill>
              </a:rPr>
              <a:t>+run(system : </a:t>
            </a:r>
            <a:r>
              <a:rPr lang="en-US" sz="1050" dirty="0" err="1">
                <a:solidFill>
                  <a:schemeClr val="tx1"/>
                </a:solidFill>
              </a:rPr>
              <a:t>SimulatedSystem</a:t>
            </a:r>
            <a:r>
              <a:rPr lang="en-US" sz="1050" dirty="0">
                <a:solidFill>
                  <a:schemeClr val="tx1"/>
                </a:solidFill>
              </a:rPr>
              <a:t>, </a:t>
            </a:r>
            <a:r>
              <a:rPr lang="en-US" sz="1050" dirty="0" err="1">
                <a:solidFill>
                  <a:schemeClr val="tx1"/>
                </a:solidFill>
              </a:rPr>
              <a:t>t_delta</a:t>
            </a:r>
            <a:r>
              <a:rPr lang="en-US" sz="1050" dirty="0">
                <a:solidFill>
                  <a:schemeClr val="tx1"/>
                </a:solidFill>
              </a:rPr>
              <a:t> : float)</a:t>
            </a:r>
          </a:p>
          <a:p>
            <a:r>
              <a:rPr lang="en-US" sz="1050" dirty="0">
                <a:solidFill>
                  <a:schemeClr val="tx1"/>
                </a:solidFill>
              </a:rPr>
              <a:t>+</a:t>
            </a:r>
            <a:r>
              <a:rPr lang="en-US" sz="1050" dirty="0" err="1">
                <a:solidFill>
                  <a:schemeClr val="tx1"/>
                </a:solidFill>
              </a:rPr>
              <a:t>add_compute</a:t>
            </a:r>
            <a:r>
              <a:rPr lang="en-US" sz="1050" dirty="0">
                <a:solidFill>
                  <a:schemeClr val="tx1"/>
                </a:solidFill>
              </a:rPr>
              <a:t>(</a:t>
            </a:r>
            <a:r>
              <a:rPr lang="en-US" sz="1050" dirty="0" err="1">
                <a:solidFill>
                  <a:schemeClr val="tx1"/>
                </a:solidFill>
              </a:rPr>
              <a:t>compute_job</a:t>
            </a:r>
            <a:r>
              <a:rPr lang="en-US" sz="1050" dirty="0">
                <a:solidFill>
                  <a:schemeClr val="tx1"/>
                </a:solidFill>
              </a:rPr>
              <a:t> : </a:t>
            </a:r>
            <a:r>
              <a:rPr lang="en-US" sz="1050" dirty="0" err="1">
                <a:solidFill>
                  <a:schemeClr val="tx1"/>
                </a:solidFill>
              </a:rPr>
              <a:t>ComputeJob</a:t>
            </a:r>
            <a:r>
              <a:rPr lang="en-US" sz="1050" dirty="0">
                <a:solidFill>
                  <a:schemeClr val="tx1"/>
                </a:solidFill>
              </a:rPr>
              <a:t>)</a:t>
            </a:r>
          </a:p>
          <a:p>
            <a:r>
              <a:rPr lang="en-US" sz="1050" dirty="0">
                <a:solidFill>
                  <a:schemeClr val="tx1"/>
                </a:solidFill>
              </a:rPr>
              <a:t>+</a:t>
            </a:r>
            <a:r>
              <a:rPr lang="en-US" sz="1050" dirty="0" err="1">
                <a:solidFill>
                  <a:schemeClr val="tx1"/>
                </a:solidFill>
              </a:rPr>
              <a:t>add_batch</a:t>
            </a:r>
            <a:r>
              <a:rPr lang="en-US" sz="1050" dirty="0">
                <a:solidFill>
                  <a:schemeClr val="tx1"/>
                </a:solidFill>
              </a:rPr>
              <a:t>(batch : </a:t>
            </a:r>
            <a:r>
              <a:rPr lang="en-US" sz="1050" dirty="0" err="1">
                <a:solidFill>
                  <a:schemeClr val="tx1"/>
                </a:solidFill>
              </a:rPr>
              <a:t>DataBatch</a:t>
            </a:r>
            <a:r>
              <a:rPr lang="en-US" sz="105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56EF6D-CFF5-FBBA-C0C5-657564F5E965}"/>
              </a:ext>
            </a:extLst>
          </p:cNvPr>
          <p:cNvSpPr/>
          <p:nvPr/>
        </p:nvSpPr>
        <p:spPr>
          <a:xfrm>
            <a:off x="6212663" y="385720"/>
            <a:ext cx="5767568" cy="3832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&lt;&lt;interface&gt;&gt;</a:t>
            </a:r>
          </a:p>
          <a:p>
            <a:pPr algn="ctr"/>
            <a:r>
              <a:rPr lang="en-US" sz="1050" b="1" dirty="0" err="1">
                <a:solidFill>
                  <a:schemeClr val="tx1"/>
                </a:solidFill>
              </a:rPr>
              <a:t>SimulatedSystem</a:t>
            </a:r>
            <a:endParaRPr lang="en-US" sz="1050" b="1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3FE6A30-A59A-B1C7-526A-980BC06B0DAD}"/>
              </a:ext>
            </a:extLst>
          </p:cNvPr>
          <p:cNvSpPr/>
          <p:nvPr/>
        </p:nvSpPr>
        <p:spPr>
          <a:xfrm>
            <a:off x="6212663" y="768996"/>
            <a:ext cx="5767568" cy="4918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50" dirty="0">
                <a:solidFill>
                  <a:schemeClr val="tx1"/>
                </a:solidFill>
              </a:rPr>
              <a:t>+</a:t>
            </a:r>
            <a:r>
              <a:rPr lang="en-US" sz="1050" dirty="0" err="1">
                <a:solidFill>
                  <a:schemeClr val="tx1"/>
                </a:solidFill>
              </a:rPr>
              <a:t>on_data_transfer_complete</a:t>
            </a:r>
            <a:r>
              <a:rPr lang="en-US" sz="1050" dirty="0">
                <a:solidFill>
                  <a:schemeClr val="tx1"/>
                </a:solidFill>
              </a:rPr>
              <a:t>(simulator : </a:t>
            </a:r>
            <a:r>
              <a:rPr lang="en-US" sz="1050" dirty="0" err="1">
                <a:solidFill>
                  <a:schemeClr val="tx1"/>
                </a:solidFill>
              </a:rPr>
              <a:t>CommNetworkSimulator</a:t>
            </a:r>
            <a:r>
              <a:rPr lang="en-US" sz="1050" dirty="0">
                <a:solidFill>
                  <a:schemeClr val="tx1"/>
                </a:solidFill>
              </a:rPr>
              <a:t>, batch : </a:t>
            </a:r>
            <a:r>
              <a:rPr lang="en-US" sz="1050" dirty="0" err="1">
                <a:solidFill>
                  <a:schemeClr val="tx1"/>
                </a:solidFill>
              </a:rPr>
              <a:t>DataBatch</a:t>
            </a:r>
            <a:r>
              <a:rPr lang="en-US" sz="1050" dirty="0">
                <a:solidFill>
                  <a:schemeClr val="tx1"/>
                </a:solidFill>
              </a:rPr>
              <a:t>) : </a:t>
            </a:r>
            <a:r>
              <a:rPr lang="en-US" sz="1050" dirty="0" err="1">
                <a:solidFill>
                  <a:schemeClr val="tx1"/>
                </a:solidFill>
              </a:rPr>
              <a:t>ComputeJob</a:t>
            </a:r>
            <a:endParaRPr lang="en-US" sz="1050" dirty="0">
              <a:solidFill>
                <a:schemeClr val="tx1"/>
              </a:solidFill>
            </a:endParaRPr>
          </a:p>
          <a:p>
            <a:r>
              <a:rPr lang="en-US" sz="1050" dirty="0">
                <a:solidFill>
                  <a:schemeClr val="tx1"/>
                </a:solidFill>
              </a:rPr>
              <a:t>+</a:t>
            </a:r>
            <a:r>
              <a:rPr lang="en-US" sz="1050" dirty="0" err="1">
                <a:solidFill>
                  <a:schemeClr val="tx1"/>
                </a:solidFill>
              </a:rPr>
              <a:t>on_compute_complete</a:t>
            </a:r>
            <a:r>
              <a:rPr lang="en-US" sz="1050" dirty="0">
                <a:solidFill>
                  <a:schemeClr val="tx1"/>
                </a:solidFill>
              </a:rPr>
              <a:t>(simulator : </a:t>
            </a:r>
            <a:r>
              <a:rPr lang="en-US" sz="1050" dirty="0" err="1">
                <a:solidFill>
                  <a:schemeClr val="tx1"/>
                </a:solidFill>
              </a:rPr>
              <a:t>CommNetworkSimulator</a:t>
            </a:r>
            <a:r>
              <a:rPr lang="en-US" sz="1050" dirty="0">
                <a:solidFill>
                  <a:schemeClr val="tx1"/>
                </a:solidFill>
              </a:rPr>
              <a:t>, </a:t>
            </a:r>
            <a:r>
              <a:rPr lang="en-US" sz="1050" dirty="0" err="1">
                <a:solidFill>
                  <a:schemeClr val="tx1"/>
                </a:solidFill>
              </a:rPr>
              <a:t>compute_job</a:t>
            </a:r>
            <a:r>
              <a:rPr lang="en-US" sz="1050" dirty="0">
                <a:solidFill>
                  <a:schemeClr val="tx1"/>
                </a:solidFill>
              </a:rPr>
              <a:t> : </a:t>
            </a:r>
            <a:r>
              <a:rPr lang="en-US" sz="1050" dirty="0" err="1">
                <a:solidFill>
                  <a:schemeClr val="tx1"/>
                </a:solidFill>
              </a:rPr>
              <a:t>ComputeJob</a:t>
            </a:r>
            <a:r>
              <a:rPr lang="en-US" sz="105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483A18-8F83-17E7-33C5-2B1FA151E811}"/>
              </a:ext>
            </a:extLst>
          </p:cNvPr>
          <p:cNvSpPr/>
          <p:nvPr/>
        </p:nvSpPr>
        <p:spPr>
          <a:xfrm>
            <a:off x="2109124" y="3771267"/>
            <a:ext cx="1869831" cy="12790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50" dirty="0">
                <a:solidFill>
                  <a:schemeClr val="tx1"/>
                </a:solidFill>
              </a:rPr>
              <a:t>+name : string</a:t>
            </a:r>
          </a:p>
          <a:p>
            <a:r>
              <a:rPr lang="en-US" sz="1050" dirty="0">
                <a:solidFill>
                  <a:schemeClr val="tx1"/>
                </a:solidFill>
              </a:rPr>
              <a:t>+</a:t>
            </a:r>
            <a:r>
              <a:rPr lang="en-US" sz="1050" dirty="0" err="1">
                <a:solidFill>
                  <a:schemeClr val="tx1"/>
                </a:solidFill>
              </a:rPr>
              <a:t>total_size</a:t>
            </a:r>
            <a:r>
              <a:rPr lang="en-US" sz="1050" dirty="0">
                <a:solidFill>
                  <a:schemeClr val="tx1"/>
                </a:solidFill>
              </a:rPr>
              <a:t> : float</a:t>
            </a:r>
          </a:p>
          <a:p>
            <a:r>
              <a:rPr lang="en-US" sz="1050" dirty="0">
                <a:solidFill>
                  <a:schemeClr val="tx1"/>
                </a:solidFill>
              </a:rPr>
              <a:t>+</a:t>
            </a:r>
            <a:r>
              <a:rPr lang="en-US" sz="1050" dirty="0" err="1">
                <a:solidFill>
                  <a:schemeClr val="tx1"/>
                </a:solidFill>
              </a:rPr>
              <a:t>rem_size</a:t>
            </a:r>
            <a:r>
              <a:rPr lang="en-US" sz="1050" dirty="0">
                <a:solidFill>
                  <a:schemeClr val="tx1"/>
                </a:solidFill>
              </a:rPr>
              <a:t> : float</a:t>
            </a:r>
          </a:p>
          <a:p>
            <a:r>
              <a:rPr lang="en-US" sz="1050" dirty="0">
                <a:solidFill>
                  <a:schemeClr val="tx1"/>
                </a:solidFill>
              </a:rPr>
              <a:t>+</a:t>
            </a:r>
            <a:r>
              <a:rPr lang="en-US" sz="1050" dirty="0" err="1">
                <a:solidFill>
                  <a:schemeClr val="tx1"/>
                </a:solidFill>
              </a:rPr>
              <a:t>total_latency</a:t>
            </a:r>
            <a:r>
              <a:rPr lang="en-US" sz="1050" dirty="0">
                <a:solidFill>
                  <a:schemeClr val="tx1"/>
                </a:solidFill>
              </a:rPr>
              <a:t> : float</a:t>
            </a:r>
          </a:p>
          <a:p>
            <a:r>
              <a:rPr lang="en-US" sz="1050" dirty="0">
                <a:solidFill>
                  <a:schemeClr val="tx1"/>
                </a:solidFill>
              </a:rPr>
              <a:t>+</a:t>
            </a:r>
            <a:r>
              <a:rPr lang="en-US" sz="1050" dirty="0" err="1">
                <a:solidFill>
                  <a:schemeClr val="tx1"/>
                </a:solidFill>
              </a:rPr>
              <a:t>latency_remaining</a:t>
            </a:r>
            <a:r>
              <a:rPr lang="en-US" sz="1050" dirty="0">
                <a:solidFill>
                  <a:schemeClr val="tx1"/>
                </a:solidFill>
              </a:rPr>
              <a:t> : float</a:t>
            </a:r>
          </a:p>
          <a:p>
            <a:r>
              <a:rPr lang="en-US" sz="1050" dirty="0">
                <a:solidFill>
                  <a:schemeClr val="tx1"/>
                </a:solidFill>
              </a:rPr>
              <a:t>+</a:t>
            </a:r>
            <a:r>
              <a:rPr lang="en-US" sz="1050" dirty="0" err="1">
                <a:solidFill>
                  <a:schemeClr val="tx1"/>
                </a:solidFill>
              </a:rPr>
              <a:t>start_time</a:t>
            </a:r>
            <a:r>
              <a:rPr lang="en-US" sz="1050" dirty="0">
                <a:solidFill>
                  <a:schemeClr val="tx1"/>
                </a:solidFill>
              </a:rPr>
              <a:t> : float</a:t>
            </a:r>
          </a:p>
          <a:p>
            <a:r>
              <a:rPr lang="en-US" sz="1050" dirty="0">
                <a:solidFill>
                  <a:schemeClr val="tx1"/>
                </a:solidFill>
              </a:rPr>
              <a:t>+</a:t>
            </a:r>
            <a:r>
              <a:rPr lang="en-US" sz="1050" dirty="0" err="1">
                <a:solidFill>
                  <a:schemeClr val="tx1"/>
                </a:solidFill>
              </a:rPr>
              <a:t>end_time</a:t>
            </a:r>
            <a:r>
              <a:rPr lang="en-US" sz="1050" dirty="0">
                <a:solidFill>
                  <a:schemeClr val="tx1"/>
                </a:solidFill>
              </a:rPr>
              <a:t> : float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3DF5A6-5A90-9D95-8461-45ACC8E44322}"/>
              </a:ext>
            </a:extLst>
          </p:cNvPr>
          <p:cNvSpPr/>
          <p:nvPr/>
        </p:nvSpPr>
        <p:spPr>
          <a:xfrm>
            <a:off x="2226355" y="5465704"/>
            <a:ext cx="1635369" cy="4642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 err="1">
                <a:solidFill>
                  <a:schemeClr val="tx1"/>
                </a:solidFill>
              </a:rPr>
              <a:t>CommChannel</a:t>
            </a:r>
            <a:endParaRPr lang="en-US" sz="1050" b="1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FDEF02-B53E-4AAB-7EBE-D58F1CF39792}"/>
              </a:ext>
            </a:extLst>
          </p:cNvPr>
          <p:cNvSpPr/>
          <p:nvPr/>
        </p:nvSpPr>
        <p:spPr>
          <a:xfrm>
            <a:off x="2226355" y="5938166"/>
            <a:ext cx="1635369" cy="7314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50" dirty="0">
                <a:solidFill>
                  <a:schemeClr val="tx1"/>
                </a:solidFill>
              </a:rPr>
              <a:t>+name : string</a:t>
            </a:r>
          </a:p>
          <a:p>
            <a:r>
              <a:rPr lang="en-US" sz="1050" dirty="0">
                <a:solidFill>
                  <a:schemeClr val="tx1"/>
                </a:solidFill>
              </a:rPr>
              <a:t>+</a:t>
            </a:r>
            <a:r>
              <a:rPr lang="en-US" sz="1050" dirty="0" err="1">
                <a:solidFill>
                  <a:schemeClr val="tx1"/>
                </a:solidFill>
              </a:rPr>
              <a:t>bw_gbps</a:t>
            </a:r>
            <a:r>
              <a:rPr lang="en-US" sz="1050" dirty="0">
                <a:solidFill>
                  <a:schemeClr val="tx1"/>
                </a:solidFill>
              </a:rPr>
              <a:t> : float</a:t>
            </a:r>
          </a:p>
          <a:p>
            <a:r>
              <a:rPr lang="en-US" sz="1050" dirty="0">
                <a:solidFill>
                  <a:schemeClr val="tx1"/>
                </a:solidFill>
              </a:rPr>
              <a:t>+</a:t>
            </a:r>
            <a:r>
              <a:rPr lang="en-US" sz="1050" dirty="0" err="1">
                <a:solidFill>
                  <a:schemeClr val="tx1"/>
                </a:solidFill>
              </a:rPr>
              <a:t>lat_us</a:t>
            </a:r>
            <a:r>
              <a:rPr lang="en-US" sz="1050" dirty="0">
                <a:solidFill>
                  <a:schemeClr val="tx1"/>
                </a:solidFill>
              </a:rPr>
              <a:t> : float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59D4DC-8680-49A4-6D7F-84987D831FB2}"/>
              </a:ext>
            </a:extLst>
          </p:cNvPr>
          <p:cNvSpPr/>
          <p:nvPr/>
        </p:nvSpPr>
        <p:spPr>
          <a:xfrm>
            <a:off x="2109124" y="3298805"/>
            <a:ext cx="1869831" cy="4642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 err="1">
                <a:solidFill>
                  <a:schemeClr val="tx1"/>
                </a:solidFill>
              </a:rPr>
              <a:t>DataBatch</a:t>
            </a:r>
            <a:endParaRPr lang="en-US" sz="1050" b="1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A01819-9188-44CD-9A07-0EB5697670CA}"/>
              </a:ext>
            </a:extLst>
          </p:cNvPr>
          <p:cNvSpPr txBox="1"/>
          <p:nvPr/>
        </p:nvSpPr>
        <p:spPr>
          <a:xfrm>
            <a:off x="2527552" y="5195912"/>
            <a:ext cx="5164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050" dirty="0"/>
              <a:t>+path</a:t>
            </a:r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EDC6FFA8-A1E1-9949-E5B1-EE47FC6D813C}"/>
              </a:ext>
            </a:extLst>
          </p:cNvPr>
          <p:cNvCxnSpPr>
            <a:cxnSpLocks/>
            <a:stCxn id="5" idx="1"/>
            <a:endCxn id="12" idx="1"/>
          </p:cNvCxnSpPr>
          <p:nvPr/>
        </p:nvCxnSpPr>
        <p:spPr>
          <a:xfrm rot="10800000" flipV="1">
            <a:off x="2109125" y="2821849"/>
            <a:ext cx="574915" cy="709096"/>
          </a:xfrm>
          <a:prstGeom prst="bentConnector3">
            <a:avLst>
              <a:gd name="adj1" fmla="val 139762"/>
            </a:avLst>
          </a:prstGeom>
          <a:ln>
            <a:solidFill>
              <a:schemeClr val="tx1"/>
            </a:solidFill>
            <a:headEnd type="diamond" w="lg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314881B4-7EAE-96FC-E4A2-1FEFB1129D3C}"/>
              </a:ext>
            </a:extLst>
          </p:cNvPr>
          <p:cNvCxnSpPr>
            <a:cxnSpLocks/>
            <a:stCxn id="2" idx="1"/>
            <a:endCxn id="6" idx="1"/>
          </p:cNvCxnSpPr>
          <p:nvPr/>
        </p:nvCxnSpPr>
        <p:spPr>
          <a:xfrm rot="10800000" flipV="1">
            <a:off x="2109125" y="1939054"/>
            <a:ext cx="574915" cy="2471738"/>
          </a:xfrm>
          <a:prstGeom prst="bentConnector3">
            <a:avLst>
              <a:gd name="adj1" fmla="val 357409"/>
            </a:avLst>
          </a:prstGeom>
          <a:ln>
            <a:solidFill>
              <a:schemeClr val="tx1"/>
            </a:solidFill>
            <a:headEnd type="diamond" w="lg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C111928-4044-6D59-2689-E7BD056C02FA}"/>
              </a:ext>
            </a:extLst>
          </p:cNvPr>
          <p:cNvSpPr txBox="1"/>
          <p:nvPr/>
        </p:nvSpPr>
        <p:spPr>
          <a:xfrm>
            <a:off x="997922" y="3530944"/>
            <a:ext cx="11112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050" dirty="0"/>
              <a:t>+</a:t>
            </a:r>
            <a:r>
              <a:rPr lang="en-US" sz="1050" dirty="0" err="1"/>
              <a:t>active_batches</a:t>
            </a:r>
            <a:endParaRPr lang="en-US" sz="105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8E3DE83-2C0D-9870-02C0-BE8E0F5FEE8D}"/>
              </a:ext>
            </a:extLst>
          </p:cNvPr>
          <p:cNvSpPr txBox="1"/>
          <p:nvPr/>
        </p:nvSpPr>
        <p:spPr>
          <a:xfrm>
            <a:off x="696434" y="4410791"/>
            <a:ext cx="138371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050" dirty="0"/>
              <a:t>+</a:t>
            </a:r>
            <a:r>
              <a:rPr lang="en-US" sz="1050" dirty="0" err="1"/>
              <a:t>completed_batches</a:t>
            </a:r>
            <a:endParaRPr lang="en-US" sz="1050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F788B48-F0D0-3BE4-F4C4-6314A772CFA2}"/>
              </a:ext>
            </a:extLst>
          </p:cNvPr>
          <p:cNvSpPr/>
          <p:nvPr/>
        </p:nvSpPr>
        <p:spPr>
          <a:xfrm>
            <a:off x="4504210" y="3763085"/>
            <a:ext cx="1869831" cy="12790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50" dirty="0">
                <a:solidFill>
                  <a:schemeClr val="tx1"/>
                </a:solidFill>
              </a:rPr>
              <a:t>+name : string</a:t>
            </a:r>
          </a:p>
          <a:p>
            <a:r>
              <a:rPr lang="en-US" sz="1050" dirty="0">
                <a:solidFill>
                  <a:schemeClr val="tx1"/>
                </a:solidFill>
              </a:rPr>
              <a:t>+</a:t>
            </a:r>
            <a:r>
              <a:rPr lang="en-US" sz="1050" dirty="0" err="1">
                <a:solidFill>
                  <a:schemeClr val="tx1"/>
                </a:solidFill>
              </a:rPr>
              <a:t>total_duration</a:t>
            </a:r>
            <a:r>
              <a:rPr lang="en-US" sz="1050" dirty="0">
                <a:solidFill>
                  <a:schemeClr val="tx1"/>
                </a:solidFill>
              </a:rPr>
              <a:t> : float</a:t>
            </a:r>
          </a:p>
          <a:p>
            <a:r>
              <a:rPr lang="en-US" sz="1050" dirty="0">
                <a:solidFill>
                  <a:schemeClr val="tx1"/>
                </a:solidFill>
              </a:rPr>
              <a:t>+</a:t>
            </a:r>
            <a:r>
              <a:rPr lang="en-US" sz="1050" dirty="0" err="1">
                <a:solidFill>
                  <a:schemeClr val="tx1"/>
                </a:solidFill>
              </a:rPr>
              <a:t>rem_duration</a:t>
            </a:r>
            <a:r>
              <a:rPr lang="en-US" sz="1050" dirty="0">
                <a:solidFill>
                  <a:schemeClr val="tx1"/>
                </a:solidFill>
              </a:rPr>
              <a:t> : float</a:t>
            </a:r>
          </a:p>
          <a:p>
            <a:r>
              <a:rPr lang="en-US" sz="1050" dirty="0">
                <a:solidFill>
                  <a:schemeClr val="tx1"/>
                </a:solidFill>
              </a:rPr>
              <a:t>+</a:t>
            </a:r>
            <a:r>
              <a:rPr lang="en-US" sz="1050" dirty="0" err="1">
                <a:solidFill>
                  <a:schemeClr val="tx1"/>
                </a:solidFill>
              </a:rPr>
              <a:t>start_time</a:t>
            </a:r>
            <a:r>
              <a:rPr lang="en-US" sz="1050" dirty="0">
                <a:solidFill>
                  <a:schemeClr val="tx1"/>
                </a:solidFill>
              </a:rPr>
              <a:t> : float</a:t>
            </a:r>
          </a:p>
          <a:p>
            <a:r>
              <a:rPr lang="en-US" sz="1050" dirty="0">
                <a:solidFill>
                  <a:schemeClr val="tx1"/>
                </a:solidFill>
              </a:rPr>
              <a:t>+</a:t>
            </a:r>
            <a:r>
              <a:rPr lang="en-US" sz="1050" dirty="0" err="1">
                <a:solidFill>
                  <a:schemeClr val="tx1"/>
                </a:solidFill>
              </a:rPr>
              <a:t>end_time</a:t>
            </a:r>
            <a:r>
              <a:rPr lang="en-US" sz="1050" dirty="0">
                <a:solidFill>
                  <a:schemeClr val="tx1"/>
                </a:solidFill>
              </a:rPr>
              <a:t> : float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10689FF-983C-BD27-EC0A-EE4BB4F1C710}"/>
              </a:ext>
            </a:extLst>
          </p:cNvPr>
          <p:cNvSpPr/>
          <p:nvPr/>
        </p:nvSpPr>
        <p:spPr>
          <a:xfrm>
            <a:off x="4504210" y="3290623"/>
            <a:ext cx="1869831" cy="4642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 err="1">
                <a:solidFill>
                  <a:schemeClr val="tx1"/>
                </a:solidFill>
              </a:rPr>
              <a:t>ComputeJob</a:t>
            </a:r>
            <a:endParaRPr lang="en-US" sz="1050" b="1" dirty="0">
              <a:solidFill>
                <a:schemeClr val="tx1"/>
              </a:solidFill>
            </a:endParaRPr>
          </a:p>
        </p:txBody>
      </p: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45093D5C-2494-0947-C36C-37F4B229664C}"/>
              </a:ext>
            </a:extLst>
          </p:cNvPr>
          <p:cNvCxnSpPr>
            <a:cxnSpLocks/>
            <a:stCxn id="2" idx="3"/>
            <a:endCxn id="55" idx="3"/>
          </p:cNvCxnSpPr>
          <p:nvPr/>
        </p:nvCxnSpPr>
        <p:spPr>
          <a:xfrm>
            <a:off x="5688531" y="1939054"/>
            <a:ext cx="685510" cy="2463556"/>
          </a:xfrm>
          <a:prstGeom prst="bentConnector3">
            <a:avLst>
              <a:gd name="adj1" fmla="val 311668"/>
            </a:avLst>
          </a:prstGeom>
          <a:ln>
            <a:solidFill>
              <a:schemeClr val="tx1"/>
            </a:solidFill>
            <a:headEnd type="diamond" w="lg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386F14F0-208D-9DF4-C803-3F15AAC5A860}"/>
              </a:ext>
            </a:extLst>
          </p:cNvPr>
          <p:cNvCxnSpPr>
            <a:cxnSpLocks/>
            <a:stCxn id="5" idx="3"/>
            <a:endCxn id="56" idx="3"/>
          </p:cNvCxnSpPr>
          <p:nvPr/>
        </p:nvCxnSpPr>
        <p:spPr>
          <a:xfrm>
            <a:off x="5688531" y="2821849"/>
            <a:ext cx="685510" cy="700914"/>
          </a:xfrm>
          <a:prstGeom prst="bentConnector3">
            <a:avLst>
              <a:gd name="adj1" fmla="val 133347"/>
            </a:avLst>
          </a:prstGeom>
          <a:ln>
            <a:solidFill>
              <a:schemeClr val="tx1"/>
            </a:solidFill>
            <a:headEnd type="diamond" w="lg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9A41B717-63C0-A7AC-84A8-B22B886C07CE}"/>
              </a:ext>
            </a:extLst>
          </p:cNvPr>
          <p:cNvSpPr txBox="1"/>
          <p:nvPr/>
        </p:nvSpPr>
        <p:spPr>
          <a:xfrm>
            <a:off x="6374041" y="3522763"/>
            <a:ext cx="113364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+</a:t>
            </a:r>
            <a:r>
              <a:rPr lang="en-US" sz="1050" dirty="0" err="1"/>
              <a:t>active_compute</a:t>
            </a:r>
            <a:endParaRPr lang="en-US" sz="105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EC1E884-4BA5-5219-EF1D-DE6322754DB6}"/>
              </a:ext>
            </a:extLst>
          </p:cNvPr>
          <p:cNvSpPr txBox="1"/>
          <p:nvPr/>
        </p:nvSpPr>
        <p:spPr>
          <a:xfrm>
            <a:off x="6374041" y="4402610"/>
            <a:ext cx="139493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+</a:t>
            </a:r>
            <a:r>
              <a:rPr lang="en-US" sz="1050" dirty="0" err="1"/>
              <a:t>completed_compute</a:t>
            </a:r>
            <a:endParaRPr lang="en-US" sz="1050" dirty="0"/>
          </a:p>
        </p:txBody>
      </p: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88CB168B-A073-7E89-B9DB-25219AA56D5B}"/>
              </a:ext>
            </a:extLst>
          </p:cNvPr>
          <p:cNvCxnSpPr>
            <a:cxnSpLocks/>
            <a:stCxn id="2" idx="0"/>
            <a:endCxn id="14" idx="1"/>
          </p:cNvCxnSpPr>
          <p:nvPr/>
        </p:nvCxnSpPr>
        <p:spPr>
          <a:xfrm rot="5400000" flipH="1" flipV="1">
            <a:off x="4614445" y="149198"/>
            <a:ext cx="1170058" cy="2026378"/>
          </a:xfrm>
          <a:prstGeom prst="bentConnector2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14E06FB1-35A8-D73C-4238-3FA69A3B5A57}"/>
              </a:ext>
            </a:extLst>
          </p:cNvPr>
          <p:cNvSpPr/>
          <p:nvPr/>
        </p:nvSpPr>
        <p:spPr>
          <a:xfrm>
            <a:off x="8193196" y="2734115"/>
            <a:ext cx="2686656" cy="3832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 err="1">
                <a:solidFill>
                  <a:schemeClr val="tx1"/>
                </a:solidFill>
              </a:rPr>
              <a:t>DisaggregatedPDSystemPP</a:t>
            </a:r>
            <a:endParaRPr lang="en-US" sz="1050" b="1" dirty="0">
              <a:solidFill>
                <a:schemeClr val="tx1"/>
              </a:solidFill>
            </a:endParaRPr>
          </a:p>
        </p:txBody>
      </p:sp>
      <p:cxnSp>
        <p:nvCxnSpPr>
          <p:cNvPr id="85" name="Connector: Elbow 84">
            <a:extLst>
              <a:ext uri="{FF2B5EF4-FFF2-40B4-BE49-F238E27FC236}">
                <a16:creationId xmlns:a16="http://schemas.microsoft.com/office/drawing/2014/main" id="{8CA42019-F0B5-2573-40E1-839829E791BE}"/>
              </a:ext>
            </a:extLst>
          </p:cNvPr>
          <p:cNvCxnSpPr>
            <a:cxnSpLocks/>
            <a:stCxn id="82" idx="0"/>
            <a:endCxn id="17" idx="2"/>
          </p:cNvCxnSpPr>
          <p:nvPr/>
        </p:nvCxnSpPr>
        <p:spPr>
          <a:xfrm rot="16200000" flipV="1">
            <a:off x="8579869" y="1777459"/>
            <a:ext cx="1473235" cy="440077"/>
          </a:xfrm>
          <a:prstGeom prst="bentConnector3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057257F3-133D-1AB5-60C0-ED39A0EF12A4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3044040" y="5050316"/>
            <a:ext cx="0" cy="415388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A13240BA-A231-C881-01B7-661188EF33B0}"/>
              </a:ext>
            </a:extLst>
          </p:cNvPr>
          <p:cNvSpPr txBox="1"/>
          <p:nvPr/>
        </p:nvSpPr>
        <p:spPr>
          <a:xfrm>
            <a:off x="3044039" y="5187730"/>
            <a:ext cx="25199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*</a:t>
            </a:r>
          </a:p>
        </p:txBody>
      </p:sp>
      <p:sp>
        <p:nvSpPr>
          <p:cNvPr id="98" name="Speech Bubble: Rectangle with Corners Rounded 97">
            <a:extLst>
              <a:ext uri="{FF2B5EF4-FFF2-40B4-BE49-F238E27FC236}">
                <a16:creationId xmlns:a16="http://schemas.microsoft.com/office/drawing/2014/main" id="{8D18C21D-B749-86EC-C946-0C6448C8BB9D}"/>
              </a:ext>
            </a:extLst>
          </p:cNvPr>
          <p:cNvSpPr/>
          <p:nvPr/>
        </p:nvSpPr>
        <p:spPr>
          <a:xfrm>
            <a:off x="200025" y="629299"/>
            <a:ext cx="3844480" cy="699787"/>
          </a:xfrm>
          <a:prstGeom prst="wedgeRoundRectCallout">
            <a:avLst>
              <a:gd name="adj1" fmla="val 22029"/>
              <a:gd name="adj2" fmla="val 96192"/>
              <a:gd name="adj3" fmla="val 16667"/>
            </a:avLst>
          </a:prstGeom>
          <a:solidFill>
            <a:srgbClr val="FFFC8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dirty="0">
                <a:solidFill>
                  <a:schemeClr val="tx1"/>
                </a:solidFill>
              </a:rPr>
              <a:t>Simulator.  After the first </a:t>
            </a:r>
            <a:r>
              <a:rPr lang="en-US" sz="1200" b="1" dirty="0" err="1">
                <a:solidFill>
                  <a:schemeClr val="tx1"/>
                </a:solidFill>
              </a:rPr>
              <a:t>ComputeJob</a:t>
            </a:r>
            <a:r>
              <a:rPr lang="en-US" sz="1200" dirty="0">
                <a:solidFill>
                  <a:schemeClr val="tx1"/>
                </a:solidFill>
              </a:rPr>
              <a:t>(s) and/or </a:t>
            </a:r>
            <a:r>
              <a:rPr lang="en-US" sz="1200" b="1" dirty="0" err="1">
                <a:solidFill>
                  <a:schemeClr val="tx1"/>
                </a:solidFill>
              </a:rPr>
              <a:t>DataBatch</a:t>
            </a:r>
            <a:r>
              <a:rPr lang="en-US" sz="1200" dirty="0">
                <a:solidFill>
                  <a:schemeClr val="tx1"/>
                </a:solidFill>
              </a:rPr>
              <a:t>(es) have been added to it, call its </a:t>
            </a:r>
            <a:r>
              <a:rPr lang="en-US" sz="1200" b="1" dirty="0">
                <a:solidFill>
                  <a:schemeClr val="tx1"/>
                </a:solidFill>
              </a:rPr>
              <a:t>run()</a:t>
            </a:r>
            <a:r>
              <a:rPr lang="en-US" sz="1200" dirty="0">
                <a:solidFill>
                  <a:schemeClr val="tx1"/>
                </a:solidFill>
              </a:rPr>
              <a:t> method to run the simulation in discrete time increments.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99" name="Speech Bubble: Rectangle with Corners Rounded 98">
            <a:extLst>
              <a:ext uri="{FF2B5EF4-FFF2-40B4-BE49-F238E27FC236}">
                <a16:creationId xmlns:a16="http://schemas.microsoft.com/office/drawing/2014/main" id="{33AA9F11-7472-4060-CF90-50FE0503C3A4}"/>
              </a:ext>
            </a:extLst>
          </p:cNvPr>
          <p:cNvSpPr/>
          <p:nvPr/>
        </p:nvSpPr>
        <p:spPr>
          <a:xfrm>
            <a:off x="9749522" y="1768592"/>
            <a:ext cx="2260657" cy="658950"/>
          </a:xfrm>
          <a:prstGeom prst="wedgeRoundRectCallout">
            <a:avLst>
              <a:gd name="adj1" fmla="val -22808"/>
              <a:gd name="adj2" fmla="val -88174"/>
              <a:gd name="adj3" fmla="val 16667"/>
            </a:avLst>
          </a:prstGeom>
          <a:solidFill>
            <a:srgbClr val="FFFC8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dirty="0">
                <a:solidFill>
                  <a:schemeClr val="tx1"/>
                </a:solidFill>
              </a:rPr>
              <a:t>Simulator interface with two event handlers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100" name="Speech Bubble: Rectangle with Corners Rounded 99">
            <a:extLst>
              <a:ext uri="{FF2B5EF4-FFF2-40B4-BE49-F238E27FC236}">
                <a16:creationId xmlns:a16="http://schemas.microsoft.com/office/drawing/2014/main" id="{814CCD75-571B-81A9-1E3C-6D855CD75BD1}"/>
              </a:ext>
            </a:extLst>
          </p:cNvPr>
          <p:cNvSpPr/>
          <p:nvPr/>
        </p:nvSpPr>
        <p:spPr>
          <a:xfrm>
            <a:off x="8459150" y="4398234"/>
            <a:ext cx="3372391" cy="2074045"/>
          </a:xfrm>
          <a:prstGeom prst="wedgeRoundRectCallout">
            <a:avLst>
              <a:gd name="adj1" fmla="val -22068"/>
              <a:gd name="adj2" fmla="val -69142"/>
              <a:gd name="adj3" fmla="val 16667"/>
            </a:avLst>
          </a:prstGeom>
          <a:solidFill>
            <a:srgbClr val="FFFC8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dirty="0">
                <a:solidFill>
                  <a:schemeClr val="tx1"/>
                </a:solidFill>
              </a:rPr>
              <a:t>A concrete system that realizes the </a:t>
            </a:r>
            <a:r>
              <a:rPr lang="en-US" sz="1200" b="1" dirty="0" err="1">
                <a:solidFill>
                  <a:schemeClr val="tx1"/>
                </a:solidFill>
              </a:rPr>
              <a:t>SimulatedSystem</a:t>
            </a:r>
            <a:r>
              <a:rPr lang="en-US" sz="1200" dirty="0">
                <a:solidFill>
                  <a:schemeClr val="tx1"/>
                </a:solidFill>
              </a:rPr>
              <a:t> interface.  Its methods handle events from the </a:t>
            </a:r>
            <a:r>
              <a:rPr lang="en-US" sz="1200" b="1" dirty="0" err="1">
                <a:solidFill>
                  <a:schemeClr val="tx1"/>
                </a:solidFill>
              </a:rPr>
              <a:t>CommNetworkSimulator</a:t>
            </a:r>
            <a:r>
              <a:rPr lang="en-US" sz="1200" dirty="0">
                <a:solidFill>
                  <a:schemeClr val="tx1"/>
                </a:solidFill>
              </a:rPr>
              <a:t> announcing the (simulated) completion of </a:t>
            </a:r>
            <a:r>
              <a:rPr lang="en-US" sz="1200" b="1" dirty="0" err="1">
                <a:solidFill>
                  <a:schemeClr val="tx1"/>
                </a:solidFill>
              </a:rPr>
              <a:t>DataBatch</a:t>
            </a:r>
            <a:r>
              <a:rPr lang="en-US" sz="1200" dirty="0">
                <a:solidFill>
                  <a:schemeClr val="tx1"/>
                </a:solidFill>
              </a:rPr>
              <a:t> transfers and </a:t>
            </a:r>
            <a:r>
              <a:rPr lang="en-US" sz="1200" b="1" dirty="0" err="1">
                <a:solidFill>
                  <a:schemeClr val="tx1"/>
                </a:solidFill>
              </a:rPr>
              <a:t>ComputeJob</a:t>
            </a:r>
            <a:r>
              <a:rPr lang="en-US" sz="1200" dirty="0">
                <a:solidFill>
                  <a:schemeClr val="tx1"/>
                </a:solidFill>
              </a:rPr>
              <a:t> executions by orchestrating the creation of additional </a:t>
            </a:r>
            <a:r>
              <a:rPr lang="en-US" sz="1200" b="1" dirty="0" err="1">
                <a:solidFill>
                  <a:schemeClr val="tx1"/>
                </a:solidFill>
              </a:rPr>
              <a:t>CommJobs</a:t>
            </a:r>
            <a:r>
              <a:rPr lang="en-US" sz="1200" dirty="0">
                <a:solidFill>
                  <a:schemeClr val="tx1"/>
                </a:solidFill>
              </a:rPr>
              <a:t> and </a:t>
            </a:r>
            <a:r>
              <a:rPr lang="en-US" sz="1200" b="1" dirty="0" err="1">
                <a:solidFill>
                  <a:schemeClr val="tx1"/>
                </a:solidFill>
              </a:rPr>
              <a:t>DataBatches</a:t>
            </a:r>
            <a:r>
              <a:rPr lang="en-US" sz="1200" dirty="0">
                <a:solidFill>
                  <a:schemeClr val="tx1"/>
                </a:solidFill>
              </a:rPr>
              <a:t> and adding them to the </a:t>
            </a:r>
            <a:r>
              <a:rPr lang="en-US" sz="1200" b="1" dirty="0" err="1">
                <a:solidFill>
                  <a:schemeClr val="tx1"/>
                </a:solidFill>
              </a:rPr>
              <a:t>CommNetworkSimulator</a:t>
            </a:r>
            <a:r>
              <a:rPr lang="en-US" sz="1200" dirty="0">
                <a:solidFill>
                  <a:schemeClr val="tx1"/>
                </a:solidFill>
              </a:rPr>
              <a:t>.  Its </a:t>
            </a:r>
            <a:r>
              <a:rPr lang="en-US" sz="1200" b="1" dirty="0">
                <a:solidFill>
                  <a:schemeClr val="tx1"/>
                </a:solidFill>
              </a:rPr>
              <a:t>start()</a:t>
            </a:r>
            <a:r>
              <a:rPr lang="en-US" sz="1200" dirty="0">
                <a:solidFill>
                  <a:schemeClr val="tx1"/>
                </a:solidFill>
              </a:rPr>
              <a:t> method kicks off the first </a:t>
            </a:r>
            <a:r>
              <a:rPr lang="en-US" sz="1200" b="1" dirty="0" err="1">
                <a:solidFill>
                  <a:schemeClr val="tx1"/>
                </a:solidFill>
              </a:rPr>
              <a:t>ComputeJob</a:t>
            </a:r>
            <a:r>
              <a:rPr lang="en-US" sz="1200" dirty="0">
                <a:solidFill>
                  <a:schemeClr val="tx1"/>
                </a:solidFill>
              </a:rPr>
              <a:t>(s) and/or </a:t>
            </a:r>
            <a:r>
              <a:rPr lang="en-US" sz="1200" b="1" dirty="0" err="1">
                <a:solidFill>
                  <a:schemeClr val="tx1"/>
                </a:solidFill>
              </a:rPr>
              <a:t>DataBatch</a:t>
            </a:r>
            <a:r>
              <a:rPr lang="en-US" sz="1200" dirty="0">
                <a:solidFill>
                  <a:schemeClr val="tx1"/>
                </a:solidFill>
              </a:rPr>
              <a:t>(es).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B2CC24BB-BA48-1713-63BF-437ED9FE6979}"/>
              </a:ext>
            </a:extLst>
          </p:cNvPr>
          <p:cNvSpPr/>
          <p:nvPr/>
        </p:nvSpPr>
        <p:spPr>
          <a:xfrm>
            <a:off x="8193195" y="3120546"/>
            <a:ext cx="2686656" cy="3832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050" dirty="0">
              <a:solidFill>
                <a:schemeClr val="tx1"/>
              </a:solidFill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EB870F73-B9F3-0FA9-68F6-739BD08B3EBD}"/>
              </a:ext>
            </a:extLst>
          </p:cNvPr>
          <p:cNvSpPr/>
          <p:nvPr/>
        </p:nvSpPr>
        <p:spPr>
          <a:xfrm>
            <a:off x="8193195" y="3501494"/>
            <a:ext cx="2686656" cy="3832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50" dirty="0">
                <a:solidFill>
                  <a:schemeClr val="tx1"/>
                </a:solidFill>
              </a:rPr>
              <a:t>+start(simulator : </a:t>
            </a:r>
            <a:r>
              <a:rPr lang="en-US" sz="1050" dirty="0" err="1">
                <a:solidFill>
                  <a:schemeClr val="tx1"/>
                </a:solidFill>
              </a:rPr>
              <a:t>CommNetworkSimulator</a:t>
            </a:r>
            <a:r>
              <a:rPr lang="en-US" sz="105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827C0DA1-378A-3C62-78A8-B6ACC7BC7E1C}"/>
              </a:ext>
            </a:extLst>
          </p:cNvPr>
          <p:cNvSpPr/>
          <p:nvPr/>
        </p:nvSpPr>
        <p:spPr>
          <a:xfrm>
            <a:off x="2684040" y="2130420"/>
            <a:ext cx="3004492" cy="3815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50" dirty="0">
                <a:solidFill>
                  <a:schemeClr val="tx1"/>
                </a:solidFill>
              </a:rPr>
              <a:t>+</a:t>
            </a:r>
            <a:r>
              <a:rPr lang="en-US" sz="1050" dirty="0" err="1">
                <a:solidFill>
                  <a:schemeClr val="tx1"/>
                </a:solidFill>
              </a:rPr>
              <a:t>current_time</a:t>
            </a:r>
            <a:r>
              <a:rPr lang="en-US" sz="1050" dirty="0">
                <a:solidFill>
                  <a:schemeClr val="tx1"/>
                </a:solidFill>
              </a:rPr>
              <a:t> : float</a:t>
            </a: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8F3B683E-A875-E988-936D-CAB48316EF34}"/>
              </a:ext>
            </a:extLst>
          </p:cNvPr>
          <p:cNvCxnSpPr>
            <a:cxnSpLocks/>
          </p:cNvCxnSpPr>
          <p:nvPr/>
        </p:nvCxnSpPr>
        <p:spPr>
          <a:xfrm flipH="1">
            <a:off x="4491083" y="487080"/>
            <a:ext cx="11811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9660B4F0-8C08-DEE4-7E8B-D75A0CD564D0}"/>
              </a:ext>
            </a:extLst>
          </p:cNvPr>
          <p:cNvSpPr txBox="1"/>
          <p:nvPr/>
        </p:nvSpPr>
        <p:spPr>
          <a:xfrm>
            <a:off x="4129289" y="174962"/>
            <a:ext cx="190468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dirty="0"/>
              <a:t>add(_compute() or </a:t>
            </a:r>
            <a:r>
              <a:rPr lang="en-US" sz="1050" dirty="0" err="1"/>
              <a:t>add_batch</a:t>
            </a:r>
            <a:r>
              <a:rPr lang="en-US" sz="1050" dirty="0"/>
              <a:t>()</a:t>
            </a:r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8233520B-3A17-2AD3-5B51-38650D4AA761}"/>
              </a:ext>
            </a:extLst>
          </p:cNvPr>
          <p:cNvCxnSpPr>
            <a:cxnSpLocks/>
          </p:cNvCxnSpPr>
          <p:nvPr/>
        </p:nvCxnSpPr>
        <p:spPr>
          <a:xfrm>
            <a:off x="4491083" y="663265"/>
            <a:ext cx="11811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5CC52BE4-66E8-12E4-30FB-70BBFF01CCCD}"/>
              </a:ext>
            </a:extLst>
          </p:cNvPr>
          <p:cNvSpPr txBox="1"/>
          <p:nvPr/>
        </p:nvSpPr>
        <p:spPr>
          <a:xfrm>
            <a:off x="4474736" y="719244"/>
            <a:ext cx="121379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dirty="0"/>
              <a:t>Completion events</a:t>
            </a:r>
          </a:p>
        </p:txBody>
      </p:sp>
    </p:spTree>
    <p:extLst>
      <p:ext uri="{BB962C8B-B14F-4D97-AF65-F5344CB8AC3E}">
        <p14:creationId xmlns:p14="http://schemas.microsoft.com/office/powerpoint/2010/main" val="3531007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57512-7303-F258-4D55-6AB117477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19FBE9F-EDA3-2158-231C-D817AC131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926956" cy="387808"/>
          </a:xfrm>
        </p:spPr>
        <p:txBody>
          <a:bodyPr>
            <a:noAutofit/>
          </a:bodyPr>
          <a:lstStyle/>
          <a:p>
            <a:r>
              <a:rPr lang="en-US" sz="3200" dirty="0"/>
              <a:t>Disaggregated PD with Pipeline Parallelism (logical view)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D35B372-5491-A2CB-998A-222F08F660FC}"/>
              </a:ext>
            </a:extLst>
          </p:cNvPr>
          <p:cNvCxnSpPr>
            <a:cxnSpLocks/>
            <a:endCxn id="484" idx="2"/>
          </p:cNvCxnSpPr>
          <p:nvPr/>
        </p:nvCxnSpPr>
        <p:spPr>
          <a:xfrm flipV="1">
            <a:off x="5222008" y="3821468"/>
            <a:ext cx="0" cy="1014435"/>
          </a:xfrm>
          <a:prstGeom prst="line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B2E2431-6ECF-C733-0063-8366E5F2640A}"/>
              </a:ext>
            </a:extLst>
          </p:cNvPr>
          <p:cNvCxnSpPr>
            <a:cxnSpLocks/>
            <a:stCxn id="484" idx="0"/>
            <a:endCxn id="507" idx="2"/>
          </p:cNvCxnSpPr>
          <p:nvPr/>
        </p:nvCxnSpPr>
        <p:spPr>
          <a:xfrm flipV="1">
            <a:off x="5222008" y="2446297"/>
            <a:ext cx="0" cy="1024410"/>
          </a:xfrm>
          <a:prstGeom prst="line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0366D24-0CA1-422A-408D-D2B5D25683D9}"/>
              </a:ext>
            </a:extLst>
          </p:cNvPr>
          <p:cNvCxnSpPr>
            <a:cxnSpLocks/>
            <a:stCxn id="507" idx="0"/>
            <a:endCxn id="83" idx="2"/>
          </p:cNvCxnSpPr>
          <p:nvPr/>
        </p:nvCxnSpPr>
        <p:spPr>
          <a:xfrm flipV="1">
            <a:off x="5222008" y="1071126"/>
            <a:ext cx="0" cy="1024410"/>
          </a:xfrm>
          <a:prstGeom prst="line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11B187E-D5D8-11D8-49B6-E2DD08AAF6BA}"/>
              </a:ext>
            </a:extLst>
          </p:cNvPr>
          <p:cNvCxnSpPr>
            <a:cxnSpLocks/>
            <a:stCxn id="106" idx="0"/>
            <a:endCxn id="513" idx="2"/>
          </p:cNvCxnSpPr>
          <p:nvPr/>
        </p:nvCxnSpPr>
        <p:spPr>
          <a:xfrm flipV="1">
            <a:off x="8447366" y="3820473"/>
            <a:ext cx="0" cy="1025404"/>
          </a:xfrm>
          <a:prstGeom prst="line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B59FB7A-5D5E-15AF-6C80-47E2BC888648}"/>
              </a:ext>
            </a:extLst>
          </p:cNvPr>
          <p:cNvCxnSpPr>
            <a:cxnSpLocks/>
            <a:stCxn id="513" idx="0"/>
            <a:endCxn id="536" idx="2"/>
          </p:cNvCxnSpPr>
          <p:nvPr/>
        </p:nvCxnSpPr>
        <p:spPr>
          <a:xfrm flipV="1">
            <a:off x="8447366" y="2444307"/>
            <a:ext cx="0" cy="1025405"/>
          </a:xfrm>
          <a:prstGeom prst="line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44DDEA4-FEA7-D618-27D5-B7BC7FDC19AF}"/>
              </a:ext>
            </a:extLst>
          </p:cNvPr>
          <p:cNvCxnSpPr>
            <a:cxnSpLocks/>
            <a:stCxn id="536" idx="0"/>
            <a:endCxn id="559" idx="2"/>
          </p:cNvCxnSpPr>
          <p:nvPr/>
        </p:nvCxnSpPr>
        <p:spPr>
          <a:xfrm flipV="1">
            <a:off x="8447366" y="1068141"/>
            <a:ext cx="0" cy="1025405"/>
          </a:xfrm>
          <a:prstGeom prst="line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B23F1A0-1B48-C5E0-2F66-B16104E80C87}"/>
              </a:ext>
            </a:extLst>
          </p:cNvPr>
          <p:cNvCxnSpPr>
            <a:cxnSpLocks/>
            <a:stCxn id="460" idx="3"/>
            <a:endCxn id="106" idx="1"/>
          </p:cNvCxnSpPr>
          <p:nvPr/>
        </p:nvCxnSpPr>
        <p:spPr>
          <a:xfrm>
            <a:off x="5427739" y="5021258"/>
            <a:ext cx="2813896" cy="0"/>
          </a:xfrm>
          <a:prstGeom prst="line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F1535B2-320D-F14C-BB2B-A3F99D7A2C49}"/>
              </a:ext>
            </a:extLst>
          </p:cNvPr>
          <p:cNvCxnSpPr>
            <a:cxnSpLocks/>
            <a:stCxn id="484" idx="3"/>
            <a:endCxn id="513" idx="1"/>
          </p:cNvCxnSpPr>
          <p:nvPr/>
        </p:nvCxnSpPr>
        <p:spPr>
          <a:xfrm flipV="1">
            <a:off x="5427739" y="3645093"/>
            <a:ext cx="2813896" cy="995"/>
          </a:xfrm>
          <a:prstGeom prst="line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D22EE65-B23C-2078-FB75-1B5CC6DA1AC7}"/>
              </a:ext>
            </a:extLst>
          </p:cNvPr>
          <p:cNvCxnSpPr>
            <a:cxnSpLocks/>
            <a:stCxn id="507" idx="3"/>
            <a:endCxn id="536" idx="1"/>
          </p:cNvCxnSpPr>
          <p:nvPr/>
        </p:nvCxnSpPr>
        <p:spPr>
          <a:xfrm flipV="1">
            <a:off x="5427739" y="2268927"/>
            <a:ext cx="2813896" cy="1990"/>
          </a:xfrm>
          <a:prstGeom prst="line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63EFB48-684C-E683-4DDA-C14E0E686917}"/>
              </a:ext>
            </a:extLst>
          </p:cNvPr>
          <p:cNvCxnSpPr>
            <a:cxnSpLocks/>
            <a:stCxn id="83" idx="3"/>
            <a:endCxn id="579" idx="1"/>
          </p:cNvCxnSpPr>
          <p:nvPr/>
        </p:nvCxnSpPr>
        <p:spPr>
          <a:xfrm>
            <a:off x="5427739" y="895746"/>
            <a:ext cx="2834782" cy="7483"/>
          </a:xfrm>
          <a:prstGeom prst="line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Left Brace 28">
            <a:extLst>
              <a:ext uri="{FF2B5EF4-FFF2-40B4-BE49-F238E27FC236}">
                <a16:creationId xmlns:a16="http://schemas.microsoft.com/office/drawing/2014/main" id="{7B9FD030-D4E4-1FA2-AA50-39EC66668D92}"/>
              </a:ext>
            </a:extLst>
          </p:cNvPr>
          <p:cNvSpPr/>
          <p:nvPr/>
        </p:nvSpPr>
        <p:spPr>
          <a:xfrm>
            <a:off x="4700951" y="5735694"/>
            <a:ext cx="121240" cy="508818"/>
          </a:xfrm>
          <a:prstGeom prst="leftBrac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Left Brace 29">
            <a:extLst>
              <a:ext uri="{FF2B5EF4-FFF2-40B4-BE49-F238E27FC236}">
                <a16:creationId xmlns:a16="http://schemas.microsoft.com/office/drawing/2014/main" id="{2F126248-FFFD-31FF-2B7C-FAACC7D333DF}"/>
              </a:ext>
            </a:extLst>
          </p:cNvPr>
          <p:cNvSpPr/>
          <p:nvPr/>
        </p:nvSpPr>
        <p:spPr>
          <a:xfrm rot="16200000">
            <a:off x="5158698" y="6031486"/>
            <a:ext cx="121240" cy="668318"/>
          </a:xfrm>
          <a:prstGeom prst="leftBrac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9F5FD1A-C332-0023-9D42-5C019BA5CEEC}"/>
              </a:ext>
            </a:extLst>
          </p:cNvPr>
          <p:cNvSpPr txBox="1"/>
          <p:nvPr/>
        </p:nvSpPr>
        <p:spPr>
          <a:xfrm>
            <a:off x="5091245" y="6439650"/>
            <a:ext cx="25039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dirty="0">
                <a:solidFill>
                  <a:srgbClr val="FF0000"/>
                </a:solidFill>
              </a:rPr>
              <a:t>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694EFF9-3E8B-BCB8-5B68-69B9D1156D69}"/>
              </a:ext>
            </a:extLst>
          </p:cNvPr>
          <p:cNvSpPr txBox="1"/>
          <p:nvPr/>
        </p:nvSpPr>
        <p:spPr>
          <a:xfrm>
            <a:off x="4483555" y="5861519"/>
            <a:ext cx="27122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dirty="0">
                <a:solidFill>
                  <a:srgbClr val="7030A0"/>
                </a:solidFill>
              </a:rPr>
              <a:t>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8BCD8A7-58B6-7E88-778B-36B0C6BC083D}"/>
              </a:ext>
            </a:extLst>
          </p:cNvPr>
          <p:cNvSpPr txBox="1"/>
          <p:nvPr/>
        </p:nvSpPr>
        <p:spPr>
          <a:xfrm>
            <a:off x="4958196" y="302081"/>
            <a:ext cx="51648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b="1" dirty="0">
                <a:solidFill>
                  <a:srgbClr val="FF0000"/>
                </a:solidFill>
              </a:rPr>
              <a:t>Prefill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8F60014B-7E2C-2CBF-93F4-B5FF9E06F2CE}"/>
              </a:ext>
            </a:extLst>
          </p:cNvPr>
          <p:cNvSpPr/>
          <p:nvPr/>
        </p:nvSpPr>
        <p:spPr>
          <a:xfrm>
            <a:off x="4831797" y="572232"/>
            <a:ext cx="815780" cy="4747158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D9C7BE1-977D-1B94-FFE7-E055842AA556}"/>
              </a:ext>
            </a:extLst>
          </p:cNvPr>
          <p:cNvSpPr txBox="1"/>
          <p:nvPr/>
        </p:nvSpPr>
        <p:spPr>
          <a:xfrm>
            <a:off x="8141141" y="314743"/>
            <a:ext cx="60144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b="1" dirty="0">
                <a:solidFill>
                  <a:srgbClr val="0070C0"/>
                </a:solidFill>
              </a:rPr>
              <a:t>Decode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D9134E0-8426-C524-B29D-7F9087EB22CD}"/>
              </a:ext>
            </a:extLst>
          </p:cNvPr>
          <p:cNvSpPr/>
          <p:nvPr/>
        </p:nvSpPr>
        <p:spPr>
          <a:xfrm>
            <a:off x="8046153" y="571043"/>
            <a:ext cx="791424" cy="4750798"/>
          </a:xfrm>
          <a:prstGeom prst="roundRect">
            <a:avLst/>
          </a:prstGeom>
          <a:noFill/>
          <a:ln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749F416-1CFB-D9C8-A50A-C2B659E0E0FE}"/>
              </a:ext>
            </a:extLst>
          </p:cNvPr>
          <p:cNvGrpSpPr/>
          <p:nvPr/>
        </p:nvGrpSpPr>
        <p:grpSpPr>
          <a:xfrm>
            <a:off x="4885159" y="5754803"/>
            <a:ext cx="674086" cy="468007"/>
            <a:chOff x="4087665" y="2094838"/>
            <a:chExt cx="674086" cy="468007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D7957285-1975-8C5B-989F-D62CCC12402F}"/>
                </a:ext>
              </a:extLst>
            </p:cNvPr>
            <p:cNvSpPr/>
            <p:nvPr/>
          </p:nvSpPr>
          <p:spPr>
            <a:xfrm>
              <a:off x="4087665" y="2094838"/>
              <a:ext cx="77178" cy="7717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4FAE02A0-5F4C-6ACC-BD90-1C6DA1B3058A}"/>
                </a:ext>
              </a:extLst>
            </p:cNvPr>
            <p:cNvSpPr/>
            <p:nvPr/>
          </p:nvSpPr>
          <p:spPr>
            <a:xfrm>
              <a:off x="4087665" y="2248622"/>
              <a:ext cx="77178" cy="7717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8C8454D4-6DB2-822D-9927-15AC8146C510}"/>
                </a:ext>
              </a:extLst>
            </p:cNvPr>
            <p:cNvSpPr/>
            <p:nvPr/>
          </p:nvSpPr>
          <p:spPr>
            <a:xfrm>
              <a:off x="4087665" y="2485667"/>
              <a:ext cx="77178" cy="7717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F037F569-50A1-42A3-953E-44368CDB906A}"/>
                </a:ext>
              </a:extLst>
            </p:cNvPr>
            <p:cNvSpPr/>
            <p:nvPr/>
          </p:nvSpPr>
          <p:spPr>
            <a:xfrm>
              <a:off x="4264929" y="2094838"/>
              <a:ext cx="77178" cy="7717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628844C2-4EA4-3C12-CA95-0177EADC011E}"/>
                </a:ext>
              </a:extLst>
            </p:cNvPr>
            <p:cNvSpPr/>
            <p:nvPr/>
          </p:nvSpPr>
          <p:spPr>
            <a:xfrm>
              <a:off x="4264929" y="2248622"/>
              <a:ext cx="77178" cy="7717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C8ACA11E-B6F5-6007-203C-C99CF26E9A29}"/>
                </a:ext>
              </a:extLst>
            </p:cNvPr>
            <p:cNvSpPr/>
            <p:nvPr/>
          </p:nvSpPr>
          <p:spPr>
            <a:xfrm>
              <a:off x="4264929" y="2485667"/>
              <a:ext cx="77178" cy="7717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010CCF6C-FD94-E67F-FE11-C1579C9E9434}"/>
                </a:ext>
              </a:extLst>
            </p:cNvPr>
            <p:cNvSpPr/>
            <p:nvPr/>
          </p:nvSpPr>
          <p:spPr>
            <a:xfrm>
              <a:off x="4442193" y="2094838"/>
              <a:ext cx="77178" cy="7717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B1E9963C-0A53-D8E3-480C-B9540A60F220}"/>
                </a:ext>
              </a:extLst>
            </p:cNvPr>
            <p:cNvSpPr/>
            <p:nvPr/>
          </p:nvSpPr>
          <p:spPr>
            <a:xfrm>
              <a:off x="4442193" y="2248622"/>
              <a:ext cx="77178" cy="7717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EAA0F2A1-A838-547E-280B-A6FA76C64A33}"/>
                </a:ext>
              </a:extLst>
            </p:cNvPr>
            <p:cNvSpPr/>
            <p:nvPr/>
          </p:nvSpPr>
          <p:spPr>
            <a:xfrm>
              <a:off x="4442193" y="2485667"/>
              <a:ext cx="77178" cy="7717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47E949C5-E170-8A0F-E7AE-3DB84C113C03}"/>
                </a:ext>
              </a:extLst>
            </p:cNvPr>
            <p:cNvSpPr/>
            <p:nvPr/>
          </p:nvSpPr>
          <p:spPr>
            <a:xfrm>
              <a:off x="4684573" y="2094838"/>
              <a:ext cx="77178" cy="7717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61B010EF-F91F-73FF-4DF5-AE3D957F99F3}"/>
                </a:ext>
              </a:extLst>
            </p:cNvPr>
            <p:cNvSpPr/>
            <p:nvPr/>
          </p:nvSpPr>
          <p:spPr>
            <a:xfrm>
              <a:off x="4684573" y="2248622"/>
              <a:ext cx="77178" cy="7717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8C233ABA-9FFD-0F37-B4D1-39624A88BDAF}"/>
                </a:ext>
              </a:extLst>
            </p:cNvPr>
            <p:cNvSpPr/>
            <p:nvPr/>
          </p:nvSpPr>
          <p:spPr>
            <a:xfrm>
              <a:off x="4684573" y="2485667"/>
              <a:ext cx="77178" cy="7717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1EFBCA35-DD13-D3A8-55B9-12F823E8481D}"/>
                </a:ext>
              </a:extLst>
            </p:cNvPr>
            <p:cNvCxnSpPr>
              <a:cxnSpLocks/>
            </p:cNvCxnSpPr>
            <p:nvPr/>
          </p:nvCxnSpPr>
          <p:spPr>
            <a:xfrm>
              <a:off x="4564626" y="2132207"/>
              <a:ext cx="74692" cy="0"/>
            </a:xfrm>
            <a:prstGeom prst="line">
              <a:avLst/>
            </a:prstGeom>
            <a:ln w="3175">
              <a:prstDash val="sys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7148413A-C86A-ADF5-A966-1554C4DEAFF8}"/>
                </a:ext>
              </a:extLst>
            </p:cNvPr>
            <p:cNvSpPr/>
            <p:nvPr/>
          </p:nvSpPr>
          <p:spPr>
            <a:xfrm>
              <a:off x="4564626" y="2101974"/>
              <a:ext cx="74692" cy="7717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ECBA28F7-4632-AD9C-EB58-E12AEF010134}"/>
                </a:ext>
              </a:extLst>
            </p:cNvPr>
            <p:cNvSpPr/>
            <p:nvPr/>
          </p:nvSpPr>
          <p:spPr>
            <a:xfrm>
              <a:off x="4564626" y="2251949"/>
              <a:ext cx="74692" cy="7717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8" name="Straight Connector 447">
              <a:extLst>
                <a:ext uri="{FF2B5EF4-FFF2-40B4-BE49-F238E27FC236}">
                  <a16:creationId xmlns:a16="http://schemas.microsoft.com/office/drawing/2014/main" id="{B7D903F1-7BA6-D688-721A-ED5C57365D2D}"/>
                </a:ext>
              </a:extLst>
            </p:cNvPr>
            <p:cNvCxnSpPr>
              <a:stCxn id="63" idx="1"/>
              <a:endCxn id="63" idx="3"/>
            </p:cNvCxnSpPr>
            <p:nvPr/>
          </p:nvCxnSpPr>
          <p:spPr>
            <a:xfrm>
              <a:off x="4564626" y="2290538"/>
              <a:ext cx="74692" cy="0"/>
            </a:xfrm>
            <a:prstGeom prst="line">
              <a:avLst/>
            </a:prstGeom>
            <a:ln w="3175">
              <a:prstDash val="sys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49" name="Rectangle 448">
              <a:extLst>
                <a:ext uri="{FF2B5EF4-FFF2-40B4-BE49-F238E27FC236}">
                  <a16:creationId xmlns:a16="http://schemas.microsoft.com/office/drawing/2014/main" id="{6DCBDBA8-09DD-DA04-F057-D547DD5B4845}"/>
                </a:ext>
              </a:extLst>
            </p:cNvPr>
            <p:cNvSpPr/>
            <p:nvPr/>
          </p:nvSpPr>
          <p:spPr>
            <a:xfrm>
              <a:off x="4564626" y="2483676"/>
              <a:ext cx="74692" cy="7717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50" name="Straight Connector 449">
              <a:extLst>
                <a:ext uri="{FF2B5EF4-FFF2-40B4-BE49-F238E27FC236}">
                  <a16:creationId xmlns:a16="http://schemas.microsoft.com/office/drawing/2014/main" id="{1147888C-420C-2385-8FAB-F8982F7CB3AE}"/>
                </a:ext>
              </a:extLst>
            </p:cNvPr>
            <p:cNvCxnSpPr>
              <a:stCxn id="449" idx="1"/>
              <a:endCxn id="449" idx="3"/>
            </p:cNvCxnSpPr>
            <p:nvPr/>
          </p:nvCxnSpPr>
          <p:spPr>
            <a:xfrm>
              <a:off x="4564626" y="2522265"/>
              <a:ext cx="74692" cy="0"/>
            </a:xfrm>
            <a:prstGeom prst="line">
              <a:avLst/>
            </a:prstGeom>
            <a:ln w="3175">
              <a:prstDash val="sys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51" name="Rectangle 450">
              <a:extLst>
                <a:ext uri="{FF2B5EF4-FFF2-40B4-BE49-F238E27FC236}">
                  <a16:creationId xmlns:a16="http://schemas.microsoft.com/office/drawing/2014/main" id="{729E70BD-2B28-043B-AEE8-3432E1B4C61E}"/>
                </a:ext>
              </a:extLst>
            </p:cNvPr>
            <p:cNvSpPr/>
            <p:nvPr/>
          </p:nvSpPr>
          <p:spPr>
            <a:xfrm rot="5400000">
              <a:off x="4088908" y="2369949"/>
              <a:ext cx="74692" cy="7717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52" name="Straight Connector 451">
              <a:extLst>
                <a:ext uri="{FF2B5EF4-FFF2-40B4-BE49-F238E27FC236}">
                  <a16:creationId xmlns:a16="http://schemas.microsoft.com/office/drawing/2014/main" id="{E2137A0D-3124-890C-A80E-B9B3F70E49FC}"/>
                </a:ext>
              </a:extLst>
            </p:cNvPr>
            <p:cNvCxnSpPr>
              <a:cxnSpLocks/>
              <a:stCxn id="451" idx="1"/>
              <a:endCxn id="451" idx="3"/>
            </p:cNvCxnSpPr>
            <p:nvPr/>
          </p:nvCxnSpPr>
          <p:spPr>
            <a:xfrm rot="5400000">
              <a:off x="4088908" y="2408538"/>
              <a:ext cx="74692" cy="0"/>
            </a:xfrm>
            <a:prstGeom prst="line">
              <a:avLst/>
            </a:prstGeom>
            <a:ln w="3175">
              <a:prstDash val="sys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53" name="Rectangle 452">
              <a:extLst>
                <a:ext uri="{FF2B5EF4-FFF2-40B4-BE49-F238E27FC236}">
                  <a16:creationId xmlns:a16="http://schemas.microsoft.com/office/drawing/2014/main" id="{7CA57F3F-4547-AD33-4419-3204DF8629FD}"/>
                </a:ext>
              </a:extLst>
            </p:cNvPr>
            <p:cNvSpPr/>
            <p:nvPr/>
          </p:nvSpPr>
          <p:spPr>
            <a:xfrm rot="5400000">
              <a:off x="4269327" y="2369949"/>
              <a:ext cx="74692" cy="7717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54" name="Straight Connector 453">
              <a:extLst>
                <a:ext uri="{FF2B5EF4-FFF2-40B4-BE49-F238E27FC236}">
                  <a16:creationId xmlns:a16="http://schemas.microsoft.com/office/drawing/2014/main" id="{69E5DFF1-BB2C-7252-68C9-5BDCB28A46D2}"/>
                </a:ext>
              </a:extLst>
            </p:cNvPr>
            <p:cNvCxnSpPr>
              <a:cxnSpLocks/>
              <a:stCxn id="453" idx="1"/>
              <a:endCxn id="453" idx="3"/>
            </p:cNvCxnSpPr>
            <p:nvPr/>
          </p:nvCxnSpPr>
          <p:spPr>
            <a:xfrm rot="5400000">
              <a:off x="4269327" y="2408538"/>
              <a:ext cx="74692" cy="0"/>
            </a:xfrm>
            <a:prstGeom prst="line">
              <a:avLst/>
            </a:prstGeom>
            <a:ln w="3175">
              <a:prstDash val="sys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55" name="Rectangle 454">
              <a:extLst>
                <a:ext uri="{FF2B5EF4-FFF2-40B4-BE49-F238E27FC236}">
                  <a16:creationId xmlns:a16="http://schemas.microsoft.com/office/drawing/2014/main" id="{49959C90-706D-0B94-0591-0659CB17829E}"/>
                </a:ext>
              </a:extLst>
            </p:cNvPr>
            <p:cNvSpPr/>
            <p:nvPr/>
          </p:nvSpPr>
          <p:spPr>
            <a:xfrm rot="5400000">
              <a:off x="4443436" y="2373571"/>
              <a:ext cx="74692" cy="7717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56" name="Straight Connector 455">
              <a:extLst>
                <a:ext uri="{FF2B5EF4-FFF2-40B4-BE49-F238E27FC236}">
                  <a16:creationId xmlns:a16="http://schemas.microsoft.com/office/drawing/2014/main" id="{175DEED4-D042-226F-F92A-2C9C7541034C}"/>
                </a:ext>
              </a:extLst>
            </p:cNvPr>
            <p:cNvCxnSpPr>
              <a:cxnSpLocks/>
              <a:stCxn id="455" idx="1"/>
              <a:endCxn id="455" idx="3"/>
            </p:cNvCxnSpPr>
            <p:nvPr/>
          </p:nvCxnSpPr>
          <p:spPr>
            <a:xfrm rot="5400000">
              <a:off x="4443436" y="2412160"/>
              <a:ext cx="74692" cy="0"/>
            </a:xfrm>
            <a:prstGeom prst="line">
              <a:avLst/>
            </a:prstGeom>
            <a:ln w="3175">
              <a:prstDash val="sys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57" name="Rectangle 456">
              <a:extLst>
                <a:ext uri="{FF2B5EF4-FFF2-40B4-BE49-F238E27FC236}">
                  <a16:creationId xmlns:a16="http://schemas.microsoft.com/office/drawing/2014/main" id="{C001268D-139C-7420-6ADB-82A15D1E18B9}"/>
                </a:ext>
              </a:extLst>
            </p:cNvPr>
            <p:cNvSpPr/>
            <p:nvPr/>
          </p:nvSpPr>
          <p:spPr>
            <a:xfrm rot="5400000">
              <a:off x="4680048" y="2372213"/>
              <a:ext cx="74692" cy="7717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58" name="Straight Connector 457">
              <a:extLst>
                <a:ext uri="{FF2B5EF4-FFF2-40B4-BE49-F238E27FC236}">
                  <a16:creationId xmlns:a16="http://schemas.microsoft.com/office/drawing/2014/main" id="{F0C4D866-1CF9-6570-15FE-AA4D7EDAB645}"/>
                </a:ext>
              </a:extLst>
            </p:cNvPr>
            <p:cNvCxnSpPr>
              <a:cxnSpLocks/>
              <a:stCxn id="457" idx="1"/>
              <a:endCxn id="457" idx="3"/>
            </p:cNvCxnSpPr>
            <p:nvPr/>
          </p:nvCxnSpPr>
          <p:spPr>
            <a:xfrm rot="5400000">
              <a:off x="4680048" y="2410802"/>
              <a:ext cx="74692" cy="0"/>
            </a:xfrm>
            <a:prstGeom prst="line">
              <a:avLst/>
            </a:prstGeom>
            <a:ln w="3175">
              <a:prstDash val="sys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59" name="Group 458">
            <a:extLst>
              <a:ext uri="{FF2B5EF4-FFF2-40B4-BE49-F238E27FC236}">
                <a16:creationId xmlns:a16="http://schemas.microsoft.com/office/drawing/2014/main" id="{37BE5380-92B1-42FD-0831-79B8F1AE438A}"/>
              </a:ext>
            </a:extLst>
          </p:cNvPr>
          <p:cNvGrpSpPr>
            <a:grpSpLocks noChangeAspect="1"/>
          </p:cNvGrpSpPr>
          <p:nvPr/>
        </p:nvGrpSpPr>
        <p:grpSpPr>
          <a:xfrm>
            <a:off x="5016277" y="4845877"/>
            <a:ext cx="411851" cy="351150"/>
            <a:chOff x="3251348" y="1795096"/>
            <a:chExt cx="3827633" cy="3263516"/>
          </a:xfrm>
        </p:grpSpPr>
        <p:sp>
          <p:nvSpPr>
            <p:cNvPr id="460" name="Rectangle 459">
              <a:extLst>
                <a:ext uri="{FF2B5EF4-FFF2-40B4-BE49-F238E27FC236}">
                  <a16:creationId xmlns:a16="http://schemas.microsoft.com/office/drawing/2014/main" id="{A7380754-B79B-BDFC-9BF2-A0110A69048A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61" name="Group 460">
              <a:extLst>
                <a:ext uri="{FF2B5EF4-FFF2-40B4-BE49-F238E27FC236}">
                  <a16:creationId xmlns:a16="http://schemas.microsoft.com/office/drawing/2014/main" id="{104CDA4A-EA09-2103-2510-B3F429464A0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41926E2C-5048-EE71-7934-7390A5C610C2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94019D89-6D11-5057-0E47-D5542984BD61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465" name="Rectangle: Rounded Corners 464">
                <a:extLst>
                  <a:ext uri="{FF2B5EF4-FFF2-40B4-BE49-F238E27FC236}">
                    <a16:creationId xmlns:a16="http://schemas.microsoft.com/office/drawing/2014/main" id="{FC505EFD-5455-C35A-ACBF-087D01090781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6" name="Rectangle: Rounded Corners 465">
                <a:extLst>
                  <a:ext uri="{FF2B5EF4-FFF2-40B4-BE49-F238E27FC236}">
                    <a16:creationId xmlns:a16="http://schemas.microsoft.com/office/drawing/2014/main" id="{7FED5482-1431-45B9-3C73-EBB9FB82AF53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7" name="Rectangle: Rounded Corners 466">
                <a:extLst>
                  <a:ext uri="{FF2B5EF4-FFF2-40B4-BE49-F238E27FC236}">
                    <a16:creationId xmlns:a16="http://schemas.microsoft.com/office/drawing/2014/main" id="{E25DCE7A-D3A1-E2E0-BF9E-FDAC10D1605F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8" name="Rectangle: Rounded Corners 467">
                <a:extLst>
                  <a:ext uri="{FF2B5EF4-FFF2-40B4-BE49-F238E27FC236}">
                    <a16:creationId xmlns:a16="http://schemas.microsoft.com/office/drawing/2014/main" id="{E9ACB373-9179-7AFD-AB20-70CE1FEEFE65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9" name="Rectangle: Rounded Corners 468">
                <a:extLst>
                  <a:ext uri="{FF2B5EF4-FFF2-40B4-BE49-F238E27FC236}">
                    <a16:creationId xmlns:a16="http://schemas.microsoft.com/office/drawing/2014/main" id="{A8EDE112-2B9C-F2D9-B09B-DE21A16AA9AE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0" name="Rectangle: Rounded Corners 469">
                <a:extLst>
                  <a:ext uri="{FF2B5EF4-FFF2-40B4-BE49-F238E27FC236}">
                    <a16:creationId xmlns:a16="http://schemas.microsoft.com/office/drawing/2014/main" id="{B55E5A4E-96F5-C981-D199-6805464911DC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1" name="Rectangle: Rounded Corners 470">
                <a:extLst>
                  <a:ext uri="{FF2B5EF4-FFF2-40B4-BE49-F238E27FC236}">
                    <a16:creationId xmlns:a16="http://schemas.microsoft.com/office/drawing/2014/main" id="{F2ECAAE1-AE1F-34D0-A0A4-646D76FA3C18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2" name="Rectangle: Rounded Corners 471">
                <a:extLst>
                  <a:ext uri="{FF2B5EF4-FFF2-40B4-BE49-F238E27FC236}">
                    <a16:creationId xmlns:a16="http://schemas.microsoft.com/office/drawing/2014/main" id="{F97CA888-DA3D-6C18-E269-48968AA4B2A5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473" name="Group 472">
                <a:extLst>
                  <a:ext uri="{FF2B5EF4-FFF2-40B4-BE49-F238E27FC236}">
                    <a16:creationId xmlns:a16="http://schemas.microsoft.com/office/drawing/2014/main" id="{CCEF09AE-D195-74C8-9648-76EC81A00797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479" name="Rectangle: Rounded Corners 478">
                  <a:extLst>
                    <a:ext uri="{FF2B5EF4-FFF2-40B4-BE49-F238E27FC236}">
                      <a16:creationId xmlns:a16="http://schemas.microsoft.com/office/drawing/2014/main" id="{8D9DC434-EB39-DE22-5068-B37115BAA2F4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80" name="Rectangle: Rounded Corners 479">
                  <a:extLst>
                    <a:ext uri="{FF2B5EF4-FFF2-40B4-BE49-F238E27FC236}">
                      <a16:creationId xmlns:a16="http://schemas.microsoft.com/office/drawing/2014/main" id="{EE15EDE6-7028-9678-212D-9B3DE82A0EED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81" name="Rectangle: Rounded Corners 480">
                  <a:extLst>
                    <a:ext uri="{FF2B5EF4-FFF2-40B4-BE49-F238E27FC236}">
                      <a16:creationId xmlns:a16="http://schemas.microsoft.com/office/drawing/2014/main" id="{67D53A55-84A9-A487-3DC2-19915C929742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82" name="Rectangle: Rounded Corners 481">
                  <a:extLst>
                    <a:ext uri="{FF2B5EF4-FFF2-40B4-BE49-F238E27FC236}">
                      <a16:creationId xmlns:a16="http://schemas.microsoft.com/office/drawing/2014/main" id="{C137BCAE-4E89-6DFE-BF7E-0236F2E96AB1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74" name="Group 473">
                <a:extLst>
                  <a:ext uri="{FF2B5EF4-FFF2-40B4-BE49-F238E27FC236}">
                    <a16:creationId xmlns:a16="http://schemas.microsoft.com/office/drawing/2014/main" id="{B23E5DF6-D79F-1A27-B2E0-4069234EAC63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475" name="Rectangle: Rounded Corners 474">
                  <a:extLst>
                    <a:ext uri="{FF2B5EF4-FFF2-40B4-BE49-F238E27FC236}">
                      <a16:creationId xmlns:a16="http://schemas.microsoft.com/office/drawing/2014/main" id="{37534165-36F0-3D19-26DE-33680AECD6FD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76" name="Rectangle: Rounded Corners 475">
                  <a:extLst>
                    <a:ext uri="{FF2B5EF4-FFF2-40B4-BE49-F238E27FC236}">
                      <a16:creationId xmlns:a16="http://schemas.microsoft.com/office/drawing/2014/main" id="{59484273-2B79-D2D1-0017-CC4F822C2508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77" name="Rectangle: Rounded Corners 476">
                  <a:extLst>
                    <a:ext uri="{FF2B5EF4-FFF2-40B4-BE49-F238E27FC236}">
                      <a16:creationId xmlns:a16="http://schemas.microsoft.com/office/drawing/2014/main" id="{BDF4DD6C-D121-E354-73AD-ACEF511E554A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78" name="Rectangle: Rounded Corners 477">
                  <a:extLst>
                    <a:ext uri="{FF2B5EF4-FFF2-40B4-BE49-F238E27FC236}">
                      <a16:creationId xmlns:a16="http://schemas.microsoft.com/office/drawing/2014/main" id="{2BAF399A-5E7C-9D59-39BE-FB047E93FB1F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483" name="Group 482">
            <a:extLst>
              <a:ext uri="{FF2B5EF4-FFF2-40B4-BE49-F238E27FC236}">
                <a16:creationId xmlns:a16="http://schemas.microsoft.com/office/drawing/2014/main" id="{0064DD14-DAA4-AB05-02B3-1725E143D182}"/>
              </a:ext>
            </a:extLst>
          </p:cNvPr>
          <p:cNvGrpSpPr>
            <a:grpSpLocks noChangeAspect="1"/>
          </p:cNvGrpSpPr>
          <p:nvPr/>
        </p:nvGrpSpPr>
        <p:grpSpPr>
          <a:xfrm>
            <a:off x="5016277" y="3470707"/>
            <a:ext cx="411851" cy="351150"/>
            <a:chOff x="3251348" y="1795096"/>
            <a:chExt cx="3827633" cy="3263516"/>
          </a:xfrm>
        </p:grpSpPr>
        <p:sp>
          <p:nvSpPr>
            <p:cNvPr id="484" name="Rectangle 483">
              <a:extLst>
                <a:ext uri="{FF2B5EF4-FFF2-40B4-BE49-F238E27FC236}">
                  <a16:creationId xmlns:a16="http://schemas.microsoft.com/office/drawing/2014/main" id="{318B34E7-558E-C679-993F-7A72A6F8B967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85" name="Group 484">
              <a:extLst>
                <a:ext uri="{FF2B5EF4-FFF2-40B4-BE49-F238E27FC236}">
                  <a16:creationId xmlns:a16="http://schemas.microsoft.com/office/drawing/2014/main" id="{D86784A2-244B-D729-CCDC-B8F1AEEC876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DF12CE92-D29A-19B8-001F-A2C62D8287BE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3319C57C-49C5-CACC-BF90-7A09D598DC89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488" name="Rectangle: Rounded Corners 487">
                <a:extLst>
                  <a:ext uri="{FF2B5EF4-FFF2-40B4-BE49-F238E27FC236}">
                    <a16:creationId xmlns:a16="http://schemas.microsoft.com/office/drawing/2014/main" id="{C239510C-ABC1-D559-3184-55C889C919CC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9" name="Rectangle: Rounded Corners 488">
                <a:extLst>
                  <a:ext uri="{FF2B5EF4-FFF2-40B4-BE49-F238E27FC236}">
                    <a16:creationId xmlns:a16="http://schemas.microsoft.com/office/drawing/2014/main" id="{FD021D48-7193-E6CC-7A9E-E8F825763F6B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0" name="Rectangle: Rounded Corners 489">
                <a:extLst>
                  <a:ext uri="{FF2B5EF4-FFF2-40B4-BE49-F238E27FC236}">
                    <a16:creationId xmlns:a16="http://schemas.microsoft.com/office/drawing/2014/main" id="{67FF9304-F629-135B-498B-5078BCEF49DB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1" name="Rectangle: Rounded Corners 490">
                <a:extLst>
                  <a:ext uri="{FF2B5EF4-FFF2-40B4-BE49-F238E27FC236}">
                    <a16:creationId xmlns:a16="http://schemas.microsoft.com/office/drawing/2014/main" id="{56137ED4-FE0A-13A1-17AF-92E84FD495A8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2" name="Rectangle: Rounded Corners 491">
                <a:extLst>
                  <a:ext uri="{FF2B5EF4-FFF2-40B4-BE49-F238E27FC236}">
                    <a16:creationId xmlns:a16="http://schemas.microsoft.com/office/drawing/2014/main" id="{8821A7F9-42E7-AC29-86D7-728CC6E1C9FA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3" name="Rectangle: Rounded Corners 492">
                <a:extLst>
                  <a:ext uri="{FF2B5EF4-FFF2-40B4-BE49-F238E27FC236}">
                    <a16:creationId xmlns:a16="http://schemas.microsoft.com/office/drawing/2014/main" id="{03B41659-A6EA-F670-321A-6D97037DEC21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4" name="Rectangle: Rounded Corners 493">
                <a:extLst>
                  <a:ext uri="{FF2B5EF4-FFF2-40B4-BE49-F238E27FC236}">
                    <a16:creationId xmlns:a16="http://schemas.microsoft.com/office/drawing/2014/main" id="{D0BD9D75-A00B-8F95-F8B9-6F3DBB6E64EF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5" name="Rectangle: Rounded Corners 494">
                <a:extLst>
                  <a:ext uri="{FF2B5EF4-FFF2-40B4-BE49-F238E27FC236}">
                    <a16:creationId xmlns:a16="http://schemas.microsoft.com/office/drawing/2014/main" id="{AE798757-9CF2-68BE-A285-DF8116F36CB7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496" name="Group 495">
                <a:extLst>
                  <a:ext uri="{FF2B5EF4-FFF2-40B4-BE49-F238E27FC236}">
                    <a16:creationId xmlns:a16="http://schemas.microsoft.com/office/drawing/2014/main" id="{37BAAD76-9BB0-56D2-9B91-90A1B025CAD5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502" name="Rectangle: Rounded Corners 501">
                  <a:extLst>
                    <a:ext uri="{FF2B5EF4-FFF2-40B4-BE49-F238E27FC236}">
                      <a16:creationId xmlns:a16="http://schemas.microsoft.com/office/drawing/2014/main" id="{E0A1AA42-FA56-DC1B-F072-B7353525A1F4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03" name="Rectangle: Rounded Corners 502">
                  <a:extLst>
                    <a:ext uri="{FF2B5EF4-FFF2-40B4-BE49-F238E27FC236}">
                      <a16:creationId xmlns:a16="http://schemas.microsoft.com/office/drawing/2014/main" id="{356B9358-210A-43C7-9497-9990FA8C8E5F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04" name="Rectangle: Rounded Corners 503">
                  <a:extLst>
                    <a:ext uri="{FF2B5EF4-FFF2-40B4-BE49-F238E27FC236}">
                      <a16:creationId xmlns:a16="http://schemas.microsoft.com/office/drawing/2014/main" id="{9E703AE3-F350-19E3-28D0-64504E3E4EF7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05" name="Rectangle: Rounded Corners 504">
                  <a:extLst>
                    <a:ext uri="{FF2B5EF4-FFF2-40B4-BE49-F238E27FC236}">
                      <a16:creationId xmlns:a16="http://schemas.microsoft.com/office/drawing/2014/main" id="{6F424686-0C3F-A52C-A97C-EBFE5807D4E4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97" name="Group 496">
                <a:extLst>
                  <a:ext uri="{FF2B5EF4-FFF2-40B4-BE49-F238E27FC236}">
                    <a16:creationId xmlns:a16="http://schemas.microsoft.com/office/drawing/2014/main" id="{EF72B16D-32C2-6F66-E4A9-0C6463DACD6D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498" name="Rectangle: Rounded Corners 497">
                  <a:extLst>
                    <a:ext uri="{FF2B5EF4-FFF2-40B4-BE49-F238E27FC236}">
                      <a16:creationId xmlns:a16="http://schemas.microsoft.com/office/drawing/2014/main" id="{65282B79-34BC-1A6A-31BF-C94C59E165FA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99" name="Rectangle: Rounded Corners 498">
                  <a:extLst>
                    <a:ext uri="{FF2B5EF4-FFF2-40B4-BE49-F238E27FC236}">
                      <a16:creationId xmlns:a16="http://schemas.microsoft.com/office/drawing/2014/main" id="{E93A5E49-BE11-FF9D-9AE0-9869F368CDB9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00" name="Rectangle: Rounded Corners 499">
                  <a:extLst>
                    <a:ext uri="{FF2B5EF4-FFF2-40B4-BE49-F238E27FC236}">
                      <a16:creationId xmlns:a16="http://schemas.microsoft.com/office/drawing/2014/main" id="{279580A6-7FDC-D053-3788-060F85EB9E99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01" name="Rectangle: Rounded Corners 500">
                  <a:extLst>
                    <a:ext uri="{FF2B5EF4-FFF2-40B4-BE49-F238E27FC236}">
                      <a16:creationId xmlns:a16="http://schemas.microsoft.com/office/drawing/2014/main" id="{028D9509-3442-2642-233F-11636BAFF0E3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506" name="Group 505">
            <a:extLst>
              <a:ext uri="{FF2B5EF4-FFF2-40B4-BE49-F238E27FC236}">
                <a16:creationId xmlns:a16="http://schemas.microsoft.com/office/drawing/2014/main" id="{ADBCFBCF-E53D-17E2-57C5-A01283C37F52}"/>
              </a:ext>
            </a:extLst>
          </p:cNvPr>
          <p:cNvGrpSpPr>
            <a:grpSpLocks noChangeAspect="1"/>
          </p:cNvGrpSpPr>
          <p:nvPr/>
        </p:nvGrpSpPr>
        <p:grpSpPr>
          <a:xfrm>
            <a:off x="5016277" y="2095536"/>
            <a:ext cx="411851" cy="351150"/>
            <a:chOff x="3251348" y="1795096"/>
            <a:chExt cx="3827633" cy="3263516"/>
          </a:xfrm>
        </p:grpSpPr>
        <p:sp>
          <p:nvSpPr>
            <p:cNvPr id="507" name="Rectangle 506">
              <a:extLst>
                <a:ext uri="{FF2B5EF4-FFF2-40B4-BE49-F238E27FC236}">
                  <a16:creationId xmlns:a16="http://schemas.microsoft.com/office/drawing/2014/main" id="{E944B623-C1C1-9303-BA65-8CAEAF9736AC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08" name="Group 507">
              <a:extLst>
                <a:ext uri="{FF2B5EF4-FFF2-40B4-BE49-F238E27FC236}">
                  <a16:creationId xmlns:a16="http://schemas.microsoft.com/office/drawing/2014/main" id="{0496DAAC-0D16-D544-30F5-A7D9DFAE023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DDC79A86-652D-1706-1C25-CF5FD55BAFD3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4AD7B404-0ED6-A865-130A-9E258E9CAE0D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511" name="Rectangle: Rounded Corners 510">
                <a:extLst>
                  <a:ext uri="{FF2B5EF4-FFF2-40B4-BE49-F238E27FC236}">
                    <a16:creationId xmlns:a16="http://schemas.microsoft.com/office/drawing/2014/main" id="{6A232363-29C7-F4A0-B615-1D260322D038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Rectangle: Rounded Corners 63">
                <a:extLst>
                  <a:ext uri="{FF2B5EF4-FFF2-40B4-BE49-F238E27FC236}">
                    <a16:creationId xmlns:a16="http://schemas.microsoft.com/office/drawing/2014/main" id="{FA17E0A9-3C75-4731-8D0F-804E791F5897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Rectangle: Rounded Corners 64">
                <a:extLst>
                  <a:ext uri="{FF2B5EF4-FFF2-40B4-BE49-F238E27FC236}">
                    <a16:creationId xmlns:a16="http://schemas.microsoft.com/office/drawing/2014/main" id="{5E7467C8-8D89-C490-8733-F91E8B657581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Rectangle: Rounded Corners 65">
                <a:extLst>
                  <a:ext uri="{FF2B5EF4-FFF2-40B4-BE49-F238E27FC236}">
                    <a16:creationId xmlns:a16="http://schemas.microsoft.com/office/drawing/2014/main" id="{3E36BB5C-AB3A-5524-F334-91189443DE77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Rectangle: Rounded Corners 66">
                <a:extLst>
                  <a:ext uri="{FF2B5EF4-FFF2-40B4-BE49-F238E27FC236}">
                    <a16:creationId xmlns:a16="http://schemas.microsoft.com/office/drawing/2014/main" id="{FB715071-DE74-1F14-92EF-FC9F97CD2A43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Rectangle: Rounded Corners 67">
                <a:extLst>
                  <a:ext uri="{FF2B5EF4-FFF2-40B4-BE49-F238E27FC236}">
                    <a16:creationId xmlns:a16="http://schemas.microsoft.com/office/drawing/2014/main" id="{0ECECB49-501E-627F-FF71-719CAD5EC153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Rectangle: Rounded Corners 68">
                <a:extLst>
                  <a:ext uri="{FF2B5EF4-FFF2-40B4-BE49-F238E27FC236}">
                    <a16:creationId xmlns:a16="http://schemas.microsoft.com/office/drawing/2014/main" id="{212ACC3E-98E4-BC60-A5F6-9B16A91CF7CC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Rectangle: Rounded Corners 69">
                <a:extLst>
                  <a:ext uri="{FF2B5EF4-FFF2-40B4-BE49-F238E27FC236}">
                    <a16:creationId xmlns:a16="http://schemas.microsoft.com/office/drawing/2014/main" id="{3BF3FE12-DE2A-DDA2-EAEF-B134A3B07EFF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19D91930-243E-EB71-BEE8-41BC116D7769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78" name="Rectangle: Rounded Corners 77">
                  <a:extLst>
                    <a:ext uri="{FF2B5EF4-FFF2-40B4-BE49-F238E27FC236}">
                      <a16:creationId xmlns:a16="http://schemas.microsoft.com/office/drawing/2014/main" id="{A278EE61-399F-3D97-5B3E-C2F7BF4F8F0A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: Rounded Corners 78">
                  <a:extLst>
                    <a:ext uri="{FF2B5EF4-FFF2-40B4-BE49-F238E27FC236}">
                      <a16:creationId xmlns:a16="http://schemas.microsoft.com/office/drawing/2014/main" id="{FA6AF06C-949D-88F5-79CB-D06C45C27873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: Rounded Corners 79">
                  <a:extLst>
                    <a:ext uri="{FF2B5EF4-FFF2-40B4-BE49-F238E27FC236}">
                      <a16:creationId xmlns:a16="http://schemas.microsoft.com/office/drawing/2014/main" id="{EA1B59D0-6FFD-D398-EF0D-76D739857B7D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: Rounded Corners 80">
                  <a:extLst>
                    <a:ext uri="{FF2B5EF4-FFF2-40B4-BE49-F238E27FC236}">
                      <a16:creationId xmlns:a16="http://schemas.microsoft.com/office/drawing/2014/main" id="{4F79CE26-3173-198B-4F13-596D4B2F16DA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29C8627C-795E-035A-2295-F2A1EEC5C31B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74" name="Rectangle: Rounded Corners 73">
                  <a:extLst>
                    <a:ext uri="{FF2B5EF4-FFF2-40B4-BE49-F238E27FC236}">
                      <a16:creationId xmlns:a16="http://schemas.microsoft.com/office/drawing/2014/main" id="{CB60699C-6DAF-EA23-159C-3895CAF06169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5" name="Rectangle: Rounded Corners 74">
                  <a:extLst>
                    <a:ext uri="{FF2B5EF4-FFF2-40B4-BE49-F238E27FC236}">
                      <a16:creationId xmlns:a16="http://schemas.microsoft.com/office/drawing/2014/main" id="{EADBA7C1-4329-858B-157D-1E47F2AE68D6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6" name="Rectangle: Rounded Corners 75">
                  <a:extLst>
                    <a:ext uri="{FF2B5EF4-FFF2-40B4-BE49-F238E27FC236}">
                      <a16:creationId xmlns:a16="http://schemas.microsoft.com/office/drawing/2014/main" id="{C6568362-CB1E-89A4-D9D3-FDE8F7177C97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7" name="Rectangle: Rounded Corners 76">
                  <a:extLst>
                    <a:ext uri="{FF2B5EF4-FFF2-40B4-BE49-F238E27FC236}">
                      <a16:creationId xmlns:a16="http://schemas.microsoft.com/office/drawing/2014/main" id="{CE6008F3-8D00-CEC5-53FE-9666EC41C4BE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023DBADA-2620-4F33-7B77-30663F0823C4}"/>
              </a:ext>
            </a:extLst>
          </p:cNvPr>
          <p:cNvGrpSpPr>
            <a:grpSpLocks noChangeAspect="1"/>
          </p:cNvGrpSpPr>
          <p:nvPr/>
        </p:nvGrpSpPr>
        <p:grpSpPr>
          <a:xfrm>
            <a:off x="5016277" y="720365"/>
            <a:ext cx="411851" cy="351150"/>
            <a:chOff x="3251348" y="1795096"/>
            <a:chExt cx="3827633" cy="3263516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E89CD0AD-E934-6263-33E4-3DDD4677759D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D616345E-A972-74B7-C608-D2888E7155C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93643B9-F918-B32A-C4EE-44B6BA9FCA10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C805733-EE2C-22F9-CAE7-86268C0CC4FA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87" name="Rectangle: Rounded Corners 86">
                <a:extLst>
                  <a:ext uri="{FF2B5EF4-FFF2-40B4-BE49-F238E27FC236}">
                    <a16:creationId xmlns:a16="http://schemas.microsoft.com/office/drawing/2014/main" id="{A7D7855C-B23A-B43B-E4C3-CF9AA126B50D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Rectangle: Rounded Corners 87">
                <a:extLst>
                  <a:ext uri="{FF2B5EF4-FFF2-40B4-BE49-F238E27FC236}">
                    <a16:creationId xmlns:a16="http://schemas.microsoft.com/office/drawing/2014/main" id="{F24346C7-9213-30DA-1C7B-7F143FFE6E4C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Rectangle: Rounded Corners 88">
                <a:extLst>
                  <a:ext uri="{FF2B5EF4-FFF2-40B4-BE49-F238E27FC236}">
                    <a16:creationId xmlns:a16="http://schemas.microsoft.com/office/drawing/2014/main" id="{3AE2A5DD-D8D5-3C66-97DE-CADAAF71C40A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Rectangle: Rounded Corners 89">
                <a:extLst>
                  <a:ext uri="{FF2B5EF4-FFF2-40B4-BE49-F238E27FC236}">
                    <a16:creationId xmlns:a16="http://schemas.microsoft.com/office/drawing/2014/main" id="{EC8F1065-888D-93BC-BC0A-5EA7CECCA490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Rectangle: Rounded Corners 90">
                <a:extLst>
                  <a:ext uri="{FF2B5EF4-FFF2-40B4-BE49-F238E27FC236}">
                    <a16:creationId xmlns:a16="http://schemas.microsoft.com/office/drawing/2014/main" id="{C926759F-07CF-EDF6-9F93-3A50B17330AF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Rectangle: Rounded Corners 91">
                <a:extLst>
                  <a:ext uri="{FF2B5EF4-FFF2-40B4-BE49-F238E27FC236}">
                    <a16:creationId xmlns:a16="http://schemas.microsoft.com/office/drawing/2014/main" id="{8DDCE3B1-41A2-0233-8494-2ADEE6CB0157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Rectangle: Rounded Corners 92">
                <a:extLst>
                  <a:ext uri="{FF2B5EF4-FFF2-40B4-BE49-F238E27FC236}">
                    <a16:creationId xmlns:a16="http://schemas.microsoft.com/office/drawing/2014/main" id="{494C185F-993A-7D3A-FEAB-520E843E42CD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" name="Rectangle: Rounded Corners 93">
                <a:extLst>
                  <a:ext uri="{FF2B5EF4-FFF2-40B4-BE49-F238E27FC236}">
                    <a16:creationId xmlns:a16="http://schemas.microsoft.com/office/drawing/2014/main" id="{AF52A958-3155-BD9F-CF6A-3E9588DC1900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95" name="Group 94">
                <a:extLst>
                  <a:ext uri="{FF2B5EF4-FFF2-40B4-BE49-F238E27FC236}">
                    <a16:creationId xmlns:a16="http://schemas.microsoft.com/office/drawing/2014/main" id="{B5504728-D41E-F6C1-E71F-595903BE2F72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01" name="Rectangle: Rounded Corners 100">
                  <a:extLst>
                    <a:ext uri="{FF2B5EF4-FFF2-40B4-BE49-F238E27FC236}">
                      <a16:creationId xmlns:a16="http://schemas.microsoft.com/office/drawing/2014/main" id="{14DBD16A-C300-C740-F2F2-831315AF314B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2" name="Rectangle: Rounded Corners 101">
                  <a:extLst>
                    <a:ext uri="{FF2B5EF4-FFF2-40B4-BE49-F238E27FC236}">
                      <a16:creationId xmlns:a16="http://schemas.microsoft.com/office/drawing/2014/main" id="{7A1C64BF-539A-F0ED-0F5E-E94579D5E360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3" name="Rectangle: Rounded Corners 102">
                  <a:extLst>
                    <a:ext uri="{FF2B5EF4-FFF2-40B4-BE49-F238E27FC236}">
                      <a16:creationId xmlns:a16="http://schemas.microsoft.com/office/drawing/2014/main" id="{3EAD10A5-EBB6-47CD-62F7-510279DE28A2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4" name="Rectangle: Rounded Corners 103">
                  <a:extLst>
                    <a:ext uri="{FF2B5EF4-FFF2-40B4-BE49-F238E27FC236}">
                      <a16:creationId xmlns:a16="http://schemas.microsoft.com/office/drawing/2014/main" id="{19E5B364-1C86-612E-A719-B814DCF24EEF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96" name="Group 95">
                <a:extLst>
                  <a:ext uri="{FF2B5EF4-FFF2-40B4-BE49-F238E27FC236}">
                    <a16:creationId xmlns:a16="http://schemas.microsoft.com/office/drawing/2014/main" id="{96CEB43D-389E-32FE-E3F6-464C6C918AB1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97" name="Rectangle: Rounded Corners 96">
                  <a:extLst>
                    <a:ext uri="{FF2B5EF4-FFF2-40B4-BE49-F238E27FC236}">
                      <a16:creationId xmlns:a16="http://schemas.microsoft.com/office/drawing/2014/main" id="{CCA681CC-DC5A-4DFC-01D5-CE6EE40772C3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8" name="Rectangle: Rounded Corners 97">
                  <a:extLst>
                    <a:ext uri="{FF2B5EF4-FFF2-40B4-BE49-F238E27FC236}">
                      <a16:creationId xmlns:a16="http://schemas.microsoft.com/office/drawing/2014/main" id="{8CF6493A-8C68-335A-5806-8BAD92E2778B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9" name="Rectangle: Rounded Corners 98">
                  <a:extLst>
                    <a:ext uri="{FF2B5EF4-FFF2-40B4-BE49-F238E27FC236}">
                      <a16:creationId xmlns:a16="http://schemas.microsoft.com/office/drawing/2014/main" id="{15A35BDA-1D7D-2BB0-CBEE-119CB66E47AE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0" name="Rectangle: Rounded Corners 99">
                  <a:extLst>
                    <a:ext uri="{FF2B5EF4-FFF2-40B4-BE49-F238E27FC236}">
                      <a16:creationId xmlns:a16="http://schemas.microsoft.com/office/drawing/2014/main" id="{96020B58-7793-DF58-76E7-C77A4ABAB92A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B5AB3503-075C-3563-95C7-22BC572A8E34}"/>
              </a:ext>
            </a:extLst>
          </p:cNvPr>
          <p:cNvGrpSpPr>
            <a:grpSpLocks noChangeAspect="1"/>
          </p:cNvGrpSpPr>
          <p:nvPr/>
        </p:nvGrpSpPr>
        <p:grpSpPr>
          <a:xfrm>
            <a:off x="8241635" y="4845877"/>
            <a:ext cx="411851" cy="351150"/>
            <a:chOff x="3251348" y="1795096"/>
            <a:chExt cx="3827633" cy="3263516"/>
          </a:xfrm>
        </p:grpSpPr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46AB44A5-A8AB-0A4C-65B6-012152FE6DBB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D62EC5E2-09CD-1B0E-7F34-133D04B6429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63BD0EDC-D92B-452B-6E88-793667D05F64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B1CC3368-F5FD-3DC7-FCCC-5807A1124575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110" name="Rectangle: Rounded Corners 109">
                <a:extLst>
                  <a:ext uri="{FF2B5EF4-FFF2-40B4-BE49-F238E27FC236}">
                    <a16:creationId xmlns:a16="http://schemas.microsoft.com/office/drawing/2014/main" id="{1EBD2CA2-522F-F379-C424-AC77A67C6AA1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Rectangle: Rounded Corners 110">
                <a:extLst>
                  <a:ext uri="{FF2B5EF4-FFF2-40B4-BE49-F238E27FC236}">
                    <a16:creationId xmlns:a16="http://schemas.microsoft.com/office/drawing/2014/main" id="{E3300C12-E8F4-7605-BE64-805C11E7C322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Rectangle: Rounded Corners 111">
                <a:extLst>
                  <a:ext uri="{FF2B5EF4-FFF2-40B4-BE49-F238E27FC236}">
                    <a16:creationId xmlns:a16="http://schemas.microsoft.com/office/drawing/2014/main" id="{B19B20B5-AD6B-0547-B8E6-C5826F237CBE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Rectangle: Rounded Corners 112">
                <a:extLst>
                  <a:ext uri="{FF2B5EF4-FFF2-40B4-BE49-F238E27FC236}">
                    <a16:creationId xmlns:a16="http://schemas.microsoft.com/office/drawing/2014/main" id="{45B5A066-03C1-A88C-2E76-BCB7C8558CED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" name="Rectangle: Rounded Corners 113">
                <a:extLst>
                  <a:ext uri="{FF2B5EF4-FFF2-40B4-BE49-F238E27FC236}">
                    <a16:creationId xmlns:a16="http://schemas.microsoft.com/office/drawing/2014/main" id="{F367223A-0516-7B47-6B1A-07304291DD59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" name="Rectangle: Rounded Corners 114">
                <a:extLst>
                  <a:ext uri="{FF2B5EF4-FFF2-40B4-BE49-F238E27FC236}">
                    <a16:creationId xmlns:a16="http://schemas.microsoft.com/office/drawing/2014/main" id="{26889A39-697E-EE88-A4BE-71A5241010F1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" name="Rectangle: Rounded Corners 115">
                <a:extLst>
                  <a:ext uri="{FF2B5EF4-FFF2-40B4-BE49-F238E27FC236}">
                    <a16:creationId xmlns:a16="http://schemas.microsoft.com/office/drawing/2014/main" id="{2474C320-2430-DE8C-CBD8-46BB56DB5F34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7" name="Rectangle: Rounded Corners 116">
                <a:extLst>
                  <a:ext uri="{FF2B5EF4-FFF2-40B4-BE49-F238E27FC236}">
                    <a16:creationId xmlns:a16="http://schemas.microsoft.com/office/drawing/2014/main" id="{C6171445-4F41-F935-4897-BB5808685E08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8" name="Group 117">
                <a:extLst>
                  <a:ext uri="{FF2B5EF4-FFF2-40B4-BE49-F238E27FC236}">
                    <a16:creationId xmlns:a16="http://schemas.microsoft.com/office/drawing/2014/main" id="{DBF8744F-D14A-E3DB-2F07-E7664A4141A3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24" name="Rectangle: Rounded Corners 123">
                  <a:extLst>
                    <a:ext uri="{FF2B5EF4-FFF2-40B4-BE49-F238E27FC236}">
                      <a16:creationId xmlns:a16="http://schemas.microsoft.com/office/drawing/2014/main" id="{D350129F-647A-B1CB-45FB-0C519C601A8F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" name="Rectangle: Rounded Corners 124">
                  <a:extLst>
                    <a:ext uri="{FF2B5EF4-FFF2-40B4-BE49-F238E27FC236}">
                      <a16:creationId xmlns:a16="http://schemas.microsoft.com/office/drawing/2014/main" id="{F30DE7C7-96FE-5603-1381-81FC0AA3E614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6" name="Rectangle: Rounded Corners 125">
                  <a:extLst>
                    <a:ext uri="{FF2B5EF4-FFF2-40B4-BE49-F238E27FC236}">
                      <a16:creationId xmlns:a16="http://schemas.microsoft.com/office/drawing/2014/main" id="{501E4EF1-2C05-864D-E185-AC4A8E9FFE65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" name="Rectangle: Rounded Corners 126">
                  <a:extLst>
                    <a:ext uri="{FF2B5EF4-FFF2-40B4-BE49-F238E27FC236}">
                      <a16:creationId xmlns:a16="http://schemas.microsoft.com/office/drawing/2014/main" id="{59B6699D-D381-8348-56A9-09DF9C2EE92F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9" name="Group 118">
                <a:extLst>
                  <a:ext uri="{FF2B5EF4-FFF2-40B4-BE49-F238E27FC236}">
                    <a16:creationId xmlns:a16="http://schemas.microsoft.com/office/drawing/2014/main" id="{E66E854C-B6FF-A1D7-5847-7299C58B90C6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20" name="Rectangle: Rounded Corners 119">
                  <a:extLst>
                    <a:ext uri="{FF2B5EF4-FFF2-40B4-BE49-F238E27FC236}">
                      <a16:creationId xmlns:a16="http://schemas.microsoft.com/office/drawing/2014/main" id="{0D603D36-841F-2B7C-7E3F-2A8F00D34078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" name="Rectangle: Rounded Corners 120">
                  <a:extLst>
                    <a:ext uri="{FF2B5EF4-FFF2-40B4-BE49-F238E27FC236}">
                      <a16:creationId xmlns:a16="http://schemas.microsoft.com/office/drawing/2014/main" id="{47DA8529-F2BC-F197-2D86-0BC88E359EC0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" name="Rectangle: Rounded Corners 121">
                  <a:extLst>
                    <a:ext uri="{FF2B5EF4-FFF2-40B4-BE49-F238E27FC236}">
                      <a16:creationId xmlns:a16="http://schemas.microsoft.com/office/drawing/2014/main" id="{34C9EF5E-403D-BE21-8BE2-70B739F1D309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" name="Rectangle: Rounded Corners 122">
                  <a:extLst>
                    <a:ext uri="{FF2B5EF4-FFF2-40B4-BE49-F238E27FC236}">
                      <a16:creationId xmlns:a16="http://schemas.microsoft.com/office/drawing/2014/main" id="{C7708673-E548-5A44-1F5A-853FAC592B3E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512" name="Group 511">
            <a:extLst>
              <a:ext uri="{FF2B5EF4-FFF2-40B4-BE49-F238E27FC236}">
                <a16:creationId xmlns:a16="http://schemas.microsoft.com/office/drawing/2014/main" id="{586F503F-E9BA-AE48-BD80-C686C5A282A0}"/>
              </a:ext>
            </a:extLst>
          </p:cNvPr>
          <p:cNvGrpSpPr>
            <a:grpSpLocks noChangeAspect="1"/>
          </p:cNvGrpSpPr>
          <p:nvPr/>
        </p:nvGrpSpPr>
        <p:grpSpPr>
          <a:xfrm>
            <a:off x="8241635" y="3469712"/>
            <a:ext cx="411851" cy="351150"/>
            <a:chOff x="3251348" y="1795096"/>
            <a:chExt cx="3827633" cy="3263516"/>
          </a:xfrm>
        </p:grpSpPr>
        <p:sp>
          <p:nvSpPr>
            <p:cNvPr id="513" name="Rectangle 512">
              <a:extLst>
                <a:ext uri="{FF2B5EF4-FFF2-40B4-BE49-F238E27FC236}">
                  <a16:creationId xmlns:a16="http://schemas.microsoft.com/office/drawing/2014/main" id="{85BD5A27-64DB-1855-38D6-CF4B0192842D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14" name="Group 513">
              <a:extLst>
                <a:ext uri="{FF2B5EF4-FFF2-40B4-BE49-F238E27FC236}">
                  <a16:creationId xmlns:a16="http://schemas.microsoft.com/office/drawing/2014/main" id="{78A725F1-947F-2BD2-F930-FD273A70197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67ABDEF2-4FA0-1C0F-CBB0-B7F52EC97269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64AEC854-819F-F642-4D78-2F2FFDC5916C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517" name="Rectangle: Rounded Corners 516">
                <a:extLst>
                  <a:ext uri="{FF2B5EF4-FFF2-40B4-BE49-F238E27FC236}">
                    <a16:creationId xmlns:a16="http://schemas.microsoft.com/office/drawing/2014/main" id="{1C2C00DF-790B-07AD-01CB-74DAD30DC89A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8" name="Rectangle: Rounded Corners 517">
                <a:extLst>
                  <a:ext uri="{FF2B5EF4-FFF2-40B4-BE49-F238E27FC236}">
                    <a16:creationId xmlns:a16="http://schemas.microsoft.com/office/drawing/2014/main" id="{A0D1A5D1-0AD8-F220-286D-E10A820742D7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9" name="Rectangle: Rounded Corners 518">
                <a:extLst>
                  <a:ext uri="{FF2B5EF4-FFF2-40B4-BE49-F238E27FC236}">
                    <a16:creationId xmlns:a16="http://schemas.microsoft.com/office/drawing/2014/main" id="{FE8C8D2C-F2C1-58A6-E86B-D7619A5588A6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0" name="Rectangle: Rounded Corners 519">
                <a:extLst>
                  <a:ext uri="{FF2B5EF4-FFF2-40B4-BE49-F238E27FC236}">
                    <a16:creationId xmlns:a16="http://schemas.microsoft.com/office/drawing/2014/main" id="{D9BC2D65-875F-BE09-DAD5-98EA562E0A9A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1" name="Rectangle: Rounded Corners 520">
                <a:extLst>
                  <a:ext uri="{FF2B5EF4-FFF2-40B4-BE49-F238E27FC236}">
                    <a16:creationId xmlns:a16="http://schemas.microsoft.com/office/drawing/2014/main" id="{4BF18764-D448-5634-CF19-4D479ECCB785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2" name="Rectangle: Rounded Corners 521">
                <a:extLst>
                  <a:ext uri="{FF2B5EF4-FFF2-40B4-BE49-F238E27FC236}">
                    <a16:creationId xmlns:a16="http://schemas.microsoft.com/office/drawing/2014/main" id="{2C6537D2-51C9-C968-50FE-109CED643C88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3" name="Rectangle: Rounded Corners 522">
                <a:extLst>
                  <a:ext uri="{FF2B5EF4-FFF2-40B4-BE49-F238E27FC236}">
                    <a16:creationId xmlns:a16="http://schemas.microsoft.com/office/drawing/2014/main" id="{EB8F7964-EE0F-BFD5-FA5B-446C19E94574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4" name="Rectangle: Rounded Corners 523">
                <a:extLst>
                  <a:ext uri="{FF2B5EF4-FFF2-40B4-BE49-F238E27FC236}">
                    <a16:creationId xmlns:a16="http://schemas.microsoft.com/office/drawing/2014/main" id="{0A46D1E0-170B-5E8E-CFD9-7D6B951EA29D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25" name="Group 524">
                <a:extLst>
                  <a:ext uri="{FF2B5EF4-FFF2-40B4-BE49-F238E27FC236}">
                    <a16:creationId xmlns:a16="http://schemas.microsoft.com/office/drawing/2014/main" id="{DC5911B4-46D4-3C3B-CCC8-893E2A90AE35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531" name="Rectangle: Rounded Corners 530">
                  <a:extLst>
                    <a:ext uri="{FF2B5EF4-FFF2-40B4-BE49-F238E27FC236}">
                      <a16:creationId xmlns:a16="http://schemas.microsoft.com/office/drawing/2014/main" id="{A4AB06D1-9D6E-1CFF-8844-2499BF0232A2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32" name="Rectangle: Rounded Corners 531">
                  <a:extLst>
                    <a:ext uri="{FF2B5EF4-FFF2-40B4-BE49-F238E27FC236}">
                      <a16:creationId xmlns:a16="http://schemas.microsoft.com/office/drawing/2014/main" id="{393DABAB-9E40-ED7A-132D-E98EC4D2D54C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33" name="Rectangle: Rounded Corners 532">
                  <a:extLst>
                    <a:ext uri="{FF2B5EF4-FFF2-40B4-BE49-F238E27FC236}">
                      <a16:creationId xmlns:a16="http://schemas.microsoft.com/office/drawing/2014/main" id="{22195F1E-D1B1-21F2-6708-351341586E0C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34" name="Rectangle: Rounded Corners 533">
                  <a:extLst>
                    <a:ext uri="{FF2B5EF4-FFF2-40B4-BE49-F238E27FC236}">
                      <a16:creationId xmlns:a16="http://schemas.microsoft.com/office/drawing/2014/main" id="{8B8F5E7A-5A22-EF7E-10B9-731AC0DC3D0E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26" name="Group 525">
                <a:extLst>
                  <a:ext uri="{FF2B5EF4-FFF2-40B4-BE49-F238E27FC236}">
                    <a16:creationId xmlns:a16="http://schemas.microsoft.com/office/drawing/2014/main" id="{7901C9AF-71FE-6849-9203-BF2393091ADC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527" name="Rectangle: Rounded Corners 526">
                  <a:extLst>
                    <a:ext uri="{FF2B5EF4-FFF2-40B4-BE49-F238E27FC236}">
                      <a16:creationId xmlns:a16="http://schemas.microsoft.com/office/drawing/2014/main" id="{ED8A99D6-7CAE-B8E1-B470-4BCE4FB07111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28" name="Rectangle: Rounded Corners 527">
                  <a:extLst>
                    <a:ext uri="{FF2B5EF4-FFF2-40B4-BE49-F238E27FC236}">
                      <a16:creationId xmlns:a16="http://schemas.microsoft.com/office/drawing/2014/main" id="{6D801D93-0CBA-0F26-0E65-3777D8C5D8D2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29" name="Rectangle: Rounded Corners 528">
                  <a:extLst>
                    <a:ext uri="{FF2B5EF4-FFF2-40B4-BE49-F238E27FC236}">
                      <a16:creationId xmlns:a16="http://schemas.microsoft.com/office/drawing/2014/main" id="{C7489910-1505-C4B6-B3B0-CC887DA3663D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30" name="Rectangle: Rounded Corners 529">
                  <a:extLst>
                    <a:ext uri="{FF2B5EF4-FFF2-40B4-BE49-F238E27FC236}">
                      <a16:creationId xmlns:a16="http://schemas.microsoft.com/office/drawing/2014/main" id="{37913DF0-989E-0081-A822-EE6DDBFA313A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535" name="Group 534">
            <a:extLst>
              <a:ext uri="{FF2B5EF4-FFF2-40B4-BE49-F238E27FC236}">
                <a16:creationId xmlns:a16="http://schemas.microsoft.com/office/drawing/2014/main" id="{B10C9943-EABD-69EB-B464-F75E31CA62DE}"/>
              </a:ext>
            </a:extLst>
          </p:cNvPr>
          <p:cNvGrpSpPr>
            <a:grpSpLocks noChangeAspect="1"/>
          </p:cNvGrpSpPr>
          <p:nvPr/>
        </p:nvGrpSpPr>
        <p:grpSpPr>
          <a:xfrm>
            <a:off x="8241635" y="2093546"/>
            <a:ext cx="411851" cy="351150"/>
            <a:chOff x="3251348" y="1795096"/>
            <a:chExt cx="3827633" cy="3263516"/>
          </a:xfrm>
        </p:grpSpPr>
        <p:sp>
          <p:nvSpPr>
            <p:cNvPr id="536" name="Rectangle 535">
              <a:extLst>
                <a:ext uri="{FF2B5EF4-FFF2-40B4-BE49-F238E27FC236}">
                  <a16:creationId xmlns:a16="http://schemas.microsoft.com/office/drawing/2014/main" id="{2B4CD5F9-28D7-2313-2319-D79DE0FEF226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37" name="Group 536">
              <a:extLst>
                <a:ext uri="{FF2B5EF4-FFF2-40B4-BE49-F238E27FC236}">
                  <a16:creationId xmlns:a16="http://schemas.microsoft.com/office/drawing/2014/main" id="{CA2DE20A-014D-C75E-CA3C-DF39031CDA9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FB2FB9BD-C0DA-163D-5FA8-0782F874C1B4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2D35631B-AF24-EC13-BDAE-B902F0629C63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540" name="Rectangle: Rounded Corners 539">
                <a:extLst>
                  <a:ext uri="{FF2B5EF4-FFF2-40B4-BE49-F238E27FC236}">
                    <a16:creationId xmlns:a16="http://schemas.microsoft.com/office/drawing/2014/main" id="{B54E30DA-7603-0273-870E-F15FCA0B28F5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1" name="Rectangle: Rounded Corners 540">
                <a:extLst>
                  <a:ext uri="{FF2B5EF4-FFF2-40B4-BE49-F238E27FC236}">
                    <a16:creationId xmlns:a16="http://schemas.microsoft.com/office/drawing/2014/main" id="{D5DA4BB6-2920-46FA-AAD2-42B3C5FE1B5E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2" name="Rectangle: Rounded Corners 541">
                <a:extLst>
                  <a:ext uri="{FF2B5EF4-FFF2-40B4-BE49-F238E27FC236}">
                    <a16:creationId xmlns:a16="http://schemas.microsoft.com/office/drawing/2014/main" id="{7236A99C-01CD-0215-F9DA-4E040119ED89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3" name="Rectangle: Rounded Corners 542">
                <a:extLst>
                  <a:ext uri="{FF2B5EF4-FFF2-40B4-BE49-F238E27FC236}">
                    <a16:creationId xmlns:a16="http://schemas.microsoft.com/office/drawing/2014/main" id="{F94A4860-4993-F1BB-CCF4-65E2182A08C1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4" name="Rectangle: Rounded Corners 543">
                <a:extLst>
                  <a:ext uri="{FF2B5EF4-FFF2-40B4-BE49-F238E27FC236}">
                    <a16:creationId xmlns:a16="http://schemas.microsoft.com/office/drawing/2014/main" id="{3BCFEF18-D8B0-0896-3E25-DB159B89445A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5" name="Rectangle: Rounded Corners 544">
                <a:extLst>
                  <a:ext uri="{FF2B5EF4-FFF2-40B4-BE49-F238E27FC236}">
                    <a16:creationId xmlns:a16="http://schemas.microsoft.com/office/drawing/2014/main" id="{01F62AB8-56CB-B61A-5119-A07FCE88FD84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6" name="Rectangle: Rounded Corners 545">
                <a:extLst>
                  <a:ext uri="{FF2B5EF4-FFF2-40B4-BE49-F238E27FC236}">
                    <a16:creationId xmlns:a16="http://schemas.microsoft.com/office/drawing/2014/main" id="{8BE805B9-84ED-72B1-D1AA-DFE4DDD857CA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7" name="Rectangle: Rounded Corners 546">
                <a:extLst>
                  <a:ext uri="{FF2B5EF4-FFF2-40B4-BE49-F238E27FC236}">
                    <a16:creationId xmlns:a16="http://schemas.microsoft.com/office/drawing/2014/main" id="{7EF35493-52AE-5E6F-7A4A-A361D18B9A70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48" name="Group 547">
                <a:extLst>
                  <a:ext uri="{FF2B5EF4-FFF2-40B4-BE49-F238E27FC236}">
                    <a16:creationId xmlns:a16="http://schemas.microsoft.com/office/drawing/2014/main" id="{38288A64-1363-63DD-6C73-A4454BFA8331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554" name="Rectangle: Rounded Corners 553">
                  <a:extLst>
                    <a:ext uri="{FF2B5EF4-FFF2-40B4-BE49-F238E27FC236}">
                      <a16:creationId xmlns:a16="http://schemas.microsoft.com/office/drawing/2014/main" id="{AE89FDA1-FA81-0694-0D6A-FD61172C7A5A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5" name="Rectangle: Rounded Corners 554">
                  <a:extLst>
                    <a:ext uri="{FF2B5EF4-FFF2-40B4-BE49-F238E27FC236}">
                      <a16:creationId xmlns:a16="http://schemas.microsoft.com/office/drawing/2014/main" id="{27747451-569C-E6D4-20CB-EA4A20684311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6" name="Rectangle: Rounded Corners 555">
                  <a:extLst>
                    <a:ext uri="{FF2B5EF4-FFF2-40B4-BE49-F238E27FC236}">
                      <a16:creationId xmlns:a16="http://schemas.microsoft.com/office/drawing/2014/main" id="{B1391C92-5E29-AF18-78C1-513CD7CC9B68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7" name="Rectangle: Rounded Corners 556">
                  <a:extLst>
                    <a:ext uri="{FF2B5EF4-FFF2-40B4-BE49-F238E27FC236}">
                      <a16:creationId xmlns:a16="http://schemas.microsoft.com/office/drawing/2014/main" id="{7F0FB553-D7F7-CEE9-819F-A26DF42643F6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49" name="Group 548">
                <a:extLst>
                  <a:ext uri="{FF2B5EF4-FFF2-40B4-BE49-F238E27FC236}">
                    <a16:creationId xmlns:a16="http://schemas.microsoft.com/office/drawing/2014/main" id="{D399B6B2-67B9-0FAE-861B-F8ED72C9145E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550" name="Rectangle: Rounded Corners 549">
                  <a:extLst>
                    <a:ext uri="{FF2B5EF4-FFF2-40B4-BE49-F238E27FC236}">
                      <a16:creationId xmlns:a16="http://schemas.microsoft.com/office/drawing/2014/main" id="{50CD5E97-056C-F17C-455F-994B505F85D7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1" name="Rectangle: Rounded Corners 550">
                  <a:extLst>
                    <a:ext uri="{FF2B5EF4-FFF2-40B4-BE49-F238E27FC236}">
                      <a16:creationId xmlns:a16="http://schemas.microsoft.com/office/drawing/2014/main" id="{114358BA-9CC8-CB55-3331-3305254BB0F5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2" name="Rectangle: Rounded Corners 551">
                  <a:extLst>
                    <a:ext uri="{FF2B5EF4-FFF2-40B4-BE49-F238E27FC236}">
                      <a16:creationId xmlns:a16="http://schemas.microsoft.com/office/drawing/2014/main" id="{0039A13A-90D0-A35E-1CCC-D21B2649C100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3" name="Rectangle: Rounded Corners 552">
                  <a:extLst>
                    <a:ext uri="{FF2B5EF4-FFF2-40B4-BE49-F238E27FC236}">
                      <a16:creationId xmlns:a16="http://schemas.microsoft.com/office/drawing/2014/main" id="{97036AEB-7759-E09A-B8D5-55C5B378721D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558" name="Group 557">
            <a:extLst>
              <a:ext uri="{FF2B5EF4-FFF2-40B4-BE49-F238E27FC236}">
                <a16:creationId xmlns:a16="http://schemas.microsoft.com/office/drawing/2014/main" id="{E0A3591C-E966-404B-F6B6-088C3F066D62}"/>
              </a:ext>
            </a:extLst>
          </p:cNvPr>
          <p:cNvGrpSpPr>
            <a:grpSpLocks noChangeAspect="1"/>
          </p:cNvGrpSpPr>
          <p:nvPr/>
        </p:nvGrpSpPr>
        <p:grpSpPr>
          <a:xfrm>
            <a:off x="8241635" y="717380"/>
            <a:ext cx="411851" cy="351150"/>
            <a:chOff x="3251348" y="1795096"/>
            <a:chExt cx="3827633" cy="3263516"/>
          </a:xfrm>
        </p:grpSpPr>
        <p:sp>
          <p:nvSpPr>
            <p:cNvPr id="559" name="Rectangle 558">
              <a:extLst>
                <a:ext uri="{FF2B5EF4-FFF2-40B4-BE49-F238E27FC236}">
                  <a16:creationId xmlns:a16="http://schemas.microsoft.com/office/drawing/2014/main" id="{9B02C57B-1AE1-1967-3CDD-68378B8E13B0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60" name="Group 559">
              <a:extLst>
                <a:ext uri="{FF2B5EF4-FFF2-40B4-BE49-F238E27FC236}">
                  <a16:creationId xmlns:a16="http://schemas.microsoft.com/office/drawing/2014/main" id="{0F1985FC-C9DC-CAC0-8730-337D58568B6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C6C1C87D-9F2A-6546-8336-446E26C3381E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FC8B977F-BF3F-4E42-9FDC-C7D725717859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563" name="Rectangle: Rounded Corners 562">
                <a:extLst>
                  <a:ext uri="{FF2B5EF4-FFF2-40B4-BE49-F238E27FC236}">
                    <a16:creationId xmlns:a16="http://schemas.microsoft.com/office/drawing/2014/main" id="{4C7EA0FF-F5FE-5028-7A3C-961D3BA2090D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4" name="Rectangle: Rounded Corners 563">
                <a:extLst>
                  <a:ext uri="{FF2B5EF4-FFF2-40B4-BE49-F238E27FC236}">
                    <a16:creationId xmlns:a16="http://schemas.microsoft.com/office/drawing/2014/main" id="{7C0BA8F1-B321-F7DF-A7C3-9A8F57B801C5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5" name="Rectangle: Rounded Corners 564">
                <a:extLst>
                  <a:ext uri="{FF2B5EF4-FFF2-40B4-BE49-F238E27FC236}">
                    <a16:creationId xmlns:a16="http://schemas.microsoft.com/office/drawing/2014/main" id="{97C034C2-1149-06CE-6BA9-836C02EC8CCB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6" name="Rectangle: Rounded Corners 565">
                <a:extLst>
                  <a:ext uri="{FF2B5EF4-FFF2-40B4-BE49-F238E27FC236}">
                    <a16:creationId xmlns:a16="http://schemas.microsoft.com/office/drawing/2014/main" id="{BBCBEB8A-5296-DEDA-13DE-D5260DDBA88A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7" name="Rectangle: Rounded Corners 566">
                <a:extLst>
                  <a:ext uri="{FF2B5EF4-FFF2-40B4-BE49-F238E27FC236}">
                    <a16:creationId xmlns:a16="http://schemas.microsoft.com/office/drawing/2014/main" id="{97A3B636-CB49-1FAC-F86F-67201FC90242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8" name="Rectangle: Rounded Corners 567">
                <a:extLst>
                  <a:ext uri="{FF2B5EF4-FFF2-40B4-BE49-F238E27FC236}">
                    <a16:creationId xmlns:a16="http://schemas.microsoft.com/office/drawing/2014/main" id="{DF9B072A-99C2-F92E-7436-DBC05396A197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9" name="Rectangle: Rounded Corners 568">
                <a:extLst>
                  <a:ext uri="{FF2B5EF4-FFF2-40B4-BE49-F238E27FC236}">
                    <a16:creationId xmlns:a16="http://schemas.microsoft.com/office/drawing/2014/main" id="{1A5D0F76-2EAC-F8B0-A115-34A74D7098F0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0" name="Rectangle: Rounded Corners 569">
                <a:extLst>
                  <a:ext uri="{FF2B5EF4-FFF2-40B4-BE49-F238E27FC236}">
                    <a16:creationId xmlns:a16="http://schemas.microsoft.com/office/drawing/2014/main" id="{A322F70D-C682-EDA0-EA50-B1D9D5483CE5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71" name="Group 570">
                <a:extLst>
                  <a:ext uri="{FF2B5EF4-FFF2-40B4-BE49-F238E27FC236}">
                    <a16:creationId xmlns:a16="http://schemas.microsoft.com/office/drawing/2014/main" id="{A9F1FD39-26AC-620F-2DF6-EA2C5DA26512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577" name="Rectangle: Rounded Corners 576">
                  <a:extLst>
                    <a:ext uri="{FF2B5EF4-FFF2-40B4-BE49-F238E27FC236}">
                      <a16:creationId xmlns:a16="http://schemas.microsoft.com/office/drawing/2014/main" id="{D00A5DC2-F935-31A2-1927-FE7E12196CF6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78" name="Rectangle: Rounded Corners 577">
                  <a:extLst>
                    <a:ext uri="{FF2B5EF4-FFF2-40B4-BE49-F238E27FC236}">
                      <a16:creationId xmlns:a16="http://schemas.microsoft.com/office/drawing/2014/main" id="{7541B9C6-7D0B-12EC-FF62-E1560D157661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79" name="Rectangle: Rounded Corners 578">
                  <a:extLst>
                    <a:ext uri="{FF2B5EF4-FFF2-40B4-BE49-F238E27FC236}">
                      <a16:creationId xmlns:a16="http://schemas.microsoft.com/office/drawing/2014/main" id="{C86E8044-7D8C-F845-2565-BAC75745AD95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80" name="Rectangle: Rounded Corners 579">
                  <a:extLst>
                    <a:ext uri="{FF2B5EF4-FFF2-40B4-BE49-F238E27FC236}">
                      <a16:creationId xmlns:a16="http://schemas.microsoft.com/office/drawing/2014/main" id="{1913BA56-9CD3-4FA1-C98D-06052327CE66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72" name="Group 571">
                <a:extLst>
                  <a:ext uri="{FF2B5EF4-FFF2-40B4-BE49-F238E27FC236}">
                    <a16:creationId xmlns:a16="http://schemas.microsoft.com/office/drawing/2014/main" id="{E940B5DA-645C-B6C8-B9B3-96B17A1FF54A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573" name="Rectangle: Rounded Corners 572">
                  <a:extLst>
                    <a:ext uri="{FF2B5EF4-FFF2-40B4-BE49-F238E27FC236}">
                      <a16:creationId xmlns:a16="http://schemas.microsoft.com/office/drawing/2014/main" id="{E4F520BA-FF9D-9342-CF6E-9236B5DCA6F0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74" name="Rectangle: Rounded Corners 573">
                  <a:extLst>
                    <a:ext uri="{FF2B5EF4-FFF2-40B4-BE49-F238E27FC236}">
                      <a16:creationId xmlns:a16="http://schemas.microsoft.com/office/drawing/2014/main" id="{66B55099-3418-7247-A0BF-CD851EADE608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75" name="Rectangle: Rounded Corners 574">
                  <a:extLst>
                    <a:ext uri="{FF2B5EF4-FFF2-40B4-BE49-F238E27FC236}">
                      <a16:creationId xmlns:a16="http://schemas.microsoft.com/office/drawing/2014/main" id="{93D8BFDA-D160-4A07-BBDB-FDB62E2226D0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76" name="Rectangle: Rounded Corners 575">
                  <a:extLst>
                    <a:ext uri="{FF2B5EF4-FFF2-40B4-BE49-F238E27FC236}">
                      <a16:creationId xmlns:a16="http://schemas.microsoft.com/office/drawing/2014/main" id="{31327AAC-CA2F-7BB3-9B97-D9BC7FAD5151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581" name="Arrow: Right 580">
            <a:extLst>
              <a:ext uri="{FF2B5EF4-FFF2-40B4-BE49-F238E27FC236}">
                <a16:creationId xmlns:a16="http://schemas.microsoft.com/office/drawing/2014/main" id="{A57068D3-8B3C-6568-7AF6-78691AAFDDDB}"/>
              </a:ext>
            </a:extLst>
          </p:cNvPr>
          <p:cNvSpPr/>
          <p:nvPr/>
        </p:nvSpPr>
        <p:spPr>
          <a:xfrm rot="16200000">
            <a:off x="5094032" y="5415844"/>
            <a:ext cx="256344" cy="231923"/>
          </a:xfrm>
          <a:prstGeom prst="rightArrow">
            <a:avLst/>
          </a:prstGeom>
          <a:solidFill>
            <a:srgbClr val="FF0000">
              <a:alpha val="36000"/>
            </a:srgbClr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4" name="TextBox 583">
                <a:extLst>
                  <a:ext uri="{FF2B5EF4-FFF2-40B4-BE49-F238E27FC236}">
                    <a16:creationId xmlns:a16="http://schemas.microsoft.com/office/drawing/2014/main" id="{18D97BA1-4DF0-5F16-0DCC-0B8A0FECF665}"/>
                  </a:ext>
                </a:extLst>
              </p:cNvPr>
              <p:cNvSpPr txBox="1"/>
              <p:nvPr/>
            </p:nvSpPr>
            <p:spPr>
              <a:xfrm>
                <a:off x="5845422" y="5330355"/>
                <a:ext cx="888898" cy="231923"/>
              </a:xfrm>
              <a:prstGeom prst="rect">
                <a:avLst/>
              </a:prstGeom>
              <a:solidFill>
                <a:srgbClr val="00B050">
                  <a:alpha val="8000"/>
                </a:srgbClr>
              </a:solidFill>
              <a:ln>
                <a:solidFill>
                  <a:srgbClr val="00B05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𝐾𝑉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h𝑎𝑛𝑑𝑜𝑓𝑓</m:t>
                          </m:r>
                        </m:sub>
                      </m:sSub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𝐾𝑉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𝐺𝑄𝐴</m:t>
                              </m:r>
                            </m:sub>
                          </m:sSub>
                        </m:num>
                        <m:den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𝑃𝑃</m:t>
                          </m:r>
                        </m:den>
                      </m:f>
                    </m:oMath>
                  </m:oMathPara>
                </a14:m>
                <a:endParaRPr lang="en-US" sz="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84" name="TextBox 583">
                <a:extLst>
                  <a:ext uri="{FF2B5EF4-FFF2-40B4-BE49-F238E27FC236}">
                    <a16:creationId xmlns:a16="http://schemas.microsoft.com/office/drawing/2014/main" id="{18D97BA1-4DF0-5F16-0DCC-0B8A0FECF6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5422" y="5330355"/>
                <a:ext cx="888898" cy="231923"/>
              </a:xfrm>
              <a:prstGeom prst="rect">
                <a:avLst/>
              </a:prstGeom>
              <a:blipFill>
                <a:blip r:embed="rId3"/>
                <a:stretch>
                  <a:fillRect l="-2027" r="-1351" b="-12500"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5" name="Straight Connector 584">
            <a:extLst>
              <a:ext uri="{FF2B5EF4-FFF2-40B4-BE49-F238E27FC236}">
                <a16:creationId xmlns:a16="http://schemas.microsoft.com/office/drawing/2014/main" id="{3232962F-B39D-FDC6-BBC9-F4AFE420F333}"/>
              </a:ext>
            </a:extLst>
          </p:cNvPr>
          <p:cNvCxnSpPr>
            <a:cxnSpLocks/>
            <a:stCxn id="584" idx="0"/>
            <a:endCxn id="590" idx="2"/>
          </p:cNvCxnSpPr>
          <p:nvPr/>
        </p:nvCxnSpPr>
        <p:spPr>
          <a:xfrm flipV="1">
            <a:off x="6289871" y="5166823"/>
            <a:ext cx="828896" cy="1635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0" name="Rectangle 589">
            <a:extLst>
              <a:ext uri="{FF2B5EF4-FFF2-40B4-BE49-F238E27FC236}">
                <a16:creationId xmlns:a16="http://schemas.microsoft.com/office/drawing/2014/main" id="{8F0C41D7-F4BB-7EDF-E343-95345FF40B3A}"/>
              </a:ext>
            </a:extLst>
          </p:cNvPr>
          <p:cNvSpPr/>
          <p:nvPr/>
        </p:nvSpPr>
        <p:spPr>
          <a:xfrm>
            <a:off x="6975255" y="4879799"/>
            <a:ext cx="287024" cy="28702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KV</a:t>
            </a:r>
          </a:p>
        </p:txBody>
      </p:sp>
      <p:sp>
        <p:nvSpPr>
          <p:cNvPr id="599" name="Rectangle 598">
            <a:extLst>
              <a:ext uri="{FF2B5EF4-FFF2-40B4-BE49-F238E27FC236}">
                <a16:creationId xmlns:a16="http://schemas.microsoft.com/office/drawing/2014/main" id="{D7FCD4E2-4AAF-7E95-04F3-EAECE8EA1669}"/>
              </a:ext>
            </a:extLst>
          </p:cNvPr>
          <p:cNvSpPr/>
          <p:nvPr/>
        </p:nvSpPr>
        <p:spPr>
          <a:xfrm>
            <a:off x="5080071" y="4169318"/>
            <a:ext cx="287024" cy="2870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603" name="Straight Connector 602">
            <a:extLst>
              <a:ext uri="{FF2B5EF4-FFF2-40B4-BE49-F238E27FC236}">
                <a16:creationId xmlns:a16="http://schemas.microsoft.com/office/drawing/2014/main" id="{8FD62BFB-732C-1711-96F9-D84757970B82}"/>
              </a:ext>
            </a:extLst>
          </p:cNvPr>
          <p:cNvCxnSpPr>
            <a:cxnSpLocks/>
            <a:stCxn id="599" idx="1"/>
            <a:endCxn id="620" idx="3"/>
          </p:cNvCxnSpPr>
          <p:nvPr/>
        </p:nvCxnSpPr>
        <p:spPr>
          <a:xfrm flipH="1" flipV="1">
            <a:off x="4058565" y="3693946"/>
            <a:ext cx="1021506" cy="6188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Straight Connector 609">
            <a:extLst>
              <a:ext uri="{FF2B5EF4-FFF2-40B4-BE49-F238E27FC236}">
                <a16:creationId xmlns:a16="http://schemas.microsoft.com/office/drawing/2014/main" id="{2F0B0A3D-9229-6F86-A6F3-A47A0B72C15E}"/>
              </a:ext>
            </a:extLst>
          </p:cNvPr>
          <p:cNvCxnSpPr>
            <a:cxnSpLocks/>
            <a:stCxn id="674" idx="3"/>
            <a:endCxn id="618" idx="1"/>
          </p:cNvCxnSpPr>
          <p:nvPr/>
        </p:nvCxnSpPr>
        <p:spPr>
          <a:xfrm flipV="1">
            <a:off x="8594723" y="2316809"/>
            <a:ext cx="1162228" cy="199602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6" name="TextBox 615">
            <a:extLst>
              <a:ext uri="{FF2B5EF4-FFF2-40B4-BE49-F238E27FC236}">
                <a16:creationId xmlns:a16="http://schemas.microsoft.com/office/drawing/2014/main" id="{D3291A33-5CE6-5278-330C-98C52C10A0C2}"/>
              </a:ext>
            </a:extLst>
          </p:cNvPr>
          <p:cNvSpPr txBox="1"/>
          <p:nvPr/>
        </p:nvSpPr>
        <p:spPr>
          <a:xfrm>
            <a:off x="5769562" y="5171660"/>
            <a:ext cx="95648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KV-cache volume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8" name="TextBox 617">
                <a:extLst>
                  <a:ext uri="{FF2B5EF4-FFF2-40B4-BE49-F238E27FC236}">
                    <a16:creationId xmlns:a16="http://schemas.microsoft.com/office/drawing/2014/main" id="{F88239A1-C67D-16C0-49FF-1DF218932A0D}"/>
                  </a:ext>
                </a:extLst>
              </p:cNvPr>
              <p:cNvSpPr txBox="1"/>
              <p:nvPr/>
            </p:nvSpPr>
            <p:spPr>
              <a:xfrm>
                <a:off x="9756951" y="2255253"/>
                <a:ext cx="1180260" cy="123111"/>
              </a:xfrm>
              <a:prstGeom prst="rect">
                <a:avLst/>
              </a:prstGeom>
              <a:solidFill>
                <a:srgbClr val="0070C0">
                  <a:alpha val="8000"/>
                </a:srgbClr>
              </a:solidFill>
              <a:ln>
                <a:solidFill>
                  <a:srgbClr val="0070C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𝑑𝑒𝑐𝑜𝑑𝑒</m:t>
                          </m:r>
                        </m:sub>
                      </m:sSub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8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sz="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sz="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𝑚𝑜𝑑𝑒𝑙</m:t>
                          </m:r>
                        </m:sub>
                      </m:sSub>
                    </m:oMath>
                  </m:oMathPara>
                </a14:m>
                <a:endParaRPr lang="en-US" sz="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18" name="TextBox 617">
                <a:extLst>
                  <a:ext uri="{FF2B5EF4-FFF2-40B4-BE49-F238E27FC236}">
                    <a16:creationId xmlns:a16="http://schemas.microsoft.com/office/drawing/2014/main" id="{F88239A1-C67D-16C0-49FF-1DF218932A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6951" y="2255253"/>
                <a:ext cx="1180260" cy="123111"/>
              </a:xfrm>
              <a:prstGeom prst="rect">
                <a:avLst/>
              </a:prstGeom>
              <a:blipFill>
                <a:blip r:embed="rId4"/>
                <a:stretch>
                  <a:fillRect l="-1026" b="-13636"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9" name="TextBox 618">
            <a:extLst>
              <a:ext uri="{FF2B5EF4-FFF2-40B4-BE49-F238E27FC236}">
                <a16:creationId xmlns:a16="http://schemas.microsoft.com/office/drawing/2014/main" id="{FA5BBEE6-0839-2389-139B-ACCF6B5543E4}"/>
              </a:ext>
            </a:extLst>
          </p:cNvPr>
          <p:cNvSpPr txBox="1"/>
          <p:nvPr/>
        </p:nvSpPr>
        <p:spPr>
          <a:xfrm>
            <a:off x="9697727" y="2037425"/>
            <a:ext cx="12493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Activations volume (T=1)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0" name="TextBox 619">
                <a:extLst>
                  <a:ext uri="{FF2B5EF4-FFF2-40B4-BE49-F238E27FC236}">
                    <a16:creationId xmlns:a16="http://schemas.microsoft.com/office/drawing/2014/main" id="{E2D71DDC-76B7-C89D-A5A4-ED6D09CC1802}"/>
                  </a:ext>
                </a:extLst>
              </p:cNvPr>
              <p:cNvSpPr txBox="1"/>
              <p:nvPr/>
            </p:nvSpPr>
            <p:spPr>
              <a:xfrm>
                <a:off x="2680752" y="3627421"/>
                <a:ext cx="1377813" cy="133050"/>
              </a:xfrm>
              <a:prstGeom prst="rect">
                <a:avLst/>
              </a:prstGeom>
              <a:solidFill>
                <a:srgbClr val="FF0000">
                  <a:alpha val="8000"/>
                </a:srgbClr>
              </a:solidFill>
              <a:ln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𝑝𝑟𝑒𝑓𝑖𝑙𝑙</m:t>
                          </m:r>
                        </m:sub>
                      </m:sSub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8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sz="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sz="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</m:t>
                      </m:r>
                      <m:r>
                        <a:rPr lang="en-US" sz="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𝑚𝑜𝑑𝑒𝑙</m:t>
                          </m:r>
                        </m:sub>
                      </m:sSub>
                    </m:oMath>
                  </m:oMathPara>
                </a14:m>
                <a:endParaRPr lang="en-US" sz="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0" name="TextBox 619">
                <a:extLst>
                  <a:ext uri="{FF2B5EF4-FFF2-40B4-BE49-F238E27FC236}">
                    <a16:creationId xmlns:a16="http://schemas.microsoft.com/office/drawing/2014/main" id="{E2D71DDC-76B7-C89D-A5A4-ED6D09CC18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0752" y="3627421"/>
                <a:ext cx="1377813" cy="133050"/>
              </a:xfrm>
              <a:prstGeom prst="rect">
                <a:avLst/>
              </a:prstGeom>
              <a:blipFill>
                <a:blip r:embed="rId5"/>
                <a:stretch>
                  <a:fillRect l="-877" b="-20833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1" name="Speech Bubble: Rectangle with Corners Rounded 620">
            <a:extLst>
              <a:ext uri="{FF2B5EF4-FFF2-40B4-BE49-F238E27FC236}">
                <a16:creationId xmlns:a16="http://schemas.microsoft.com/office/drawing/2014/main" id="{BE31CFB2-952F-A14E-70CC-A5F09B781143}"/>
              </a:ext>
            </a:extLst>
          </p:cNvPr>
          <p:cNvSpPr/>
          <p:nvPr/>
        </p:nvSpPr>
        <p:spPr>
          <a:xfrm>
            <a:off x="3306336" y="6303537"/>
            <a:ext cx="1348953" cy="390029"/>
          </a:xfrm>
          <a:prstGeom prst="wedgeRoundRectCallout">
            <a:avLst>
              <a:gd name="adj1" fmla="val 80665"/>
              <a:gd name="adj2" fmla="val 20775"/>
              <a:gd name="adj3" fmla="val 16667"/>
            </a:avLst>
          </a:prstGeom>
          <a:solidFill>
            <a:srgbClr val="FFFC8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dirty="0">
                <a:solidFill>
                  <a:schemeClr val="tx1"/>
                </a:solidFill>
              </a:rPr>
              <a:t>Prefill chunking divides </a:t>
            </a:r>
            <a:r>
              <a:rPr lang="en-US" sz="800" dirty="0">
                <a:solidFill>
                  <a:srgbClr val="FF0000"/>
                </a:solidFill>
              </a:rPr>
              <a:t>T</a:t>
            </a:r>
            <a:r>
              <a:rPr lang="en-US" sz="800" dirty="0">
                <a:solidFill>
                  <a:schemeClr val="tx1"/>
                </a:solidFill>
              </a:rPr>
              <a:t> into </a:t>
            </a:r>
            <a:r>
              <a:rPr lang="en-US" sz="800" b="1" dirty="0">
                <a:solidFill>
                  <a:schemeClr val="tx1"/>
                </a:solidFill>
              </a:rPr>
              <a:t>K</a:t>
            </a:r>
            <a:r>
              <a:rPr lang="en-US" sz="800" dirty="0">
                <a:solidFill>
                  <a:schemeClr val="tx1"/>
                </a:solidFill>
              </a:rPr>
              <a:t> chunks of size </a:t>
            </a:r>
            <a:r>
              <a:rPr lang="en-US" sz="800" dirty="0">
                <a:solidFill>
                  <a:srgbClr val="FF0000"/>
                </a:solidFill>
              </a:rPr>
              <a:t>M</a:t>
            </a:r>
            <a:r>
              <a:rPr lang="en-US" sz="8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622" name="TextBox 621">
            <a:extLst>
              <a:ext uri="{FF2B5EF4-FFF2-40B4-BE49-F238E27FC236}">
                <a16:creationId xmlns:a16="http://schemas.microsoft.com/office/drawing/2014/main" id="{74231E93-1DCA-5B9D-A7D0-CF056FAB1495}"/>
              </a:ext>
            </a:extLst>
          </p:cNvPr>
          <p:cNvSpPr txBox="1"/>
          <p:nvPr/>
        </p:nvSpPr>
        <p:spPr>
          <a:xfrm>
            <a:off x="2605052" y="3454030"/>
            <a:ext cx="11506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Activations volume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3" name="TextBox 622">
                <a:extLst>
                  <a:ext uri="{FF2B5EF4-FFF2-40B4-BE49-F238E27FC236}">
                    <a16:creationId xmlns:a16="http://schemas.microsoft.com/office/drawing/2014/main" id="{1BD9E479-1622-D570-7C30-FE4042E0FD33}"/>
                  </a:ext>
                </a:extLst>
              </p:cNvPr>
              <p:cNvSpPr txBox="1"/>
              <p:nvPr/>
            </p:nvSpPr>
            <p:spPr>
              <a:xfrm>
                <a:off x="101600" y="784103"/>
                <a:ext cx="3158300" cy="574516"/>
              </a:xfrm>
              <a:prstGeom prst="rect">
                <a:avLst/>
              </a:prstGeom>
              <a:solidFill>
                <a:schemeClr val="tx1">
                  <a:alpha val="8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800" i="1">
                                        <a:latin typeface="Cambria Math" panose="02040503050406030204" pitchFamily="18" charset="0"/>
                                      </a:rPr>
                                      <m:t>𝐾𝑉</m:t>
                                    </m:r>
                                  </m:e>
                                  <m:sub>
                                    <m:r>
                                      <a:rPr lang="en-US" sz="800" i="1">
                                        <a:latin typeface="Cambria Math" panose="02040503050406030204" pitchFamily="18" charset="0"/>
                                      </a:rPr>
                                      <m:t>𝐺𝑄𝐴</m:t>
                                    </m:r>
                                  </m:sub>
                                </m:sSub>
                                <m:r>
                                  <a:rPr lang="en-US" sz="8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2×</m:t>
                                </m:r>
                                <m:r>
                                  <a:rPr lang="en-US" sz="80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sz="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sz="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sz="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sz="8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en-US" sz="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b>
                                  <m:sSubPr>
                                    <m:ctrlPr>
                                      <a:rPr lang="en-US" sz="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sz="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𝑚𝑜𝑑𝑒𝑙</m:t>
                                    </m:r>
                                  </m:sub>
                                </m:sSub>
                                <m:r>
                                  <a:rPr lang="en-US" sz="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f>
                                  <m:fPr>
                                    <m:ctrlPr>
                                      <a:rPr lang="en-US" sz="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en-US" sz="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𝑘𝑣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en-US" sz="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sz="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sz="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e>
                                <m:r>
                                  <a:rPr lang="en-US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𝑓𝑜𝑟</m:t>
                                </m:r>
                                <m:r>
                                  <a:rPr lang="en-US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𝐺𝑄𝐴</m:t>
                                </m:r>
                                <m:r>
                                  <a:rPr lang="en-US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𝑚𝑜𝑑𝑒𝑙𝑠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800" i="1">
                                        <a:latin typeface="Cambria Math" panose="02040503050406030204" pitchFamily="18" charset="0"/>
                                      </a:rPr>
                                      <m:t>𝐾𝑉</m:t>
                                    </m:r>
                                  </m:e>
                                  <m:sub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𝑀𝐻𝐴</m:t>
                                    </m:r>
                                  </m:sub>
                                </m:sSub>
                                <m:r>
                                  <a:rPr lang="en-US" sz="8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2×</m:t>
                                </m:r>
                                <m:r>
                                  <a:rPr lang="en-US" sz="80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sz="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sz="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sz="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sz="8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en-US" sz="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b>
                                  <m:sSubPr>
                                    <m:ctrlPr>
                                      <a:rPr lang="en-US" sz="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sz="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𝑚𝑜𝑑𝑒𝑙</m:t>
                                    </m:r>
                                  </m:sub>
                                </m:sSub>
                                <m:r>
                                  <a:rPr lang="en-US" sz="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sz="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e>
                                <m:r>
                                  <a:rPr lang="en-US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𝑓𝑜𝑟</m:t>
                                </m:r>
                                <m:r>
                                  <a:rPr lang="en-US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𝑀𝐻𝐴</m:t>
                                </m:r>
                                <m:r>
                                  <a:rPr lang="en-US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𝑚𝑜𝑑𝑒𝑙𝑠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800" i="1">
                                        <a:latin typeface="Cambria Math" panose="02040503050406030204" pitchFamily="18" charset="0"/>
                                      </a:rPr>
                                      <m:t>𝐾𝑉</m:t>
                                    </m:r>
                                  </m:e>
                                  <m:sub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𝑀𝐿𝐴</m:t>
                                    </m:r>
                                  </m:sub>
                                </m:sSub>
                                <m:r>
                                  <a:rPr lang="en-US" sz="8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8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sz="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sz="8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en-US" sz="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sz="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b>
                                  <m:sSubPr>
                                    <m:ctrlPr>
                                      <a:rPr lang="en-US" sz="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𝑘𝑣</m:t>
                                    </m:r>
                                  </m:sub>
                                </m:sSub>
                                <m:r>
                                  <a:rPr lang="en-US" sz="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b>
                                  <m:sSubPr>
                                    <m:ctrlPr>
                                      <a:rPr lang="en-US" sz="8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𝑙𝑒𝑡𝑒𝑛𝑡</m:t>
                                    </m:r>
                                  </m:sub>
                                </m:sSub>
                                <m:r>
                                  <a:rPr lang="en-US" sz="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×2×</m:t>
                                </m:r>
                                <m:r>
                                  <a:rPr lang="en-US" sz="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e>
                                <m:r>
                                  <a:rPr lang="en-US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𝑓𝑜𝑟</m:t>
                                </m:r>
                                <m:r>
                                  <a:rPr lang="en-US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𝑀𝐿𝐴</m:t>
                                </m:r>
                                <m:r>
                                  <a:rPr lang="en-US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𝑚𝑜𝑑𝑒𝑙𝑠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3" name="TextBox 622">
                <a:extLst>
                  <a:ext uri="{FF2B5EF4-FFF2-40B4-BE49-F238E27FC236}">
                    <a16:creationId xmlns:a16="http://schemas.microsoft.com/office/drawing/2014/main" id="{1BD9E479-1622-D570-7C30-FE4042E0FD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" y="784103"/>
                <a:ext cx="3158300" cy="57451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4" name="TextBox 623">
            <a:extLst>
              <a:ext uri="{FF2B5EF4-FFF2-40B4-BE49-F238E27FC236}">
                <a16:creationId xmlns:a16="http://schemas.microsoft.com/office/drawing/2014/main" id="{8E4D16ED-CBE5-F8F4-D3B3-F4C783C563BD}"/>
              </a:ext>
            </a:extLst>
          </p:cNvPr>
          <p:cNvSpPr txBox="1"/>
          <p:nvPr/>
        </p:nvSpPr>
        <p:spPr>
          <a:xfrm>
            <a:off x="103152" y="568659"/>
            <a:ext cx="31567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Different model attention types entail different KV-cache sizes: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8" name="Speech Bubble: Rectangle with Corners Rounded 627">
                <a:extLst>
                  <a:ext uri="{FF2B5EF4-FFF2-40B4-BE49-F238E27FC236}">
                    <a16:creationId xmlns:a16="http://schemas.microsoft.com/office/drawing/2014/main" id="{3E868AA7-4F27-AB3D-5E25-03F8F35C6C4F}"/>
                  </a:ext>
                </a:extLst>
              </p:cNvPr>
              <p:cNvSpPr/>
              <p:nvPr/>
            </p:nvSpPr>
            <p:spPr>
              <a:xfrm>
                <a:off x="2249350" y="2483429"/>
                <a:ext cx="1984364" cy="794478"/>
              </a:xfrm>
              <a:prstGeom prst="wedgeRoundRectCallout">
                <a:avLst>
                  <a:gd name="adj1" fmla="val -20013"/>
                  <a:gd name="adj2" fmla="val 72508"/>
                  <a:gd name="adj3" fmla="val 16667"/>
                </a:avLst>
              </a:prstGeom>
              <a:solidFill>
                <a:srgbClr val="FFFC8F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sz="800" b="1" dirty="0" err="1">
                    <a:solidFill>
                      <a:schemeClr val="tx1"/>
                    </a:solidFill>
                  </a:rPr>
                  <a:t>DataBatch</a:t>
                </a:r>
                <a:r>
                  <a:rPr lang="en-US" sz="800" dirty="0" err="1">
                    <a:solidFill>
                      <a:schemeClr val="tx1"/>
                    </a:solidFill>
                  </a:rPr>
                  <a:t>es</a:t>
                </a:r>
                <a:r>
                  <a:rPr lang="en-US" sz="800" dirty="0">
                    <a:solidFill>
                      <a:schemeClr val="tx1"/>
                    </a:solidFill>
                  </a:rPr>
                  <a:t> that transport prefill activations are named </a:t>
                </a:r>
                <a:r>
                  <a:rPr lang="en-US" sz="800" b="1" dirty="0" err="1">
                    <a:solidFill>
                      <a:schemeClr val="tx1"/>
                    </a:solidFill>
                  </a:rPr>
                  <a:t>Prefill_Act_Rank</a:t>
                </a:r>
                <a:r>
                  <a:rPr lang="en-US" sz="800" b="1" dirty="0">
                    <a:solidFill>
                      <a:schemeClr val="tx1"/>
                    </a:solidFill>
                  </a:rPr>
                  <a:t>_</a:t>
                </a:r>
                <a:r>
                  <a:rPr lang="en-US" sz="800" dirty="0">
                    <a:solidFill>
                      <a:schemeClr val="tx1"/>
                    </a:solidFill>
                  </a:rPr>
                  <a:t>{</a:t>
                </a:r>
                <a:r>
                  <a:rPr lang="en-US" sz="800" dirty="0" err="1">
                    <a:solidFill>
                      <a:schemeClr val="tx1"/>
                    </a:solidFill>
                  </a:rPr>
                  <a:t>r_idx</a:t>
                </a:r>
                <a:r>
                  <a:rPr lang="en-US" sz="800" dirty="0">
                    <a:solidFill>
                      <a:schemeClr val="tx1"/>
                    </a:solidFill>
                  </a:rPr>
                  <a:t>}</a:t>
                </a:r>
                <a:r>
                  <a:rPr lang="en-US" sz="800" b="1" dirty="0">
                    <a:solidFill>
                      <a:schemeClr val="tx1"/>
                    </a:solidFill>
                  </a:rPr>
                  <a:t>_Chunk_</a:t>
                </a:r>
                <a:r>
                  <a:rPr lang="en-US" sz="800" dirty="0">
                    <a:solidFill>
                      <a:schemeClr val="tx1"/>
                    </a:solidFill>
                  </a:rPr>
                  <a:t>{</a:t>
                </a:r>
                <a:r>
                  <a:rPr lang="en-US" sz="800" dirty="0" err="1">
                    <a:solidFill>
                      <a:schemeClr val="tx1"/>
                    </a:solidFill>
                  </a:rPr>
                  <a:t>c_idx</a:t>
                </a:r>
                <a:r>
                  <a:rPr lang="en-US" sz="800" dirty="0">
                    <a:solidFill>
                      <a:schemeClr val="tx1"/>
                    </a:solidFill>
                  </a:rPr>
                  <a:t>} and have size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𝒑𝒓𝒆𝒇𝒊𝒍𝒍</m:t>
                        </m:r>
                      </m:sub>
                    </m:sSub>
                  </m:oMath>
                </a14:m>
                <a:r>
                  <a:rPr lang="en-US" sz="800" dirty="0">
                    <a:solidFill>
                      <a:schemeClr val="tx1"/>
                    </a:solidFill>
                  </a:rPr>
                  <a:t>. The paths (and their edges) depends on the hardware.</a:t>
                </a:r>
              </a:p>
              <a:p>
                <a:endParaRPr lang="en-US" sz="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8" name="Speech Bubble: Rectangle with Corners Rounded 627">
                <a:extLst>
                  <a:ext uri="{FF2B5EF4-FFF2-40B4-BE49-F238E27FC236}">
                    <a16:creationId xmlns:a16="http://schemas.microsoft.com/office/drawing/2014/main" id="{3E868AA7-4F27-AB3D-5E25-03F8F35C6C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9350" y="2483429"/>
                <a:ext cx="1984364" cy="794478"/>
              </a:xfrm>
              <a:prstGeom prst="wedgeRoundRectCallout">
                <a:avLst>
                  <a:gd name="adj1" fmla="val -20013"/>
                  <a:gd name="adj2" fmla="val 72508"/>
                  <a:gd name="adj3" fmla="val 16667"/>
                </a:avLst>
              </a:prstGeom>
              <a:blipFill>
                <a:blip r:embed="rId7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9" name="Rectangle 628">
            <a:extLst>
              <a:ext uri="{FF2B5EF4-FFF2-40B4-BE49-F238E27FC236}">
                <a16:creationId xmlns:a16="http://schemas.microsoft.com/office/drawing/2014/main" id="{11FD5AA4-694E-C898-6DFF-DAC9166ED7BE}"/>
              </a:ext>
            </a:extLst>
          </p:cNvPr>
          <p:cNvSpPr/>
          <p:nvPr/>
        </p:nvSpPr>
        <p:spPr>
          <a:xfrm>
            <a:off x="5080071" y="2851406"/>
            <a:ext cx="287024" cy="2870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33" name="Rectangle 632">
            <a:extLst>
              <a:ext uri="{FF2B5EF4-FFF2-40B4-BE49-F238E27FC236}">
                <a16:creationId xmlns:a16="http://schemas.microsoft.com/office/drawing/2014/main" id="{8B59EBDD-A293-6132-291E-D09A205E5123}"/>
              </a:ext>
            </a:extLst>
          </p:cNvPr>
          <p:cNvSpPr/>
          <p:nvPr/>
        </p:nvSpPr>
        <p:spPr>
          <a:xfrm>
            <a:off x="5080071" y="1466801"/>
            <a:ext cx="287024" cy="2870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7" name="Speech Bubble: Rectangle with Corners Rounded 636">
                <a:extLst>
                  <a:ext uri="{FF2B5EF4-FFF2-40B4-BE49-F238E27FC236}">
                    <a16:creationId xmlns:a16="http://schemas.microsoft.com/office/drawing/2014/main" id="{00A5EACF-FD26-53E8-E65C-C82AFF41BED1}"/>
                  </a:ext>
                </a:extLst>
              </p:cNvPr>
              <p:cNvSpPr/>
              <p:nvPr/>
            </p:nvSpPr>
            <p:spPr>
              <a:xfrm>
                <a:off x="5694102" y="5861946"/>
                <a:ext cx="2641513" cy="765132"/>
              </a:xfrm>
              <a:prstGeom prst="wedgeRoundRectCallout">
                <a:avLst>
                  <a:gd name="adj1" fmla="val -23366"/>
                  <a:gd name="adj2" fmla="val -76708"/>
                  <a:gd name="adj3" fmla="val 16667"/>
                </a:avLst>
              </a:prstGeom>
              <a:solidFill>
                <a:srgbClr val="FFFC8F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sz="800" b="1" dirty="0">
                    <a:solidFill>
                      <a:schemeClr val="tx1"/>
                    </a:solidFill>
                  </a:rPr>
                  <a:t>DataBatch</a:t>
                </a:r>
                <a:r>
                  <a:rPr lang="en-US" sz="800" dirty="0" err="1">
                    <a:solidFill>
                      <a:schemeClr val="tx1"/>
                    </a:solidFill>
                  </a:rPr>
                  <a:t>es</a:t>
                </a:r>
                <a:r>
                  <a:rPr lang="en-US" sz="800" dirty="0">
                    <a:solidFill>
                      <a:schemeClr val="tx1"/>
                    </a:solidFill>
                  </a:rPr>
                  <a:t> that transport KV-cache shares are named </a:t>
                </a:r>
                <a:r>
                  <a:rPr lang="en-US" sz="800" b="1" dirty="0" err="1">
                    <a:solidFill>
                      <a:schemeClr val="tx1"/>
                    </a:solidFill>
                  </a:rPr>
                  <a:t>Handoff_Rank</a:t>
                </a:r>
                <a:r>
                  <a:rPr lang="en-US" sz="800" b="1" dirty="0">
                    <a:solidFill>
                      <a:schemeClr val="tx1"/>
                    </a:solidFill>
                  </a:rPr>
                  <a:t>_</a:t>
                </a:r>
                <a:r>
                  <a:rPr lang="en-US" sz="800" dirty="0">
                    <a:solidFill>
                      <a:schemeClr val="tx1"/>
                    </a:solidFill>
                  </a:rPr>
                  <a:t>{</a:t>
                </a:r>
                <a:r>
                  <a:rPr lang="en-US" sz="800" dirty="0" err="1">
                    <a:solidFill>
                      <a:schemeClr val="tx1"/>
                    </a:solidFill>
                  </a:rPr>
                  <a:t>r_idx</a:t>
                </a:r>
                <a:r>
                  <a:rPr lang="en-US" sz="800" dirty="0">
                    <a:solidFill>
                      <a:schemeClr val="tx1"/>
                    </a:solidFill>
                  </a:rPr>
                  <a:t>}</a:t>
                </a:r>
                <a:r>
                  <a:rPr lang="en-US" sz="800" b="1" dirty="0">
                    <a:solidFill>
                      <a:schemeClr val="tx1"/>
                    </a:solidFill>
                  </a:rPr>
                  <a:t>_Chunk_</a:t>
                </a:r>
                <a:r>
                  <a:rPr lang="en-US" sz="800" dirty="0">
                    <a:solidFill>
                      <a:schemeClr val="tx1"/>
                    </a:solidFill>
                  </a:rPr>
                  <a:t>{</a:t>
                </a:r>
                <a:r>
                  <a:rPr lang="en-US" sz="800" dirty="0" err="1">
                    <a:solidFill>
                      <a:schemeClr val="tx1"/>
                    </a:solidFill>
                  </a:rPr>
                  <a:t>c_idx</a:t>
                </a:r>
                <a:r>
                  <a:rPr lang="en-US" sz="800" dirty="0">
                    <a:solidFill>
                      <a:schemeClr val="tx1"/>
                    </a:solidFill>
                  </a:rPr>
                  <a:t>} and have size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9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𝑲𝑽</m:t>
                        </m:r>
                      </m:e>
                      <m:sub>
                        <m:r>
                          <a:rPr lang="en-US" sz="9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𝒉𝒂𝒏𝒅𝒐𝒇𝒇</m:t>
                        </m:r>
                      </m:sub>
                    </m:sSub>
                    <m:r>
                      <a:rPr lang="en-US" sz="9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9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9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9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𝐾𝑉</m:t>
                            </m:r>
                          </m:e>
                          <m:sub>
                            <m:r>
                              <a:rPr lang="en-US" sz="9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𝐺𝑄𝐴</m:t>
                            </m:r>
                          </m:sub>
                        </m:sSub>
                      </m:num>
                      <m:den>
                        <m:r>
                          <a:rPr lang="en-US" sz="9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𝑃𝑃</m:t>
                        </m:r>
                      </m:den>
                    </m:f>
                    <m:r>
                      <a:rPr lang="en-US" sz="9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9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9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2×</m:t>
                        </m:r>
                        <m:r>
                          <a:rPr lang="en-US" sz="9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9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9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n-US" sz="9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9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  <m:r>
                          <a:rPr lang="en-US" sz="9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sz="9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9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sz="9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𝑚𝑜𝑑𝑒𝑙</m:t>
                            </m:r>
                          </m:sub>
                        </m:sSub>
                        <m:r>
                          <a:rPr lang="en-US" sz="9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ctrlPr>
                              <a:rPr lang="en-US" sz="9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9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9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9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𝑘𝑣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9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9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9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</m:sub>
                            </m:sSub>
                          </m:den>
                        </m:f>
                        <m:r>
                          <a:rPr lang="en-US" sz="9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9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sz="9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𝑃𝑃</m:t>
                        </m:r>
                      </m:den>
                    </m:f>
                  </m:oMath>
                </a14:m>
                <a:r>
                  <a:rPr lang="en-US" sz="800" dirty="0">
                    <a:solidFill>
                      <a:schemeClr val="tx1"/>
                    </a:solidFill>
                  </a:rPr>
                  <a:t>. The paths (and their edges) depends on the hardware.</a:t>
                </a:r>
              </a:p>
              <a:p>
                <a:endParaRPr lang="en-US" sz="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37" name="Speech Bubble: Rectangle with Corners Rounded 636">
                <a:extLst>
                  <a:ext uri="{FF2B5EF4-FFF2-40B4-BE49-F238E27FC236}">
                    <a16:creationId xmlns:a16="http://schemas.microsoft.com/office/drawing/2014/main" id="{00A5EACF-FD26-53E8-E65C-C82AFF41BE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4102" y="5861946"/>
                <a:ext cx="2641513" cy="765132"/>
              </a:xfrm>
              <a:prstGeom prst="wedgeRoundRectCallout">
                <a:avLst>
                  <a:gd name="adj1" fmla="val -23366"/>
                  <a:gd name="adj2" fmla="val -76708"/>
                  <a:gd name="adj3" fmla="val 16667"/>
                </a:avLst>
              </a:prstGeom>
              <a:blipFill>
                <a:blip r:embed="rId8"/>
                <a:stretch>
                  <a:fillRect b="-3727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0" name="Rectangle 639">
            <a:extLst>
              <a:ext uri="{FF2B5EF4-FFF2-40B4-BE49-F238E27FC236}">
                <a16:creationId xmlns:a16="http://schemas.microsoft.com/office/drawing/2014/main" id="{CB4D2AA6-F9A8-7DCA-A588-38F96FC7B9C7}"/>
              </a:ext>
            </a:extLst>
          </p:cNvPr>
          <p:cNvSpPr/>
          <p:nvPr/>
        </p:nvSpPr>
        <p:spPr>
          <a:xfrm>
            <a:off x="6965644" y="3504628"/>
            <a:ext cx="287024" cy="28702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KV</a:t>
            </a:r>
          </a:p>
        </p:txBody>
      </p:sp>
      <p:sp>
        <p:nvSpPr>
          <p:cNvPr id="642" name="Rectangle 641">
            <a:extLst>
              <a:ext uri="{FF2B5EF4-FFF2-40B4-BE49-F238E27FC236}">
                <a16:creationId xmlns:a16="http://schemas.microsoft.com/office/drawing/2014/main" id="{7266E4FC-E89A-84D7-0091-B53E0CA61DCA}"/>
              </a:ext>
            </a:extLst>
          </p:cNvPr>
          <p:cNvSpPr/>
          <p:nvPr/>
        </p:nvSpPr>
        <p:spPr>
          <a:xfrm>
            <a:off x="6963152" y="2124358"/>
            <a:ext cx="287024" cy="28702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KV</a:t>
            </a:r>
          </a:p>
        </p:txBody>
      </p:sp>
      <p:sp>
        <p:nvSpPr>
          <p:cNvPr id="643" name="Rectangle 642">
            <a:extLst>
              <a:ext uri="{FF2B5EF4-FFF2-40B4-BE49-F238E27FC236}">
                <a16:creationId xmlns:a16="http://schemas.microsoft.com/office/drawing/2014/main" id="{A4ABFDDF-87F9-5AD0-3FF4-F8FCFFEA9D0A}"/>
              </a:ext>
            </a:extLst>
          </p:cNvPr>
          <p:cNvSpPr/>
          <p:nvPr/>
        </p:nvSpPr>
        <p:spPr>
          <a:xfrm>
            <a:off x="6963152" y="752297"/>
            <a:ext cx="287024" cy="28702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KV</a:t>
            </a:r>
          </a:p>
        </p:txBody>
      </p:sp>
      <p:cxnSp>
        <p:nvCxnSpPr>
          <p:cNvPr id="645" name="Straight Connector 644">
            <a:extLst>
              <a:ext uri="{FF2B5EF4-FFF2-40B4-BE49-F238E27FC236}">
                <a16:creationId xmlns:a16="http://schemas.microsoft.com/office/drawing/2014/main" id="{DE97331D-8CBF-9B57-25C2-47D2D9C8BAFE}"/>
              </a:ext>
            </a:extLst>
          </p:cNvPr>
          <p:cNvCxnSpPr>
            <a:cxnSpLocks/>
            <a:stCxn id="584" idx="0"/>
            <a:endCxn id="640" idx="2"/>
          </p:cNvCxnSpPr>
          <p:nvPr/>
        </p:nvCxnSpPr>
        <p:spPr>
          <a:xfrm flipV="1">
            <a:off x="6289871" y="3791652"/>
            <a:ext cx="819285" cy="153870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Straight Connector 649">
            <a:extLst>
              <a:ext uri="{FF2B5EF4-FFF2-40B4-BE49-F238E27FC236}">
                <a16:creationId xmlns:a16="http://schemas.microsoft.com/office/drawing/2014/main" id="{978EA79A-0CA0-B131-50DA-0D8ECE7B660A}"/>
              </a:ext>
            </a:extLst>
          </p:cNvPr>
          <p:cNvCxnSpPr>
            <a:cxnSpLocks/>
            <a:stCxn id="584" idx="0"/>
            <a:endCxn id="642" idx="2"/>
          </p:cNvCxnSpPr>
          <p:nvPr/>
        </p:nvCxnSpPr>
        <p:spPr>
          <a:xfrm flipV="1">
            <a:off x="6289871" y="2411382"/>
            <a:ext cx="816793" cy="291897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Straight Connector 652">
            <a:extLst>
              <a:ext uri="{FF2B5EF4-FFF2-40B4-BE49-F238E27FC236}">
                <a16:creationId xmlns:a16="http://schemas.microsoft.com/office/drawing/2014/main" id="{A0750C2C-B83A-0C0B-9CAC-6ABA780D6310}"/>
              </a:ext>
            </a:extLst>
          </p:cNvPr>
          <p:cNvCxnSpPr>
            <a:cxnSpLocks/>
            <a:stCxn id="584" idx="0"/>
            <a:endCxn id="643" idx="2"/>
          </p:cNvCxnSpPr>
          <p:nvPr/>
        </p:nvCxnSpPr>
        <p:spPr>
          <a:xfrm flipV="1">
            <a:off x="6289871" y="1039321"/>
            <a:ext cx="816793" cy="42910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2" name="Straight Connector 661">
            <a:extLst>
              <a:ext uri="{FF2B5EF4-FFF2-40B4-BE49-F238E27FC236}">
                <a16:creationId xmlns:a16="http://schemas.microsoft.com/office/drawing/2014/main" id="{D5F13B24-180C-F2C1-1EB7-224BA227E57A}"/>
              </a:ext>
            </a:extLst>
          </p:cNvPr>
          <p:cNvCxnSpPr>
            <a:cxnSpLocks/>
            <a:stCxn id="629" idx="1"/>
            <a:endCxn id="620" idx="3"/>
          </p:cNvCxnSpPr>
          <p:nvPr/>
        </p:nvCxnSpPr>
        <p:spPr>
          <a:xfrm flipH="1">
            <a:off x="4058565" y="2994918"/>
            <a:ext cx="1021506" cy="69902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5" name="Straight Connector 664">
            <a:extLst>
              <a:ext uri="{FF2B5EF4-FFF2-40B4-BE49-F238E27FC236}">
                <a16:creationId xmlns:a16="http://schemas.microsoft.com/office/drawing/2014/main" id="{36B28FFD-7638-4119-C41B-D273AC3C0065}"/>
              </a:ext>
            </a:extLst>
          </p:cNvPr>
          <p:cNvCxnSpPr>
            <a:cxnSpLocks/>
            <a:stCxn id="633" idx="1"/>
            <a:endCxn id="620" idx="3"/>
          </p:cNvCxnSpPr>
          <p:nvPr/>
        </p:nvCxnSpPr>
        <p:spPr>
          <a:xfrm flipH="1">
            <a:off x="4058565" y="1610313"/>
            <a:ext cx="1021506" cy="208363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1" name="Speech Bubble: Rectangle with Corners Rounded 670">
                <a:extLst>
                  <a:ext uri="{FF2B5EF4-FFF2-40B4-BE49-F238E27FC236}">
                    <a16:creationId xmlns:a16="http://schemas.microsoft.com/office/drawing/2014/main" id="{813C79C1-44EB-8529-9DA1-A2FAA2CAAC33}"/>
                  </a:ext>
                </a:extLst>
              </p:cNvPr>
              <p:cNvSpPr/>
              <p:nvPr/>
            </p:nvSpPr>
            <p:spPr>
              <a:xfrm>
                <a:off x="9698839" y="2700836"/>
                <a:ext cx="2372990" cy="660765"/>
              </a:xfrm>
              <a:prstGeom prst="wedgeRoundRectCallout">
                <a:avLst>
                  <a:gd name="adj1" fmla="val -23564"/>
                  <a:gd name="adj2" fmla="val -87438"/>
                  <a:gd name="adj3" fmla="val 16667"/>
                </a:avLst>
              </a:prstGeom>
              <a:solidFill>
                <a:srgbClr val="FFFC8F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sz="800" b="1" dirty="0" err="1">
                    <a:solidFill>
                      <a:schemeClr val="tx1"/>
                    </a:solidFill>
                  </a:rPr>
                  <a:t>DataBatch</a:t>
                </a:r>
                <a:r>
                  <a:rPr lang="en-US" sz="800" dirty="0" err="1">
                    <a:solidFill>
                      <a:schemeClr val="tx1"/>
                    </a:solidFill>
                  </a:rPr>
                  <a:t>es</a:t>
                </a:r>
                <a:r>
                  <a:rPr lang="en-US" sz="800" dirty="0">
                    <a:solidFill>
                      <a:schemeClr val="tx1"/>
                    </a:solidFill>
                  </a:rPr>
                  <a:t> that transport decode activations are named </a:t>
                </a:r>
                <a:r>
                  <a:rPr lang="en-US" sz="800" b="1" dirty="0" err="1">
                    <a:solidFill>
                      <a:schemeClr val="tx1"/>
                    </a:solidFill>
                  </a:rPr>
                  <a:t>Decode_Act_Rank</a:t>
                </a:r>
                <a:r>
                  <a:rPr lang="en-US" sz="800" b="1" dirty="0">
                    <a:solidFill>
                      <a:schemeClr val="tx1"/>
                    </a:solidFill>
                  </a:rPr>
                  <a:t>_</a:t>
                </a:r>
                <a:r>
                  <a:rPr lang="en-US" sz="800" dirty="0">
                    <a:solidFill>
                      <a:schemeClr val="tx1"/>
                    </a:solidFill>
                  </a:rPr>
                  <a:t>{</a:t>
                </a:r>
                <a:r>
                  <a:rPr lang="en-US" sz="800" dirty="0" err="1">
                    <a:solidFill>
                      <a:schemeClr val="tx1"/>
                    </a:solidFill>
                  </a:rPr>
                  <a:t>r_idx</a:t>
                </a:r>
                <a:r>
                  <a:rPr lang="en-US" sz="800" dirty="0">
                    <a:solidFill>
                      <a:schemeClr val="tx1"/>
                    </a:solidFill>
                  </a:rPr>
                  <a:t>}</a:t>
                </a:r>
                <a:r>
                  <a:rPr lang="en-US" sz="800" b="1" dirty="0">
                    <a:solidFill>
                      <a:schemeClr val="tx1"/>
                    </a:solidFill>
                  </a:rPr>
                  <a:t>_Chunk_</a:t>
                </a:r>
                <a:r>
                  <a:rPr lang="en-US" sz="800" dirty="0">
                    <a:solidFill>
                      <a:schemeClr val="tx1"/>
                    </a:solidFill>
                  </a:rPr>
                  <a:t>{</a:t>
                </a:r>
                <a:r>
                  <a:rPr lang="en-US" sz="800" dirty="0" err="1">
                    <a:solidFill>
                      <a:schemeClr val="tx1"/>
                    </a:solidFill>
                  </a:rPr>
                  <a:t>c_idx</a:t>
                </a:r>
                <a:r>
                  <a:rPr lang="en-US" sz="800" dirty="0">
                    <a:solidFill>
                      <a:schemeClr val="tx1"/>
                    </a:solidFill>
                  </a:rPr>
                  <a:t>} and have size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𝒅𝒆𝒄𝒐𝒅𝒆</m:t>
                        </m:r>
                      </m:sub>
                    </m:sSub>
                  </m:oMath>
                </a14:m>
                <a:r>
                  <a:rPr lang="en-US" sz="800" dirty="0">
                    <a:solidFill>
                      <a:schemeClr val="tx1"/>
                    </a:solidFill>
                  </a:rPr>
                  <a:t>. The paths (and their edges) depends on the hardware.</a:t>
                </a:r>
              </a:p>
              <a:p>
                <a:endParaRPr lang="en-US" sz="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71" name="Speech Bubble: Rectangle with Corners Rounded 670">
                <a:extLst>
                  <a:ext uri="{FF2B5EF4-FFF2-40B4-BE49-F238E27FC236}">
                    <a16:creationId xmlns:a16="http://schemas.microsoft.com/office/drawing/2014/main" id="{813C79C1-44EB-8529-9DA1-A2FAA2CAAC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8839" y="2700836"/>
                <a:ext cx="2372990" cy="660765"/>
              </a:xfrm>
              <a:prstGeom prst="wedgeRoundRectCallout">
                <a:avLst>
                  <a:gd name="adj1" fmla="val -23564"/>
                  <a:gd name="adj2" fmla="val -87438"/>
                  <a:gd name="adj3" fmla="val 16667"/>
                </a:avLst>
              </a:prstGeom>
              <a:blipFill>
                <a:blip r:embed="rId9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4" name="Rectangle 673">
            <a:extLst>
              <a:ext uri="{FF2B5EF4-FFF2-40B4-BE49-F238E27FC236}">
                <a16:creationId xmlns:a16="http://schemas.microsoft.com/office/drawing/2014/main" id="{FC9B945D-5C62-23B8-2FA7-7C2D7D6B5413}"/>
              </a:ext>
            </a:extLst>
          </p:cNvPr>
          <p:cNvSpPr/>
          <p:nvPr/>
        </p:nvSpPr>
        <p:spPr>
          <a:xfrm>
            <a:off x="8307699" y="4169318"/>
            <a:ext cx="287024" cy="28702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677" name="Straight Connector 676">
            <a:extLst>
              <a:ext uri="{FF2B5EF4-FFF2-40B4-BE49-F238E27FC236}">
                <a16:creationId xmlns:a16="http://schemas.microsoft.com/office/drawing/2014/main" id="{CFBE3C1D-9A03-F965-289F-60D8CB2676F4}"/>
              </a:ext>
            </a:extLst>
          </p:cNvPr>
          <p:cNvCxnSpPr>
            <a:cxnSpLocks/>
            <a:stCxn id="680" idx="3"/>
            <a:endCxn id="618" idx="1"/>
          </p:cNvCxnSpPr>
          <p:nvPr/>
        </p:nvCxnSpPr>
        <p:spPr>
          <a:xfrm flipV="1">
            <a:off x="8590878" y="2316809"/>
            <a:ext cx="1166073" cy="70248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0" name="Rectangle 679">
            <a:extLst>
              <a:ext uri="{FF2B5EF4-FFF2-40B4-BE49-F238E27FC236}">
                <a16:creationId xmlns:a16="http://schemas.microsoft.com/office/drawing/2014/main" id="{FCF99FED-B208-E4ED-1C21-D54825E4805A}"/>
              </a:ext>
            </a:extLst>
          </p:cNvPr>
          <p:cNvSpPr/>
          <p:nvPr/>
        </p:nvSpPr>
        <p:spPr>
          <a:xfrm>
            <a:off x="8303854" y="2875779"/>
            <a:ext cx="287024" cy="28702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81" name="Rectangle 680">
            <a:extLst>
              <a:ext uri="{FF2B5EF4-FFF2-40B4-BE49-F238E27FC236}">
                <a16:creationId xmlns:a16="http://schemas.microsoft.com/office/drawing/2014/main" id="{E5B56C9E-D87E-905D-5343-5FCB9EACC493}"/>
              </a:ext>
            </a:extLst>
          </p:cNvPr>
          <p:cNvSpPr/>
          <p:nvPr/>
        </p:nvSpPr>
        <p:spPr>
          <a:xfrm>
            <a:off x="8307699" y="1466801"/>
            <a:ext cx="287024" cy="28702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683" name="Straight Connector 682">
            <a:extLst>
              <a:ext uri="{FF2B5EF4-FFF2-40B4-BE49-F238E27FC236}">
                <a16:creationId xmlns:a16="http://schemas.microsoft.com/office/drawing/2014/main" id="{11FD3FAF-97DE-ADD2-27B9-36D3AE327181}"/>
              </a:ext>
            </a:extLst>
          </p:cNvPr>
          <p:cNvCxnSpPr>
            <a:cxnSpLocks/>
            <a:stCxn id="681" idx="3"/>
            <a:endCxn id="618" idx="1"/>
          </p:cNvCxnSpPr>
          <p:nvPr/>
        </p:nvCxnSpPr>
        <p:spPr>
          <a:xfrm>
            <a:off x="8594723" y="1610313"/>
            <a:ext cx="1162228" cy="70649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6" name="Isosceles Triangle 685">
            <a:extLst>
              <a:ext uri="{FF2B5EF4-FFF2-40B4-BE49-F238E27FC236}">
                <a16:creationId xmlns:a16="http://schemas.microsoft.com/office/drawing/2014/main" id="{1EA7B559-92FB-11FF-A426-D20424BC5A58}"/>
              </a:ext>
            </a:extLst>
          </p:cNvPr>
          <p:cNvSpPr/>
          <p:nvPr/>
        </p:nvSpPr>
        <p:spPr>
          <a:xfrm>
            <a:off x="4881483" y="4963572"/>
            <a:ext cx="286638" cy="247102"/>
          </a:xfrm>
          <a:prstGeom prst="triangle">
            <a:avLst/>
          </a:prstGeom>
          <a:solidFill>
            <a:schemeClr val="accent2">
              <a:lumMod val="20000"/>
              <a:lumOff val="8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87" name="Isosceles Triangle 686">
            <a:extLst>
              <a:ext uri="{FF2B5EF4-FFF2-40B4-BE49-F238E27FC236}">
                <a16:creationId xmlns:a16="http://schemas.microsoft.com/office/drawing/2014/main" id="{D357ABEE-96F7-84B5-170E-96140C5C4868}"/>
              </a:ext>
            </a:extLst>
          </p:cNvPr>
          <p:cNvSpPr/>
          <p:nvPr/>
        </p:nvSpPr>
        <p:spPr>
          <a:xfrm>
            <a:off x="8544763" y="4981966"/>
            <a:ext cx="286638" cy="247102"/>
          </a:xfrm>
          <a:prstGeom prst="triangle">
            <a:avLst/>
          </a:prstGeom>
          <a:solidFill>
            <a:schemeClr val="accent4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88" name="Isosceles Triangle 687">
            <a:extLst>
              <a:ext uri="{FF2B5EF4-FFF2-40B4-BE49-F238E27FC236}">
                <a16:creationId xmlns:a16="http://schemas.microsoft.com/office/drawing/2014/main" id="{7F4E9986-8B3D-98ED-E3CA-95394DA77C99}"/>
              </a:ext>
            </a:extLst>
          </p:cNvPr>
          <p:cNvSpPr/>
          <p:nvPr/>
        </p:nvSpPr>
        <p:spPr>
          <a:xfrm>
            <a:off x="4887844" y="3589939"/>
            <a:ext cx="286638" cy="247102"/>
          </a:xfrm>
          <a:prstGeom prst="triangle">
            <a:avLst/>
          </a:prstGeom>
          <a:solidFill>
            <a:schemeClr val="accent2">
              <a:lumMod val="20000"/>
              <a:lumOff val="8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89" name="Isosceles Triangle 688">
            <a:extLst>
              <a:ext uri="{FF2B5EF4-FFF2-40B4-BE49-F238E27FC236}">
                <a16:creationId xmlns:a16="http://schemas.microsoft.com/office/drawing/2014/main" id="{B8383550-DE34-F51E-99F1-B993D82B93D5}"/>
              </a:ext>
            </a:extLst>
          </p:cNvPr>
          <p:cNvSpPr/>
          <p:nvPr/>
        </p:nvSpPr>
        <p:spPr>
          <a:xfrm>
            <a:off x="4879448" y="2226321"/>
            <a:ext cx="286638" cy="247102"/>
          </a:xfrm>
          <a:prstGeom prst="triangle">
            <a:avLst/>
          </a:prstGeom>
          <a:solidFill>
            <a:schemeClr val="accent2">
              <a:lumMod val="20000"/>
              <a:lumOff val="8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90" name="Isosceles Triangle 689">
            <a:extLst>
              <a:ext uri="{FF2B5EF4-FFF2-40B4-BE49-F238E27FC236}">
                <a16:creationId xmlns:a16="http://schemas.microsoft.com/office/drawing/2014/main" id="{22AA8BF7-1955-2411-3147-AC22C6E2B25F}"/>
              </a:ext>
            </a:extLst>
          </p:cNvPr>
          <p:cNvSpPr/>
          <p:nvPr/>
        </p:nvSpPr>
        <p:spPr>
          <a:xfrm>
            <a:off x="4887844" y="860305"/>
            <a:ext cx="286638" cy="247102"/>
          </a:xfrm>
          <a:prstGeom prst="triangle">
            <a:avLst/>
          </a:prstGeom>
          <a:solidFill>
            <a:schemeClr val="accent2">
              <a:lumMod val="20000"/>
              <a:lumOff val="8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691" name="Straight Connector 690">
            <a:extLst>
              <a:ext uri="{FF2B5EF4-FFF2-40B4-BE49-F238E27FC236}">
                <a16:creationId xmlns:a16="http://schemas.microsoft.com/office/drawing/2014/main" id="{2A330CAA-828D-E0FE-3D0C-737DBBC10F9B}"/>
              </a:ext>
            </a:extLst>
          </p:cNvPr>
          <p:cNvCxnSpPr>
            <a:cxnSpLocks/>
            <a:stCxn id="686" idx="1"/>
            <a:endCxn id="696" idx="3"/>
          </p:cNvCxnSpPr>
          <p:nvPr/>
        </p:nvCxnSpPr>
        <p:spPr>
          <a:xfrm flipH="1">
            <a:off x="4214291" y="5087123"/>
            <a:ext cx="738852" cy="21174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4" name="Straight Connector 693">
            <a:extLst>
              <a:ext uri="{FF2B5EF4-FFF2-40B4-BE49-F238E27FC236}">
                <a16:creationId xmlns:a16="http://schemas.microsoft.com/office/drawing/2014/main" id="{9CD53BF1-6CA7-FDAA-2C32-C9507E01F997}"/>
              </a:ext>
            </a:extLst>
          </p:cNvPr>
          <p:cNvCxnSpPr>
            <a:cxnSpLocks/>
            <a:stCxn id="688" idx="3"/>
            <a:endCxn id="696" idx="3"/>
          </p:cNvCxnSpPr>
          <p:nvPr/>
        </p:nvCxnSpPr>
        <p:spPr>
          <a:xfrm flipH="1">
            <a:off x="4214291" y="3837041"/>
            <a:ext cx="816872" cy="146182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96" name="TextBox 695">
                <a:extLst>
                  <a:ext uri="{FF2B5EF4-FFF2-40B4-BE49-F238E27FC236}">
                    <a16:creationId xmlns:a16="http://schemas.microsoft.com/office/drawing/2014/main" id="{FEC18F88-A943-5526-EF2C-110A83ABF309}"/>
                  </a:ext>
                </a:extLst>
              </p:cNvPr>
              <p:cNvSpPr txBox="1"/>
              <p:nvPr/>
            </p:nvSpPr>
            <p:spPr>
              <a:xfrm>
                <a:off x="95022" y="5131481"/>
                <a:ext cx="4119269" cy="334772"/>
              </a:xfrm>
              <a:prstGeom prst="rect">
                <a:avLst/>
              </a:prstGeom>
              <a:solidFill>
                <a:srgbClr val="FF0000">
                  <a:alpha val="8000"/>
                </a:srgbClr>
              </a:solidFill>
              <a:ln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𝑝𝑟𝑒𝑓𝑖𝑙𝑙</m:t>
                          </m:r>
                        </m:sub>
                      </m:sSub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800" i="1">
                          <a:latin typeface="Cambria Math" panose="02040503050406030204" pitchFamily="18" charset="0"/>
                        </a:rPr>
                        <m:t>𝑚𝑎𝑥</m:t>
                      </m:r>
                      <m:d>
                        <m:dPr>
                          <m:ctrlPr>
                            <a:rPr lang="en-US" sz="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sz="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r>
                                    <a:rPr lang="en-US" sz="8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r>
                                    <a:rPr lang="en-US" sz="8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𝑀</m:t>
                                  </m:r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</m:d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sz="8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4×</m:t>
                                  </m:r>
                                  <m:r>
                                    <a:rPr lang="en-US" sz="8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d>
                                    <m:dPr>
                                      <m:ctrlPr>
                                        <a:rPr lang="en-US" sz="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num>
                                        <m:den>
                                          <m:r>
                                            <a:rPr lang="en-US" sz="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𝑃𝑃</m:t>
                                          </m:r>
                                        </m:den>
                                      </m:f>
                                    </m:e>
                                  </m:d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b>
                                    <m:sSubPr>
                                      <m:ctrlPr>
                                        <a:rPr lang="en-US" sz="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sz="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𝑚𝑜𝑑𝑒𝑙</m:t>
                                      </m:r>
                                    </m:sub>
                                  </m:s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p>
                                    <m:sSupPr>
                                      <m:ctrlPr>
                                        <a:rPr lang="en-US" sz="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8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  <m:sup>
                                      <m:r>
                                        <a:rPr lang="en-US" sz="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num>
                            <m:den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𝑃𝑃</m:t>
                              </m:r>
                              <m:r>
                                <a:rPr lang="en-US" sz="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𝑟𝑎𝑛𝑘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sz="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</m:d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𝐾𝑉</m:t>
                                  </m:r>
                                </m:e>
                                <m:sub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</a:rPr>
                                    <m:t>𝐺𝑄𝐴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80</m:t>
                              </m:r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𝑃𝑃</m:t>
                              </m:r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𝑀𝐵𝑊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𝑟𝑎𝑛𝑘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sz="8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96" name="TextBox 695">
                <a:extLst>
                  <a:ext uri="{FF2B5EF4-FFF2-40B4-BE49-F238E27FC236}">
                    <a16:creationId xmlns:a16="http://schemas.microsoft.com/office/drawing/2014/main" id="{FEC18F88-A943-5526-EF2C-110A83ABF3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22" y="5131481"/>
                <a:ext cx="4119269" cy="334772"/>
              </a:xfrm>
              <a:prstGeom prst="rect">
                <a:avLst/>
              </a:prstGeom>
              <a:blipFill>
                <a:blip r:embed="rId10"/>
                <a:stretch>
                  <a:fillRect b="-5263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0" name="Straight Connector 699">
            <a:extLst>
              <a:ext uri="{FF2B5EF4-FFF2-40B4-BE49-F238E27FC236}">
                <a16:creationId xmlns:a16="http://schemas.microsoft.com/office/drawing/2014/main" id="{65E24541-4BFF-5145-C122-0AC164A8E10B}"/>
              </a:ext>
            </a:extLst>
          </p:cNvPr>
          <p:cNvCxnSpPr>
            <a:cxnSpLocks/>
            <a:stCxn id="689" idx="3"/>
            <a:endCxn id="696" idx="3"/>
          </p:cNvCxnSpPr>
          <p:nvPr/>
        </p:nvCxnSpPr>
        <p:spPr>
          <a:xfrm flipH="1">
            <a:off x="4214291" y="2473423"/>
            <a:ext cx="808476" cy="282544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3" name="Straight Connector 702">
            <a:extLst>
              <a:ext uri="{FF2B5EF4-FFF2-40B4-BE49-F238E27FC236}">
                <a16:creationId xmlns:a16="http://schemas.microsoft.com/office/drawing/2014/main" id="{592BBDC2-EA4E-D416-6706-01B59BE9663C}"/>
              </a:ext>
            </a:extLst>
          </p:cNvPr>
          <p:cNvCxnSpPr>
            <a:cxnSpLocks/>
            <a:stCxn id="690" idx="3"/>
            <a:endCxn id="696" idx="3"/>
          </p:cNvCxnSpPr>
          <p:nvPr/>
        </p:nvCxnSpPr>
        <p:spPr>
          <a:xfrm flipH="1">
            <a:off x="4214291" y="1107407"/>
            <a:ext cx="816872" cy="41914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10" name="Speech Bubble: Rectangle with Corners Rounded 709">
                <a:extLst>
                  <a:ext uri="{FF2B5EF4-FFF2-40B4-BE49-F238E27FC236}">
                    <a16:creationId xmlns:a16="http://schemas.microsoft.com/office/drawing/2014/main" id="{2240D0D4-50FD-CBE5-016A-F8E93A48D30A}"/>
                  </a:ext>
                </a:extLst>
              </p:cNvPr>
              <p:cNvSpPr/>
              <p:nvPr/>
            </p:nvSpPr>
            <p:spPr>
              <a:xfrm>
                <a:off x="166580" y="4244848"/>
                <a:ext cx="1988076" cy="613101"/>
              </a:xfrm>
              <a:prstGeom prst="wedgeRoundRectCallout">
                <a:avLst>
                  <a:gd name="adj1" fmla="val -22841"/>
                  <a:gd name="adj2" fmla="val 88140"/>
                  <a:gd name="adj3" fmla="val 16667"/>
                </a:avLst>
              </a:prstGeom>
              <a:solidFill>
                <a:srgbClr val="FFFC8F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sz="800" b="1" dirty="0" err="1">
                    <a:solidFill>
                      <a:schemeClr val="tx1"/>
                    </a:solidFill>
                  </a:rPr>
                  <a:t>ComputeJob</a:t>
                </a:r>
                <a:r>
                  <a:rPr lang="en-US" sz="800" dirty="0" err="1">
                    <a:solidFill>
                      <a:schemeClr val="tx1"/>
                    </a:solidFill>
                  </a:rPr>
                  <a:t>s</a:t>
                </a:r>
                <a:r>
                  <a:rPr lang="en-US" sz="800" dirty="0">
                    <a:solidFill>
                      <a:schemeClr val="tx1"/>
                    </a:solidFill>
                  </a:rPr>
                  <a:t> that compute prefill activations and prefill shares are named </a:t>
                </a:r>
                <a:r>
                  <a:rPr lang="en-US" sz="800" b="1" dirty="0" err="1">
                    <a:solidFill>
                      <a:schemeClr val="tx1"/>
                    </a:solidFill>
                  </a:rPr>
                  <a:t>P_Rank</a:t>
                </a:r>
                <a:r>
                  <a:rPr lang="en-US" sz="800" b="1" dirty="0">
                    <a:solidFill>
                      <a:schemeClr val="tx1"/>
                    </a:solidFill>
                  </a:rPr>
                  <a:t>_</a:t>
                </a:r>
                <a:r>
                  <a:rPr lang="en-US" sz="800" dirty="0">
                    <a:solidFill>
                      <a:schemeClr val="tx1"/>
                    </a:solidFill>
                  </a:rPr>
                  <a:t>{</a:t>
                </a:r>
                <a:r>
                  <a:rPr lang="en-US" sz="800" dirty="0" err="1">
                    <a:solidFill>
                      <a:schemeClr val="tx1"/>
                    </a:solidFill>
                  </a:rPr>
                  <a:t>r_idx</a:t>
                </a:r>
                <a:r>
                  <a:rPr lang="en-US" sz="800" dirty="0">
                    <a:solidFill>
                      <a:schemeClr val="tx1"/>
                    </a:solidFill>
                  </a:rPr>
                  <a:t>}</a:t>
                </a:r>
                <a:r>
                  <a:rPr lang="en-US" sz="800" b="1" dirty="0">
                    <a:solidFill>
                      <a:schemeClr val="tx1"/>
                    </a:solidFill>
                  </a:rPr>
                  <a:t>_Chunk_</a:t>
                </a:r>
                <a:r>
                  <a:rPr lang="en-US" sz="800" dirty="0">
                    <a:solidFill>
                      <a:schemeClr val="tx1"/>
                    </a:solidFill>
                  </a:rPr>
                  <a:t>{</a:t>
                </a:r>
                <a:r>
                  <a:rPr lang="en-US" sz="800" dirty="0" err="1">
                    <a:solidFill>
                      <a:schemeClr val="tx1"/>
                    </a:solidFill>
                  </a:rPr>
                  <a:t>c_idx</a:t>
                </a:r>
                <a:r>
                  <a:rPr lang="en-US" sz="800" dirty="0">
                    <a:solidFill>
                      <a:schemeClr val="tx1"/>
                    </a:solidFill>
                  </a:rPr>
                  <a:t>} and have duration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𝒑𝒓𝒆𝒇𝒊𝒍𝒍</m:t>
                        </m:r>
                      </m:sub>
                    </m:sSub>
                  </m:oMath>
                </a14:m>
                <a:r>
                  <a:rPr lang="en-US" sz="800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710" name="Speech Bubble: Rectangle with Corners Rounded 709">
                <a:extLst>
                  <a:ext uri="{FF2B5EF4-FFF2-40B4-BE49-F238E27FC236}">
                    <a16:creationId xmlns:a16="http://schemas.microsoft.com/office/drawing/2014/main" id="{2240D0D4-50FD-CBE5-016A-F8E93A48D3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580" y="4244848"/>
                <a:ext cx="1988076" cy="613101"/>
              </a:xfrm>
              <a:prstGeom prst="wedgeRoundRectCallout">
                <a:avLst>
                  <a:gd name="adj1" fmla="val -22841"/>
                  <a:gd name="adj2" fmla="val 88140"/>
                  <a:gd name="adj3" fmla="val 16667"/>
                </a:avLst>
              </a:prstGeom>
              <a:blipFill>
                <a:blip r:embed="rId11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4" name="TextBox 713">
                <a:extLst>
                  <a:ext uri="{FF2B5EF4-FFF2-40B4-BE49-F238E27FC236}">
                    <a16:creationId xmlns:a16="http://schemas.microsoft.com/office/drawing/2014/main" id="{B34F7178-0CB8-62D5-EE89-72EF30D4A501}"/>
                  </a:ext>
                </a:extLst>
              </p:cNvPr>
              <p:cNvSpPr txBox="1"/>
              <p:nvPr/>
            </p:nvSpPr>
            <p:spPr>
              <a:xfrm>
                <a:off x="8241635" y="5434784"/>
                <a:ext cx="3830792" cy="334772"/>
              </a:xfrm>
              <a:prstGeom prst="rect">
                <a:avLst/>
              </a:prstGeom>
              <a:solidFill>
                <a:srgbClr val="0070C0">
                  <a:alpha val="8000"/>
                </a:srgbClr>
              </a:solidFill>
              <a:ln>
                <a:solidFill>
                  <a:srgbClr val="0070C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𝑑𝑒𝑐𝑜𝑑𝑒</m:t>
                          </m:r>
                        </m:sub>
                      </m:sSub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r>
                                    <a:rPr lang="en-US" sz="8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</m:d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d>
                                    <m:dPr>
                                      <m:ctrlPr>
                                        <a:rPr lang="en-US" sz="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num>
                                        <m:den>
                                          <m:r>
                                            <a:rPr lang="en-US" sz="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𝑃𝑃</m:t>
                                          </m:r>
                                        </m:den>
                                      </m:f>
                                    </m:e>
                                  </m:d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b>
                                    <m:sSubPr>
                                      <m:ctrlPr>
                                        <a:rPr lang="en-US" sz="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sz="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𝑚𝑜𝑑𝑒𝑙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sz="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𝑃𝑃</m:t>
                                  </m:r>
                                  <m:r>
                                    <a:rPr lang="en-US" sz="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r>
                                    <a:rPr lang="en-US" sz="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𝑟𝑎𝑛𝑘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𝐾𝑉</m:t>
                                  </m:r>
                                </m:e>
                                <m:sub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𝐺𝑄𝐴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0.80</m:t>
                                  </m:r>
                                  <m:r>
                                    <a:rPr lang="en-US" sz="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r>
                                    <a:rPr lang="en-US" sz="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𝑃𝑃</m:t>
                                  </m:r>
                                  <m:r>
                                    <a:rPr lang="en-US" sz="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r>
                                    <a:rPr lang="en-US" sz="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𝑀𝐵𝑊</m:t>
                                  </m:r>
                                </m:e>
                                <m:sub>
                                  <m:r>
                                    <a:rPr lang="en-US" sz="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𝑟𝑎𝑛𝑘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sz="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14" name="TextBox 713">
                <a:extLst>
                  <a:ext uri="{FF2B5EF4-FFF2-40B4-BE49-F238E27FC236}">
                    <a16:creationId xmlns:a16="http://schemas.microsoft.com/office/drawing/2014/main" id="{B34F7178-0CB8-62D5-EE89-72EF30D4A5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1635" y="5434784"/>
                <a:ext cx="3830792" cy="334772"/>
              </a:xfrm>
              <a:prstGeom prst="rect">
                <a:avLst/>
              </a:prstGeom>
              <a:blipFill>
                <a:blip r:embed="rId12"/>
                <a:stretch>
                  <a:fillRect b="-7143"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15" name="Straight Connector 714">
            <a:extLst>
              <a:ext uri="{FF2B5EF4-FFF2-40B4-BE49-F238E27FC236}">
                <a16:creationId xmlns:a16="http://schemas.microsoft.com/office/drawing/2014/main" id="{254B6230-6A24-36E4-54A9-98D9E944579B}"/>
              </a:ext>
            </a:extLst>
          </p:cNvPr>
          <p:cNvCxnSpPr>
            <a:cxnSpLocks/>
            <a:stCxn id="687" idx="5"/>
            <a:endCxn id="714" idx="0"/>
          </p:cNvCxnSpPr>
          <p:nvPr/>
        </p:nvCxnSpPr>
        <p:spPr>
          <a:xfrm>
            <a:off x="8759742" y="5105517"/>
            <a:ext cx="1397289" cy="32926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4" name="Straight Connector 723">
            <a:extLst>
              <a:ext uri="{FF2B5EF4-FFF2-40B4-BE49-F238E27FC236}">
                <a16:creationId xmlns:a16="http://schemas.microsoft.com/office/drawing/2014/main" id="{7AA09D34-4EBA-77DD-C88A-53E54DAA9AA6}"/>
              </a:ext>
            </a:extLst>
          </p:cNvPr>
          <p:cNvCxnSpPr>
            <a:cxnSpLocks/>
            <a:stCxn id="727" idx="3"/>
            <a:endCxn id="714" idx="0"/>
          </p:cNvCxnSpPr>
          <p:nvPr/>
        </p:nvCxnSpPr>
        <p:spPr>
          <a:xfrm>
            <a:off x="8688447" y="3862409"/>
            <a:ext cx="1468584" cy="15723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7" name="Isosceles Triangle 726">
            <a:extLst>
              <a:ext uri="{FF2B5EF4-FFF2-40B4-BE49-F238E27FC236}">
                <a16:creationId xmlns:a16="http://schemas.microsoft.com/office/drawing/2014/main" id="{20051997-0AE2-0B40-861D-2659527DEFE0}"/>
              </a:ext>
            </a:extLst>
          </p:cNvPr>
          <p:cNvSpPr/>
          <p:nvPr/>
        </p:nvSpPr>
        <p:spPr>
          <a:xfrm>
            <a:off x="8545128" y="3615307"/>
            <a:ext cx="286638" cy="247102"/>
          </a:xfrm>
          <a:prstGeom prst="triangle">
            <a:avLst/>
          </a:prstGeom>
          <a:solidFill>
            <a:schemeClr val="accent4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28" name="Isosceles Triangle 727">
            <a:extLst>
              <a:ext uri="{FF2B5EF4-FFF2-40B4-BE49-F238E27FC236}">
                <a16:creationId xmlns:a16="http://schemas.microsoft.com/office/drawing/2014/main" id="{FF22BABE-62B8-573A-F515-B81A3C012A83}"/>
              </a:ext>
            </a:extLst>
          </p:cNvPr>
          <p:cNvSpPr/>
          <p:nvPr/>
        </p:nvSpPr>
        <p:spPr>
          <a:xfrm>
            <a:off x="8547475" y="2236327"/>
            <a:ext cx="286638" cy="247102"/>
          </a:xfrm>
          <a:prstGeom prst="triangle">
            <a:avLst/>
          </a:prstGeom>
          <a:solidFill>
            <a:schemeClr val="accent4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29" name="Isosceles Triangle 728">
            <a:extLst>
              <a:ext uri="{FF2B5EF4-FFF2-40B4-BE49-F238E27FC236}">
                <a16:creationId xmlns:a16="http://schemas.microsoft.com/office/drawing/2014/main" id="{0934D11E-412C-0FF2-F303-B0EC9C20B3FD}"/>
              </a:ext>
            </a:extLst>
          </p:cNvPr>
          <p:cNvSpPr/>
          <p:nvPr/>
        </p:nvSpPr>
        <p:spPr>
          <a:xfrm>
            <a:off x="8547475" y="875010"/>
            <a:ext cx="286638" cy="247102"/>
          </a:xfrm>
          <a:prstGeom prst="triangle">
            <a:avLst/>
          </a:prstGeom>
          <a:solidFill>
            <a:schemeClr val="accent4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734" name="Straight Connector 733">
            <a:extLst>
              <a:ext uri="{FF2B5EF4-FFF2-40B4-BE49-F238E27FC236}">
                <a16:creationId xmlns:a16="http://schemas.microsoft.com/office/drawing/2014/main" id="{BAD83161-EDBF-CD42-4D78-685E0BC4F66E}"/>
              </a:ext>
            </a:extLst>
          </p:cNvPr>
          <p:cNvCxnSpPr>
            <a:cxnSpLocks/>
            <a:stCxn id="728" idx="3"/>
            <a:endCxn id="714" idx="0"/>
          </p:cNvCxnSpPr>
          <p:nvPr/>
        </p:nvCxnSpPr>
        <p:spPr>
          <a:xfrm>
            <a:off x="8690794" y="2483429"/>
            <a:ext cx="1466237" cy="29513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7" name="Straight Connector 736">
            <a:extLst>
              <a:ext uri="{FF2B5EF4-FFF2-40B4-BE49-F238E27FC236}">
                <a16:creationId xmlns:a16="http://schemas.microsoft.com/office/drawing/2014/main" id="{9F1CF1F3-1B36-19D1-FAF4-57D5AE478D00}"/>
              </a:ext>
            </a:extLst>
          </p:cNvPr>
          <p:cNvCxnSpPr>
            <a:cxnSpLocks/>
            <a:stCxn id="729" idx="3"/>
            <a:endCxn id="714" idx="0"/>
          </p:cNvCxnSpPr>
          <p:nvPr/>
        </p:nvCxnSpPr>
        <p:spPr>
          <a:xfrm>
            <a:off x="8690794" y="1122112"/>
            <a:ext cx="1466237" cy="43126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51" name="Speech Bubble: Rectangle with Corners Rounded 750">
                <a:extLst>
                  <a:ext uri="{FF2B5EF4-FFF2-40B4-BE49-F238E27FC236}">
                    <a16:creationId xmlns:a16="http://schemas.microsoft.com/office/drawing/2014/main" id="{491A4EC8-E648-4B6A-1894-A53638A3BB8B}"/>
                  </a:ext>
                </a:extLst>
              </p:cNvPr>
              <p:cNvSpPr/>
              <p:nvPr/>
            </p:nvSpPr>
            <p:spPr>
              <a:xfrm>
                <a:off x="10194740" y="4610729"/>
                <a:ext cx="1937463" cy="503865"/>
              </a:xfrm>
              <a:prstGeom prst="wedgeRoundRectCallout">
                <a:avLst>
                  <a:gd name="adj1" fmla="val -19209"/>
                  <a:gd name="adj2" fmla="val 113313"/>
                  <a:gd name="adj3" fmla="val 16667"/>
                </a:avLst>
              </a:prstGeom>
              <a:solidFill>
                <a:srgbClr val="FFFC8F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sz="800" b="1" dirty="0" err="1">
                    <a:solidFill>
                      <a:schemeClr val="tx1"/>
                    </a:solidFill>
                  </a:rPr>
                  <a:t>ComputeJob</a:t>
                </a:r>
                <a:r>
                  <a:rPr lang="en-US" sz="800" dirty="0" err="1">
                    <a:solidFill>
                      <a:schemeClr val="tx1"/>
                    </a:solidFill>
                  </a:rPr>
                  <a:t>s</a:t>
                </a:r>
                <a:r>
                  <a:rPr lang="en-US" sz="800" dirty="0">
                    <a:solidFill>
                      <a:schemeClr val="tx1"/>
                    </a:solidFill>
                  </a:rPr>
                  <a:t> that perform decoding are named </a:t>
                </a:r>
                <a:r>
                  <a:rPr lang="en-US" sz="800" b="1" dirty="0" err="1">
                    <a:solidFill>
                      <a:schemeClr val="tx1"/>
                    </a:solidFill>
                  </a:rPr>
                  <a:t>D_Rank</a:t>
                </a:r>
                <a:r>
                  <a:rPr lang="en-US" sz="800" b="1" dirty="0">
                    <a:solidFill>
                      <a:schemeClr val="tx1"/>
                    </a:solidFill>
                  </a:rPr>
                  <a:t>_</a:t>
                </a:r>
                <a:r>
                  <a:rPr lang="en-US" sz="800" dirty="0">
                    <a:solidFill>
                      <a:schemeClr val="tx1"/>
                    </a:solidFill>
                  </a:rPr>
                  <a:t>{</a:t>
                </a:r>
                <a:r>
                  <a:rPr lang="en-US" sz="800" dirty="0" err="1">
                    <a:solidFill>
                      <a:schemeClr val="tx1"/>
                    </a:solidFill>
                  </a:rPr>
                  <a:t>r_idx</a:t>
                </a:r>
                <a:r>
                  <a:rPr lang="en-US" sz="800" dirty="0">
                    <a:solidFill>
                      <a:schemeClr val="tx1"/>
                    </a:solidFill>
                  </a:rPr>
                  <a:t>}</a:t>
                </a:r>
                <a:r>
                  <a:rPr lang="en-US" sz="800" b="1" dirty="0">
                    <a:solidFill>
                      <a:schemeClr val="tx1"/>
                    </a:solidFill>
                  </a:rPr>
                  <a:t>_Chunk_</a:t>
                </a:r>
                <a:r>
                  <a:rPr lang="en-US" sz="800" dirty="0">
                    <a:solidFill>
                      <a:schemeClr val="tx1"/>
                    </a:solidFill>
                  </a:rPr>
                  <a:t>{</a:t>
                </a:r>
                <a:r>
                  <a:rPr lang="en-US" sz="800" dirty="0" err="1">
                    <a:solidFill>
                      <a:schemeClr val="tx1"/>
                    </a:solidFill>
                  </a:rPr>
                  <a:t>c_idx</a:t>
                </a:r>
                <a:r>
                  <a:rPr lang="en-US" sz="800" dirty="0">
                    <a:solidFill>
                      <a:schemeClr val="tx1"/>
                    </a:solidFill>
                  </a:rPr>
                  <a:t>} and have duration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𝒑𝒓𝒆𝒇𝒊𝒍𝒍</m:t>
                        </m:r>
                      </m:sub>
                    </m:sSub>
                  </m:oMath>
                </a14:m>
                <a:r>
                  <a:rPr lang="en-US" sz="800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751" name="Speech Bubble: Rectangle with Corners Rounded 750">
                <a:extLst>
                  <a:ext uri="{FF2B5EF4-FFF2-40B4-BE49-F238E27FC236}">
                    <a16:creationId xmlns:a16="http://schemas.microsoft.com/office/drawing/2014/main" id="{491A4EC8-E648-4B6A-1894-A53638A3BB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4740" y="4610729"/>
                <a:ext cx="1937463" cy="503865"/>
              </a:xfrm>
              <a:prstGeom prst="wedgeRoundRectCallout">
                <a:avLst>
                  <a:gd name="adj1" fmla="val -19209"/>
                  <a:gd name="adj2" fmla="val 113313"/>
                  <a:gd name="adj3" fmla="val 16667"/>
                </a:avLst>
              </a:prstGeom>
              <a:blipFill>
                <a:blip r:embed="rId13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996A4F06-3B82-9D8E-E0E8-C8430C3857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05404301"/>
                  </p:ext>
                </p:extLst>
              </p:nvPr>
            </p:nvGraphicFramePr>
            <p:xfrm>
              <a:off x="9107030" y="492874"/>
              <a:ext cx="2978265" cy="120762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61719">
                      <a:extLst>
                        <a:ext uri="{9D8B030D-6E8A-4147-A177-3AD203B41FA5}">
                          <a16:colId xmlns:a16="http://schemas.microsoft.com/office/drawing/2014/main" val="1257277730"/>
                        </a:ext>
                      </a:extLst>
                    </a:gridCol>
                    <a:gridCol w="957641">
                      <a:extLst>
                        <a:ext uri="{9D8B030D-6E8A-4147-A177-3AD203B41FA5}">
                          <a16:colId xmlns:a16="http://schemas.microsoft.com/office/drawing/2014/main" val="3979101306"/>
                        </a:ext>
                      </a:extLst>
                    </a:gridCol>
                    <a:gridCol w="958905">
                      <a:extLst>
                        <a:ext uri="{9D8B030D-6E8A-4147-A177-3AD203B41FA5}">
                          <a16:colId xmlns:a16="http://schemas.microsoft.com/office/drawing/2014/main" val="1569618419"/>
                        </a:ext>
                      </a:extLst>
                    </a:gridCol>
                  </a:tblGrid>
                  <a:tr h="201789">
                    <a:tc>
                      <a:txBody>
                        <a:bodyPr/>
                        <a:lstStyle/>
                        <a:p>
                          <a:r>
                            <a:rPr lang="en-US" sz="700" dirty="0"/>
                            <a:t>GPU Attribute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RTX PRO 6000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H100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250792"/>
                      </a:ext>
                    </a:extLst>
                  </a:tr>
                  <a:tr h="201789">
                    <a:tc>
                      <a:txBody>
                        <a:bodyPr/>
                        <a:lstStyle/>
                        <a:p>
                          <a:r>
                            <a:rPr lang="en-US" sz="800" dirty="0">
                              <a:solidFill>
                                <a:schemeClr val="tx1"/>
                              </a:solidFill>
                            </a:rPr>
                            <a:t>VRAM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96,000,000,000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80,000,000,000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07107711"/>
                      </a:ext>
                    </a:extLst>
                  </a:tr>
                  <a:tr h="20178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oMath>
                          </a14:m>
                          <a:r>
                            <a:rPr lang="en-US" sz="800" dirty="0">
                              <a:solidFill>
                                <a:schemeClr val="tx1"/>
                              </a:solidFill>
                            </a:rPr>
                            <a:t> – GPU FLOPS/sec (FP16 Tensor)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/>
                            <a:t>440,000,000,000,000</a:t>
                          </a:r>
                          <a:endParaRPr lang="en-US" sz="7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989,000,000,000,000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30259927"/>
                      </a:ext>
                    </a:extLst>
                  </a:tr>
                  <a:tr h="20178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800" i="1" smtClean="0">
                                  <a:latin typeface="Cambria Math" panose="02040503050406030204" pitchFamily="18" charset="0"/>
                                </a:rPr>
                                <m:t>𝑀𝐵𝑊</m:t>
                              </m:r>
                            </m:oMath>
                          </a14:m>
                          <a:r>
                            <a:rPr lang="en-US" sz="800" dirty="0">
                              <a:solidFill>
                                <a:schemeClr val="tx1"/>
                              </a:solidFill>
                            </a:rPr>
                            <a:t> – GPU VRAM bandwidth</a:t>
                          </a:r>
                        </a:p>
                        <a:p>
                          <a:endParaRPr lang="en-US" sz="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700" dirty="0"/>
                            <a:t>1,694,500,000,000</a:t>
                          </a:r>
                        </a:p>
                        <a:p>
                          <a:pPr algn="ctr"/>
                          <a:endParaRPr lang="en-US" sz="7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3,350,000,000,000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195388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996A4F06-3B82-9D8E-E0E8-C8430C3857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05404301"/>
                  </p:ext>
                </p:extLst>
              </p:nvPr>
            </p:nvGraphicFramePr>
            <p:xfrm>
              <a:off x="9107030" y="492874"/>
              <a:ext cx="2978265" cy="120762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61719">
                      <a:extLst>
                        <a:ext uri="{9D8B030D-6E8A-4147-A177-3AD203B41FA5}">
                          <a16:colId xmlns:a16="http://schemas.microsoft.com/office/drawing/2014/main" val="1257277730"/>
                        </a:ext>
                      </a:extLst>
                    </a:gridCol>
                    <a:gridCol w="957641">
                      <a:extLst>
                        <a:ext uri="{9D8B030D-6E8A-4147-A177-3AD203B41FA5}">
                          <a16:colId xmlns:a16="http://schemas.microsoft.com/office/drawing/2014/main" val="3979101306"/>
                        </a:ext>
                      </a:extLst>
                    </a:gridCol>
                    <a:gridCol w="958905">
                      <a:extLst>
                        <a:ext uri="{9D8B030D-6E8A-4147-A177-3AD203B41FA5}">
                          <a16:colId xmlns:a16="http://schemas.microsoft.com/office/drawing/2014/main" val="1569618419"/>
                        </a:ext>
                      </a:extLst>
                    </a:gridCol>
                  </a:tblGrid>
                  <a:tr h="201789">
                    <a:tc>
                      <a:txBody>
                        <a:bodyPr/>
                        <a:lstStyle/>
                        <a:p>
                          <a:r>
                            <a:rPr lang="en-US" sz="700" dirty="0"/>
                            <a:t>GPU Attribute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RTX PRO 6000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H100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250792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r>
                            <a:rPr lang="en-US" sz="800" dirty="0">
                              <a:solidFill>
                                <a:schemeClr val="tx1"/>
                              </a:solidFill>
                            </a:rPr>
                            <a:t>VRAM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96,000,000,000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80,000,000,000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07107711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4"/>
                          <a:stretch>
                            <a:fillRect l="-571" t="-123214" r="-182286" b="-139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/>
                            <a:t>440,000,000,000,000</a:t>
                          </a:r>
                          <a:endParaRPr lang="en-US" sz="7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989,000,000,000,000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3025992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4"/>
                          <a:stretch>
                            <a:fillRect l="-571" t="-166667" r="-182286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700" dirty="0"/>
                            <a:t>1,694,500,000,000</a:t>
                          </a:r>
                        </a:p>
                        <a:p>
                          <a:pPr algn="ctr"/>
                          <a:endParaRPr lang="en-US" sz="7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3,350,000,000,000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195388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Left Brace 5">
            <a:extLst>
              <a:ext uri="{FF2B5EF4-FFF2-40B4-BE49-F238E27FC236}">
                <a16:creationId xmlns:a16="http://schemas.microsoft.com/office/drawing/2014/main" id="{982CA05E-14E5-1A6D-C11E-16B68727B987}"/>
              </a:ext>
            </a:extLst>
          </p:cNvPr>
          <p:cNvSpPr/>
          <p:nvPr/>
        </p:nvSpPr>
        <p:spPr>
          <a:xfrm rot="16200000">
            <a:off x="9872951" y="5314408"/>
            <a:ext cx="131219" cy="1906560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9ED64A51-6490-9917-1EE1-252BCB481937}"/>
              </a:ext>
            </a:extLst>
          </p:cNvPr>
          <p:cNvSpPr/>
          <p:nvPr/>
        </p:nvSpPr>
        <p:spPr>
          <a:xfrm rot="16200000">
            <a:off x="11427416" y="5752033"/>
            <a:ext cx="127335" cy="1017524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16A123-4610-A255-959A-82AFB4232CCB}"/>
              </a:ext>
            </a:extLst>
          </p:cNvPr>
          <p:cNvSpPr txBox="1"/>
          <p:nvPr/>
        </p:nvSpPr>
        <p:spPr>
          <a:xfrm>
            <a:off x="9480589" y="6324463"/>
            <a:ext cx="9196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Compute time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4D6293-BEB2-8F52-DE39-4B2AB59BEC46}"/>
              </a:ext>
            </a:extLst>
          </p:cNvPr>
          <p:cNvSpPr txBox="1"/>
          <p:nvPr/>
        </p:nvSpPr>
        <p:spPr>
          <a:xfrm>
            <a:off x="11069214" y="6312071"/>
            <a:ext cx="8531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Memory wall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0589AF1A-484C-42AC-6FBA-EA7D4713F04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89872344"/>
                  </p:ext>
                </p:extLst>
              </p:nvPr>
            </p:nvGraphicFramePr>
            <p:xfrm>
              <a:off x="98251" y="1580843"/>
              <a:ext cx="1988834" cy="255827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22430">
                      <a:extLst>
                        <a:ext uri="{9D8B030D-6E8A-4147-A177-3AD203B41FA5}">
                          <a16:colId xmlns:a16="http://schemas.microsoft.com/office/drawing/2014/main" val="1257277730"/>
                        </a:ext>
                      </a:extLst>
                    </a:gridCol>
                    <a:gridCol w="866404">
                      <a:extLst>
                        <a:ext uri="{9D8B030D-6E8A-4147-A177-3AD203B41FA5}">
                          <a16:colId xmlns:a16="http://schemas.microsoft.com/office/drawing/2014/main" val="3979101306"/>
                        </a:ext>
                      </a:extLst>
                    </a:gridCol>
                  </a:tblGrid>
                  <a:tr h="201789">
                    <a:tc>
                      <a:txBody>
                        <a:bodyPr/>
                        <a:lstStyle/>
                        <a:p>
                          <a:r>
                            <a:rPr lang="en-US" sz="700" dirty="0"/>
                            <a:t>Attribute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LLaMA-3.1-70B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250792"/>
                      </a:ext>
                    </a:extLst>
                  </a:tr>
                  <a:tr h="201789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oMath>
                          </a14:m>
                          <a:r>
                            <a:rPr lang="en-US" sz="800" dirty="0">
                              <a:solidFill>
                                <a:schemeClr val="tx1"/>
                              </a:solidFill>
                            </a:rPr>
                            <a:t> – total size of weights</a:t>
                          </a:r>
                          <a:endParaRPr lang="en-US" sz="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70,554,470,400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3872745"/>
                      </a:ext>
                    </a:extLst>
                  </a:tr>
                  <a:tr h="201789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oMath>
                          </a14:m>
                          <a:r>
                            <a:rPr lang="en-US" sz="800" dirty="0">
                              <a:solidFill>
                                <a:schemeClr val="tx1"/>
                              </a:solidFill>
                            </a:rPr>
                            <a:t> – number of transformer layers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80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10510932"/>
                      </a:ext>
                    </a:extLst>
                  </a:tr>
                  <a:tr h="201789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𝑚𝑜𝑑𝑒𝑙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800" dirty="0">
                              <a:solidFill>
                                <a:schemeClr val="tx1"/>
                              </a:solidFill>
                            </a:rPr>
                            <a:t> – model hidden size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1638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05926548"/>
                      </a:ext>
                    </a:extLst>
                  </a:tr>
                  <a:tr h="201789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oMath>
                          </a14:m>
                          <a:r>
                            <a:rPr lang="en-US" sz="800" dirty="0">
                              <a:solidFill>
                                <a:schemeClr val="tx1"/>
                              </a:solidFill>
                            </a:rPr>
                            <a:t> – bytes per element (2 for FP16, 1 for FP8)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4527576"/>
                      </a:ext>
                    </a:extLst>
                  </a:tr>
                  <a:tr h="201789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𝑘𝑣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800" dirty="0">
                              <a:solidFill>
                                <a:schemeClr val="tx1"/>
                              </a:solidFill>
                            </a:rPr>
                            <a:t> – number of KV heads (for GQA)</a:t>
                          </a:r>
                          <a:endParaRPr lang="en-US" sz="7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30259927"/>
                      </a:ext>
                    </a:extLst>
                  </a:tr>
                  <a:tr h="201789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800" dirty="0">
                              <a:solidFill>
                                <a:schemeClr val="tx1"/>
                              </a:solidFill>
                            </a:rPr>
                            <a:t> – number of Q heads (for GQA)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64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14554979"/>
                      </a:ext>
                    </a:extLst>
                  </a:tr>
                  <a:tr h="201789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sz="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𝑙𝑎𝑡𝑒𝑛𝑡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800" dirty="0">
                              <a:solidFill>
                                <a:schemeClr val="tx1"/>
                              </a:solidFill>
                            </a:rPr>
                            <a:t> – latent dimension (for MLA)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N/A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195388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0589AF1A-484C-42AC-6FBA-EA7D4713F04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89872344"/>
                  </p:ext>
                </p:extLst>
              </p:nvPr>
            </p:nvGraphicFramePr>
            <p:xfrm>
              <a:off x="98251" y="1580843"/>
              <a:ext cx="1988834" cy="255827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22430">
                      <a:extLst>
                        <a:ext uri="{9D8B030D-6E8A-4147-A177-3AD203B41FA5}">
                          <a16:colId xmlns:a16="http://schemas.microsoft.com/office/drawing/2014/main" val="1257277730"/>
                        </a:ext>
                      </a:extLst>
                    </a:gridCol>
                    <a:gridCol w="866404">
                      <a:extLst>
                        <a:ext uri="{9D8B030D-6E8A-4147-A177-3AD203B41FA5}">
                          <a16:colId xmlns:a16="http://schemas.microsoft.com/office/drawing/2014/main" val="3979101306"/>
                        </a:ext>
                      </a:extLst>
                    </a:gridCol>
                  </a:tblGrid>
                  <a:tr h="201789">
                    <a:tc>
                      <a:txBody>
                        <a:bodyPr/>
                        <a:lstStyle/>
                        <a:p>
                          <a:r>
                            <a:rPr lang="en-US" sz="700" dirty="0"/>
                            <a:t>Attribute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LLaMA-3.1-70B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250792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5"/>
                          <a:stretch>
                            <a:fillRect l="-541" t="-61818" r="-78919" b="-6109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70,554,470,400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3872745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5"/>
                          <a:stretch>
                            <a:fillRect l="-541" t="-161818" r="-78919" b="-5109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80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10510932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5"/>
                          <a:stretch>
                            <a:fillRect l="-541" t="-261818" r="-78919" b="-4109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1638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05926548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5"/>
                          <a:stretch>
                            <a:fillRect l="-541" t="-361818" r="-78919" b="-3109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4527576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5"/>
                          <a:stretch>
                            <a:fillRect l="-541" t="-461818" r="-78919" b="-2109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30259927"/>
                      </a:ext>
                    </a:extLst>
                  </a:tr>
                  <a:tr h="34480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5"/>
                          <a:stretch>
                            <a:fillRect l="-541" t="-542105" r="-78919" b="-1035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64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14554979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5"/>
                          <a:stretch>
                            <a:fillRect l="-541" t="-665455" r="-78919" b="-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N/A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195388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Left Brace 10">
            <a:extLst>
              <a:ext uri="{FF2B5EF4-FFF2-40B4-BE49-F238E27FC236}">
                <a16:creationId xmlns:a16="http://schemas.microsoft.com/office/drawing/2014/main" id="{FE913343-26CD-982F-C80C-86F39C657CBE}"/>
              </a:ext>
            </a:extLst>
          </p:cNvPr>
          <p:cNvSpPr/>
          <p:nvPr/>
        </p:nvSpPr>
        <p:spPr>
          <a:xfrm rot="16200000">
            <a:off x="9182690" y="5630567"/>
            <a:ext cx="127335" cy="553426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E2C57B-5EBA-DC07-0D96-2F5DD210B38D}"/>
              </a:ext>
            </a:extLst>
          </p:cNvPr>
          <p:cNvSpPr txBox="1"/>
          <p:nvPr/>
        </p:nvSpPr>
        <p:spPr>
          <a:xfrm>
            <a:off x="8875404" y="5958556"/>
            <a:ext cx="7512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Linear</a:t>
            </a:r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BE1AAC9D-8296-D179-954E-653624745E32}"/>
              </a:ext>
            </a:extLst>
          </p:cNvPr>
          <p:cNvSpPr/>
          <p:nvPr/>
        </p:nvSpPr>
        <p:spPr>
          <a:xfrm rot="16200000">
            <a:off x="10257356" y="5310143"/>
            <a:ext cx="127335" cy="1194274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CDE6FD-DA93-A582-6E04-EAC8A4987647}"/>
              </a:ext>
            </a:extLst>
          </p:cNvPr>
          <p:cNvSpPr txBox="1"/>
          <p:nvPr/>
        </p:nvSpPr>
        <p:spPr>
          <a:xfrm>
            <a:off x="9852168" y="5958556"/>
            <a:ext cx="94708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Attention</a:t>
            </a:r>
          </a:p>
        </p:txBody>
      </p:sp>
      <p:sp>
        <p:nvSpPr>
          <p:cNvPr id="42" name="Left Brace 41">
            <a:extLst>
              <a:ext uri="{FF2B5EF4-FFF2-40B4-BE49-F238E27FC236}">
                <a16:creationId xmlns:a16="http://schemas.microsoft.com/office/drawing/2014/main" id="{08649E7A-E7C7-C443-EB82-E45AF30AB86B}"/>
              </a:ext>
            </a:extLst>
          </p:cNvPr>
          <p:cNvSpPr/>
          <p:nvPr/>
        </p:nvSpPr>
        <p:spPr>
          <a:xfrm rot="16200000">
            <a:off x="1990344" y="4978822"/>
            <a:ext cx="131219" cy="1906560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Left Brace 42">
            <a:extLst>
              <a:ext uri="{FF2B5EF4-FFF2-40B4-BE49-F238E27FC236}">
                <a16:creationId xmlns:a16="http://schemas.microsoft.com/office/drawing/2014/main" id="{61BDFA84-D9E8-E6D4-9E47-4ABA03E5BAD1}"/>
              </a:ext>
            </a:extLst>
          </p:cNvPr>
          <p:cNvSpPr/>
          <p:nvPr/>
        </p:nvSpPr>
        <p:spPr>
          <a:xfrm rot="16200000">
            <a:off x="3544809" y="5416447"/>
            <a:ext cx="127335" cy="1017524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E9C57DA-9641-9453-3319-01DFC915EFFC}"/>
              </a:ext>
            </a:extLst>
          </p:cNvPr>
          <p:cNvSpPr txBox="1"/>
          <p:nvPr/>
        </p:nvSpPr>
        <p:spPr>
          <a:xfrm>
            <a:off x="1597982" y="5988877"/>
            <a:ext cx="9196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Compute time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D3FDDBF-0CCE-E86B-A9F7-D29CC93F3E1C}"/>
              </a:ext>
            </a:extLst>
          </p:cNvPr>
          <p:cNvSpPr txBox="1"/>
          <p:nvPr/>
        </p:nvSpPr>
        <p:spPr>
          <a:xfrm>
            <a:off x="3186607" y="5976485"/>
            <a:ext cx="8531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Memory wall</a:t>
            </a:r>
          </a:p>
        </p:txBody>
      </p:sp>
      <p:sp>
        <p:nvSpPr>
          <p:cNvPr id="46" name="Left Brace 45">
            <a:extLst>
              <a:ext uri="{FF2B5EF4-FFF2-40B4-BE49-F238E27FC236}">
                <a16:creationId xmlns:a16="http://schemas.microsoft.com/office/drawing/2014/main" id="{456BFCEA-6FC1-53A8-8B39-FDA073E4A365}"/>
              </a:ext>
            </a:extLst>
          </p:cNvPr>
          <p:cNvSpPr/>
          <p:nvPr/>
        </p:nvSpPr>
        <p:spPr>
          <a:xfrm rot="16200000">
            <a:off x="1153127" y="5221623"/>
            <a:ext cx="127335" cy="700142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2B2908A-F14A-12A6-9C43-CEA90FC29851}"/>
              </a:ext>
            </a:extLst>
          </p:cNvPr>
          <p:cNvSpPr txBox="1"/>
          <p:nvPr/>
        </p:nvSpPr>
        <p:spPr>
          <a:xfrm>
            <a:off x="947541" y="5622970"/>
            <a:ext cx="5478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Linear</a:t>
            </a:r>
          </a:p>
        </p:txBody>
      </p:sp>
      <p:sp>
        <p:nvSpPr>
          <p:cNvPr id="48" name="Left Brace 47">
            <a:extLst>
              <a:ext uri="{FF2B5EF4-FFF2-40B4-BE49-F238E27FC236}">
                <a16:creationId xmlns:a16="http://schemas.microsoft.com/office/drawing/2014/main" id="{E1F6474B-E8CF-2413-6798-A1378FF0F809}"/>
              </a:ext>
            </a:extLst>
          </p:cNvPr>
          <p:cNvSpPr/>
          <p:nvPr/>
        </p:nvSpPr>
        <p:spPr>
          <a:xfrm rot="16200000">
            <a:off x="2346269" y="4920928"/>
            <a:ext cx="127335" cy="1301532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A1CCB50-292B-C5B1-2396-7F6F85564928}"/>
              </a:ext>
            </a:extLst>
          </p:cNvPr>
          <p:cNvSpPr txBox="1"/>
          <p:nvPr/>
        </p:nvSpPr>
        <p:spPr>
          <a:xfrm>
            <a:off x="1941081" y="5622970"/>
            <a:ext cx="94708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Attention</a:t>
            </a:r>
          </a:p>
        </p:txBody>
      </p:sp>
    </p:spTree>
    <p:extLst>
      <p:ext uri="{BB962C8B-B14F-4D97-AF65-F5344CB8AC3E}">
        <p14:creationId xmlns:p14="http://schemas.microsoft.com/office/powerpoint/2010/main" val="1526135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38067-AFEA-494E-4D0A-46571746D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TextBox 1148">
            <a:extLst>
              <a:ext uri="{FF2B5EF4-FFF2-40B4-BE49-F238E27FC236}">
                <a16:creationId xmlns:a16="http://schemas.microsoft.com/office/drawing/2014/main" id="{A529D946-BB17-A281-3AC9-AECE54FD0717}"/>
              </a:ext>
            </a:extLst>
          </p:cNvPr>
          <p:cNvSpPr txBox="1"/>
          <p:nvPr/>
        </p:nvSpPr>
        <p:spPr>
          <a:xfrm>
            <a:off x="1858465" y="992320"/>
            <a:ext cx="51648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b="1" dirty="0">
                <a:solidFill>
                  <a:srgbClr val="FF0000"/>
                </a:solidFill>
              </a:rPr>
              <a:t>Prefill</a:t>
            </a:r>
          </a:p>
        </p:txBody>
      </p:sp>
      <p:sp>
        <p:nvSpPr>
          <p:cNvPr id="1150" name="Rectangle: Rounded Corners 1149">
            <a:extLst>
              <a:ext uri="{FF2B5EF4-FFF2-40B4-BE49-F238E27FC236}">
                <a16:creationId xmlns:a16="http://schemas.microsoft.com/office/drawing/2014/main" id="{DFD2FDB0-E835-AA70-BFE9-F70BB2A0DEBD}"/>
              </a:ext>
            </a:extLst>
          </p:cNvPr>
          <p:cNvSpPr/>
          <p:nvPr/>
        </p:nvSpPr>
        <p:spPr>
          <a:xfrm>
            <a:off x="1787625" y="1242030"/>
            <a:ext cx="669304" cy="4747158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51" name="Group 1150">
            <a:extLst>
              <a:ext uri="{FF2B5EF4-FFF2-40B4-BE49-F238E27FC236}">
                <a16:creationId xmlns:a16="http://schemas.microsoft.com/office/drawing/2014/main" id="{66AB506A-F347-3CAB-2AED-2C078CFAEE51}"/>
              </a:ext>
            </a:extLst>
          </p:cNvPr>
          <p:cNvGrpSpPr>
            <a:grpSpLocks noChangeAspect="1"/>
          </p:cNvGrpSpPr>
          <p:nvPr/>
        </p:nvGrpSpPr>
        <p:grpSpPr>
          <a:xfrm>
            <a:off x="1916546" y="5515675"/>
            <a:ext cx="411851" cy="351150"/>
            <a:chOff x="3251348" y="1795096"/>
            <a:chExt cx="3827633" cy="3263516"/>
          </a:xfrm>
        </p:grpSpPr>
        <p:sp>
          <p:nvSpPr>
            <p:cNvPr id="1152" name="Rectangle 1151">
              <a:extLst>
                <a:ext uri="{FF2B5EF4-FFF2-40B4-BE49-F238E27FC236}">
                  <a16:creationId xmlns:a16="http://schemas.microsoft.com/office/drawing/2014/main" id="{31B6A4D9-7CD0-B0CC-59AD-D8BD51EC94F3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53" name="Group 1152">
              <a:extLst>
                <a:ext uri="{FF2B5EF4-FFF2-40B4-BE49-F238E27FC236}">
                  <a16:creationId xmlns:a16="http://schemas.microsoft.com/office/drawing/2014/main" id="{A39FC11E-B970-66EF-139F-80E4E1DC24B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1154" name="Freeform: Shape 1153">
                <a:extLst>
                  <a:ext uri="{FF2B5EF4-FFF2-40B4-BE49-F238E27FC236}">
                    <a16:creationId xmlns:a16="http://schemas.microsoft.com/office/drawing/2014/main" id="{710FCA36-E3DD-F23D-6A9D-D850A74DABA8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155" name="Freeform: Shape 1154">
                <a:extLst>
                  <a:ext uri="{FF2B5EF4-FFF2-40B4-BE49-F238E27FC236}">
                    <a16:creationId xmlns:a16="http://schemas.microsoft.com/office/drawing/2014/main" id="{9931CF74-2AF3-171F-C521-2B3608A02BE2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1156" name="Rectangle: Rounded Corners 1155">
                <a:extLst>
                  <a:ext uri="{FF2B5EF4-FFF2-40B4-BE49-F238E27FC236}">
                    <a16:creationId xmlns:a16="http://schemas.microsoft.com/office/drawing/2014/main" id="{5B71917D-A21A-AFB8-C06E-BA99DF30A1F8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7" name="Rectangle: Rounded Corners 1156">
                <a:extLst>
                  <a:ext uri="{FF2B5EF4-FFF2-40B4-BE49-F238E27FC236}">
                    <a16:creationId xmlns:a16="http://schemas.microsoft.com/office/drawing/2014/main" id="{B0681936-BF88-0669-4527-846F83BAA6EA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8" name="Rectangle: Rounded Corners 1157">
                <a:extLst>
                  <a:ext uri="{FF2B5EF4-FFF2-40B4-BE49-F238E27FC236}">
                    <a16:creationId xmlns:a16="http://schemas.microsoft.com/office/drawing/2014/main" id="{EE8F1F41-2603-3DDB-8A11-793C1CA2DCFC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9" name="Rectangle: Rounded Corners 1158">
                <a:extLst>
                  <a:ext uri="{FF2B5EF4-FFF2-40B4-BE49-F238E27FC236}">
                    <a16:creationId xmlns:a16="http://schemas.microsoft.com/office/drawing/2014/main" id="{04A8542A-348D-CCAA-247B-742666D5DDDC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0" name="Rectangle: Rounded Corners 1159">
                <a:extLst>
                  <a:ext uri="{FF2B5EF4-FFF2-40B4-BE49-F238E27FC236}">
                    <a16:creationId xmlns:a16="http://schemas.microsoft.com/office/drawing/2014/main" id="{3625F66A-B922-5CF1-92CD-EE33AA4E5C6D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1" name="Rectangle: Rounded Corners 1160">
                <a:extLst>
                  <a:ext uri="{FF2B5EF4-FFF2-40B4-BE49-F238E27FC236}">
                    <a16:creationId xmlns:a16="http://schemas.microsoft.com/office/drawing/2014/main" id="{7D9C2495-4261-B359-EE74-07766DB09007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2" name="Rectangle: Rounded Corners 1161">
                <a:extLst>
                  <a:ext uri="{FF2B5EF4-FFF2-40B4-BE49-F238E27FC236}">
                    <a16:creationId xmlns:a16="http://schemas.microsoft.com/office/drawing/2014/main" id="{47642B60-6D7F-41AA-D880-87E3C5A19243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3" name="Rectangle: Rounded Corners 1162">
                <a:extLst>
                  <a:ext uri="{FF2B5EF4-FFF2-40B4-BE49-F238E27FC236}">
                    <a16:creationId xmlns:a16="http://schemas.microsoft.com/office/drawing/2014/main" id="{CDBCB8FA-26C0-A7E5-5EE6-F09EEBAF7BB3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64" name="Group 1163">
                <a:extLst>
                  <a:ext uri="{FF2B5EF4-FFF2-40B4-BE49-F238E27FC236}">
                    <a16:creationId xmlns:a16="http://schemas.microsoft.com/office/drawing/2014/main" id="{8DEEBDA4-7FC3-63D9-00A2-C5A3DD27613E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170" name="Rectangle: Rounded Corners 1169">
                  <a:extLst>
                    <a:ext uri="{FF2B5EF4-FFF2-40B4-BE49-F238E27FC236}">
                      <a16:creationId xmlns:a16="http://schemas.microsoft.com/office/drawing/2014/main" id="{1BC62628-63CF-629E-8D65-295A536A9468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1" name="Rectangle: Rounded Corners 1170">
                  <a:extLst>
                    <a:ext uri="{FF2B5EF4-FFF2-40B4-BE49-F238E27FC236}">
                      <a16:creationId xmlns:a16="http://schemas.microsoft.com/office/drawing/2014/main" id="{C797A067-2AFD-CEB3-252C-DD0CFEF6394F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2" name="Rectangle: Rounded Corners 1171">
                  <a:extLst>
                    <a:ext uri="{FF2B5EF4-FFF2-40B4-BE49-F238E27FC236}">
                      <a16:creationId xmlns:a16="http://schemas.microsoft.com/office/drawing/2014/main" id="{33EE8DC4-0CCB-7CFF-D585-6C0B702E459A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3" name="Rectangle: Rounded Corners 1172">
                  <a:extLst>
                    <a:ext uri="{FF2B5EF4-FFF2-40B4-BE49-F238E27FC236}">
                      <a16:creationId xmlns:a16="http://schemas.microsoft.com/office/drawing/2014/main" id="{FDD93CF1-FC65-B999-CF0C-8127D669F81E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65" name="Group 1164">
                <a:extLst>
                  <a:ext uri="{FF2B5EF4-FFF2-40B4-BE49-F238E27FC236}">
                    <a16:creationId xmlns:a16="http://schemas.microsoft.com/office/drawing/2014/main" id="{88768DE7-CD88-B67B-2505-9CEF8FDB3251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166" name="Rectangle: Rounded Corners 1165">
                  <a:extLst>
                    <a:ext uri="{FF2B5EF4-FFF2-40B4-BE49-F238E27FC236}">
                      <a16:creationId xmlns:a16="http://schemas.microsoft.com/office/drawing/2014/main" id="{CB952C61-3094-46C7-2440-BB4988CDD959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7" name="Rectangle: Rounded Corners 1166">
                  <a:extLst>
                    <a:ext uri="{FF2B5EF4-FFF2-40B4-BE49-F238E27FC236}">
                      <a16:creationId xmlns:a16="http://schemas.microsoft.com/office/drawing/2014/main" id="{E514F664-7A88-1D90-37C7-21ABA643DD11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8" name="Rectangle: Rounded Corners 1167">
                  <a:extLst>
                    <a:ext uri="{FF2B5EF4-FFF2-40B4-BE49-F238E27FC236}">
                      <a16:creationId xmlns:a16="http://schemas.microsoft.com/office/drawing/2014/main" id="{F604716F-0D4A-8A19-D05B-D2C02B5E63B1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9" name="Rectangle: Rounded Corners 1168">
                  <a:extLst>
                    <a:ext uri="{FF2B5EF4-FFF2-40B4-BE49-F238E27FC236}">
                      <a16:creationId xmlns:a16="http://schemas.microsoft.com/office/drawing/2014/main" id="{D2757E9C-2ED4-BA59-FEE8-E3496204EFED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1174" name="Group 1173">
            <a:extLst>
              <a:ext uri="{FF2B5EF4-FFF2-40B4-BE49-F238E27FC236}">
                <a16:creationId xmlns:a16="http://schemas.microsoft.com/office/drawing/2014/main" id="{A3B3FEC1-06B2-F6E8-9ADB-B69EC01A8B4C}"/>
              </a:ext>
            </a:extLst>
          </p:cNvPr>
          <p:cNvGrpSpPr>
            <a:grpSpLocks noChangeAspect="1"/>
          </p:cNvGrpSpPr>
          <p:nvPr/>
        </p:nvGrpSpPr>
        <p:grpSpPr>
          <a:xfrm>
            <a:off x="1916546" y="4140505"/>
            <a:ext cx="411851" cy="351150"/>
            <a:chOff x="3251348" y="1795096"/>
            <a:chExt cx="3827633" cy="3263516"/>
          </a:xfrm>
        </p:grpSpPr>
        <p:sp>
          <p:nvSpPr>
            <p:cNvPr id="1175" name="Rectangle 1174">
              <a:extLst>
                <a:ext uri="{FF2B5EF4-FFF2-40B4-BE49-F238E27FC236}">
                  <a16:creationId xmlns:a16="http://schemas.microsoft.com/office/drawing/2014/main" id="{F66B0E1C-608A-DA27-EE06-DE1AB59C8E2E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76" name="Group 1175">
              <a:extLst>
                <a:ext uri="{FF2B5EF4-FFF2-40B4-BE49-F238E27FC236}">
                  <a16:creationId xmlns:a16="http://schemas.microsoft.com/office/drawing/2014/main" id="{A09A24ED-79F1-1A71-02C6-801527617FE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1177" name="Freeform: Shape 1176">
                <a:extLst>
                  <a:ext uri="{FF2B5EF4-FFF2-40B4-BE49-F238E27FC236}">
                    <a16:creationId xmlns:a16="http://schemas.microsoft.com/office/drawing/2014/main" id="{A5D435E7-AF43-AECA-1B23-E1B6E76E2BDD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178" name="Freeform: Shape 1177">
                <a:extLst>
                  <a:ext uri="{FF2B5EF4-FFF2-40B4-BE49-F238E27FC236}">
                    <a16:creationId xmlns:a16="http://schemas.microsoft.com/office/drawing/2014/main" id="{4CD64D1D-18B8-96DC-4BCD-B172018598F5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1179" name="Rectangle: Rounded Corners 1178">
                <a:extLst>
                  <a:ext uri="{FF2B5EF4-FFF2-40B4-BE49-F238E27FC236}">
                    <a16:creationId xmlns:a16="http://schemas.microsoft.com/office/drawing/2014/main" id="{FCDCD666-1D40-ACE2-CBAD-AA9C9359F236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0" name="Rectangle: Rounded Corners 1179">
                <a:extLst>
                  <a:ext uri="{FF2B5EF4-FFF2-40B4-BE49-F238E27FC236}">
                    <a16:creationId xmlns:a16="http://schemas.microsoft.com/office/drawing/2014/main" id="{4FAB18D8-E578-2165-AACA-DF5153006B2F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1" name="Rectangle: Rounded Corners 1180">
                <a:extLst>
                  <a:ext uri="{FF2B5EF4-FFF2-40B4-BE49-F238E27FC236}">
                    <a16:creationId xmlns:a16="http://schemas.microsoft.com/office/drawing/2014/main" id="{B384B336-5831-B32D-27D6-AC98FAFC6638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2" name="Rectangle: Rounded Corners 1181">
                <a:extLst>
                  <a:ext uri="{FF2B5EF4-FFF2-40B4-BE49-F238E27FC236}">
                    <a16:creationId xmlns:a16="http://schemas.microsoft.com/office/drawing/2014/main" id="{24A34799-080F-48A3-1674-495BFF7F14FB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3" name="Rectangle: Rounded Corners 1182">
                <a:extLst>
                  <a:ext uri="{FF2B5EF4-FFF2-40B4-BE49-F238E27FC236}">
                    <a16:creationId xmlns:a16="http://schemas.microsoft.com/office/drawing/2014/main" id="{66468ADB-E3FE-393C-167A-528AAF7572B4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4" name="Rectangle: Rounded Corners 1183">
                <a:extLst>
                  <a:ext uri="{FF2B5EF4-FFF2-40B4-BE49-F238E27FC236}">
                    <a16:creationId xmlns:a16="http://schemas.microsoft.com/office/drawing/2014/main" id="{B549B451-900C-13B3-1FEA-EF37B3DDB659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5" name="Rectangle: Rounded Corners 1184">
                <a:extLst>
                  <a:ext uri="{FF2B5EF4-FFF2-40B4-BE49-F238E27FC236}">
                    <a16:creationId xmlns:a16="http://schemas.microsoft.com/office/drawing/2014/main" id="{BF1F4739-DE91-1D8F-BE0A-E84FA0AA17FD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6" name="Rectangle: Rounded Corners 1185">
                <a:extLst>
                  <a:ext uri="{FF2B5EF4-FFF2-40B4-BE49-F238E27FC236}">
                    <a16:creationId xmlns:a16="http://schemas.microsoft.com/office/drawing/2014/main" id="{DF2ACDA8-C46D-5A9C-44A9-D7662D4F760B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87" name="Group 1186">
                <a:extLst>
                  <a:ext uri="{FF2B5EF4-FFF2-40B4-BE49-F238E27FC236}">
                    <a16:creationId xmlns:a16="http://schemas.microsoft.com/office/drawing/2014/main" id="{E3B23611-4AFD-7036-C64D-E03A2892109E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193" name="Rectangle: Rounded Corners 1192">
                  <a:extLst>
                    <a:ext uri="{FF2B5EF4-FFF2-40B4-BE49-F238E27FC236}">
                      <a16:creationId xmlns:a16="http://schemas.microsoft.com/office/drawing/2014/main" id="{2D02C5F5-3E6D-778A-198B-8489D62AB37B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4" name="Rectangle: Rounded Corners 1193">
                  <a:extLst>
                    <a:ext uri="{FF2B5EF4-FFF2-40B4-BE49-F238E27FC236}">
                      <a16:creationId xmlns:a16="http://schemas.microsoft.com/office/drawing/2014/main" id="{FDFFFD8D-2700-B9A8-D6D5-14051073AA6D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5" name="Rectangle: Rounded Corners 1194">
                  <a:extLst>
                    <a:ext uri="{FF2B5EF4-FFF2-40B4-BE49-F238E27FC236}">
                      <a16:creationId xmlns:a16="http://schemas.microsoft.com/office/drawing/2014/main" id="{D4728CB8-0559-55E7-94B2-FBF91DD78F46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6" name="Rectangle: Rounded Corners 1195">
                  <a:extLst>
                    <a:ext uri="{FF2B5EF4-FFF2-40B4-BE49-F238E27FC236}">
                      <a16:creationId xmlns:a16="http://schemas.microsoft.com/office/drawing/2014/main" id="{61EC07B6-B5C2-27D9-A09F-7ADFEBB89E13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88" name="Group 1187">
                <a:extLst>
                  <a:ext uri="{FF2B5EF4-FFF2-40B4-BE49-F238E27FC236}">
                    <a16:creationId xmlns:a16="http://schemas.microsoft.com/office/drawing/2014/main" id="{5190E334-FA63-F1C5-74CE-88F29F4BF3F7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189" name="Rectangle: Rounded Corners 1188">
                  <a:extLst>
                    <a:ext uri="{FF2B5EF4-FFF2-40B4-BE49-F238E27FC236}">
                      <a16:creationId xmlns:a16="http://schemas.microsoft.com/office/drawing/2014/main" id="{B8819402-A933-1C72-7B43-0ACB47B47104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0" name="Rectangle: Rounded Corners 1189">
                  <a:extLst>
                    <a:ext uri="{FF2B5EF4-FFF2-40B4-BE49-F238E27FC236}">
                      <a16:creationId xmlns:a16="http://schemas.microsoft.com/office/drawing/2014/main" id="{C39F1AB1-3AFD-A5AA-CDBB-74E1BA528EAC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1" name="Rectangle: Rounded Corners 1190">
                  <a:extLst>
                    <a:ext uri="{FF2B5EF4-FFF2-40B4-BE49-F238E27FC236}">
                      <a16:creationId xmlns:a16="http://schemas.microsoft.com/office/drawing/2014/main" id="{01B8130F-7B72-6D50-EA08-201FB012B457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2" name="Rectangle: Rounded Corners 1191">
                  <a:extLst>
                    <a:ext uri="{FF2B5EF4-FFF2-40B4-BE49-F238E27FC236}">
                      <a16:creationId xmlns:a16="http://schemas.microsoft.com/office/drawing/2014/main" id="{EE63D495-65DE-7B76-7365-1386E5AECC66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1197" name="Group 1196">
            <a:extLst>
              <a:ext uri="{FF2B5EF4-FFF2-40B4-BE49-F238E27FC236}">
                <a16:creationId xmlns:a16="http://schemas.microsoft.com/office/drawing/2014/main" id="{E04C8960-33DB-7D45-85D5-12F77293798B}"/>
              </a:ext>
            </a:extLst>
          </p:cNvPr>
          <p:cNvGrpSpPr>
            <a:grpSpLocks noChangeAspect="1"/>
          </p:cNvGrpSpPr>
          <p:nvPr/>
        </p:nvGrpSpPr>
        <p:grpSpPr>
          <a:xfrm>
            <a:off x="1916546" y="2765334"/>
            <a:ext cx="411851" cy="351150"/>
            <a:chOff x="3251348" y="1795096"/>
            <a:chExt cx="3827633" cy="3263516"/>
          </a:xfrm>
        </p:grpSpPr>
        <p:sp>
          <p:nvSpPr>
            <p:cNvPr id="1198" name="Rectangle 1197">
              <a:extLst>
                <a:ext uri="{FF2B5EF4-FFF2-40B4-BE49-F238E27FC236}">
                  <a16:creationId xmlns:a16="http://schemas.microsoft.com/office/drawing/2014/main" id="{1294E098-4B74-005A-00CD-32D5EC1BCF50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99" name="Group 1198">
              <a:extLst>
                <a:ext uri="{FF2B5EF4-FFF2-40B4-BE49-F238E27FC236}">
                  <a16:creationId xmlns:a16="http://schemas.microsoft.com/office/drawing/2014/main" id="{764072F8-9D07-345E-DFE9-9872E2F5F78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1200" name="Freeform: Shape 1199">
                <a:extLst>
                  <a:ext uri="{FF2B5EF4-FFF2-40B4-BE49-F238E27FC236}">
                    <a16:creationId xmlns:a16="http://schemas.microsoft.com/office/drawing/2014/main" id="{E1608C09-D3BB-57B3-A1C7-E976BDB144F2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201" name="Freeform: Shape 1200">
                <a:extLst>
                  <a:ext uri="{FF2B5EF4-FFF2-40B4-BE49-F238E27FC236}">
                    <a16:creationId xmlns:a16="http://schemas.microsoft.com/office/drawing/2014/main" id="{35A9B1F7-E36F-59C7-827A-11AC500E515B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1202" name="Rectangle: Rounded Corners 1201">
                <a:extLst>
                  <a:ext uri="{FF2B5EF4-FFF2-40B4-BE49-F238E27FC236}">
                    <a16:creationId xmlns:a16="http://schemas.microsoft.com/office/drawing/2014/main" id="{46152142-3465-EF4E-E204-3BE683C6E435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3" name="Rectangle: Rounded Corners 1202">
                <a:extLst>
                  <a:ext uri="{FF2B5EF4-FFF2-40B4-BE49-F238E27FC236}">
                    <a16:creationId xmlns:a16="http://schemas.microsoft.com/office/drawing/2014/main" id="{A6C953FE-E849-946D-D851-A2C604650581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4" name="Rectangle: Rounded Corners 1203">
                <a:extLst>
                  <a:ext uri="{FF2B5EF4-FFF2-40B4-BE49-F238E27FC236}">
                    <a16:creationId xmlns:a16="http://schemas.microsoft.com/office/drawing/2014/main" id="{78BC2EBA-A588-1625-11FA-E17CB832B797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5" name="Rectangle: Rounded Corners 1204">
                <a:extLst>
                  <a:ext uri="{FF2B5EF4-FFF2-40B4-BE49-F238E27FC236}">
                    <a16:creationId xmlns:a16="http://schemas.microsoft.com/office/drawing/2014/main" id="{52C55B27-C73E-C708-6757-1263C722AC64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6" name="Rectangle: Rounded Corners 1205">
                <a:extLst>
                  <a:ext uri="{FF2B5EF4-FFF2-40B4-BE49-F238E27FC236}">
                    <a16:creationId xmlns:a16="http://schemas.microsoft.com/office/drawing/2014/main" id="{6EFAE854-32A1-2578-3568-4582BD32614E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7" name="Rectangle: Rounded Corners 1206">
                <a:extLst>
                  <a:ext uri="{FF2B5EF4-FFF2-40B4-BE49-F238E27FC236}">
                    <a16:creationId xmlns:a16="http://schemas.microsoft.com/office/drawing/2014/main" id="{7634FF8A-07A7-230A-64C5-BD053B819EB4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8" name="Rectangle: Rounded Corners 1207">
                <a:extLst>
                  <a:ext uri="{FF2B5EF4-FFF2-40B4-BE49-F238E27FC236}">
                    <a16:creationId xmlns:a16="http://schemas.microsoft.com/office/drawing/2014/main" id="{CCF37E47-6AAC-09E8-941E-76452FCC9CED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9" name="Rectangle: Rounded Corners 1208">
                <a:extLst>
                  <a:ext uri="{FF2B5EF4-FFF2-40B4-BE49-F238E27FC236}">
                    <a16:creationId xmlns:a16="http://schemas.microsoft.com/office/drawing/2014/main" id="{3C53F652-FFF7-5B93-B8CB-73727FCCD108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210" name="Group 1209">
                <a:extLst>
                  <a:ext uri="{FF2B5EF4-FFF2-40B4-BE49-F238E27FC236}">
                    <a16:creationId xmlns:a16="http://schemas.microsoft.com/office/drawing/2014/main" id="{C5424914-2F06-DD4D-99CD-8D7EC5DAF78C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216" name="Rectangle: Rounded Corners 1215">
                  <a:extLst>
                    <a:ext uri="{FF2B5EF4-FFF2-40B4-BE49-F238E27FC236}">
                      <a16:creationId xmlns:a16="http://schemas.microsoft.com/office/drawing/2014/main" id="{7CB7C6A1-1A05-7FC6-6E1E-B950DDA8946D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7" name="Rectangle: Rounded Corners 1216">
                  <a:extLst>
                    <a:ext uri="{FF2B5EF4-FFF2-40B4-BE49-F238E27FC236}">
                      <a16:creationId xmlns:a16="http://schemas.microsoft.com/office/drawing/2014/main" id="{2EA883D2-259F-FF4F-A369-D6F14EEF0E73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8" name="Rectangle: Rounded Corners 1217">
                  <a:extLst>
                    <a:ext uri="{FF2B5EF4-FFF2-40B4-BE49-F238E27FC236}">
                      <a16:creationId xmlns:a16="http://schemas.microsoft.com/office/drawing/2014/main" id="{248A26F6-D3F6-E1E4-2885-AA36822AF3CA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9" name="Rectangle: Rounded Corners 1218">
                  <a:extLst>
                    <a:ext uri="{FF2B5EF4-FFF2-40B4-BE49-F238E27FC236}">
                      <a16:creationId xmlns:a16="http://schemas.microsoft.com/office/drawing/2014/main" id="{188FAC35-32EA-E701-3AF2-5820316D75BD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211" name="Group 1210">
                <a:extLst>
                  <a:ext uri="{FF2B5EF4-FFF2-40B4-BE49-F238E27FC236}">
                    <a16:creationId xmlns:a16="http://schemas.microsoft.com/office/drawing/2014/main" id="{4768283E-DC1A-20B4-0E51-12AFD411CE0F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212" name="Rectangle: Rounded Corners 1211">
                  <a:extLst>
                    <a:ext uri="{FF2B5EF4-FFF2-40B4-BE49-F238E27FC236}">
                      <a16:creationId xmlns:a16="http://schemas.microsoft.com/office/drawing/2014/main" id="{E7A9AC97-DD3A-8961-4DAC-073D6EF3952C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3" name="Rectangle: Rounded Corners 1212">
                  <a:extLst>
                    <a:ext uri="{FF2B5EF4-FFF2-40B4-BE49-F238E27FC236}">
                      <a16:creationId xmlns:a16="http://schemas.microsoft.com/office/drawing/2014/main" id="{0FD47E1A-A631-B68F-4EE5-F431D8E3B14B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4" name="Rectangle: Rounded Corners 1213">
                  <a:extLst>
                    <a:ext uri="{FF2B5EF4-FFF2-40B4-BE49-F238E27FC236}">
                      <a16:creationId xmlns:a16="http://schemas.microsoft.com/office/drawing/2014/main" id="{95A08801-4BCD-DDB0-3D52-BBB7B9A9AB3E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5" name="Rectangle: Rounded Corners 1214">
                  <a:extLst>
                    <a:ext uri="{FF2B5EF4-FFF2-40B4-BE49-F238E27FC236}">
                      <a16:creationId xmlns:a16="http://schemas.microsoft.com/office/drawing/2014/main" id="{732E4001-2D5B-5BC5-D8FB-DEBB20345CC2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1220" name="Group 1219">
            <a:extLst>
              <a:ext uri="{FF2B5EF4-FFF2-40B4-BE49-F238E27FC236}">
                <a16:creationId xmlns:a16="http://schemas.microsoft.com/office/drawing/2014/main" id="{65E777A1-CCB8-7408-79C2-E64355CD63D0}"/>
              </a:ext>
            </a:extLst>
          </p:cNvPr>
          <p:cNvGrpSpPr>
            <a:grpSpLocks noChangeAspect="1"/>
          </p:cNvGrpSpPr>
          <p:nvPr/>
        </p:nvGrpSpPr>
        <p:grpSpPr>
          <a:xfrm>
            <a:off x="1916546" y="1390163"/>
            <a:ext cx="411851" cy="351150"/>
            <a:chOff x="3251348" y="1795096"/>
            <a:chExt cx="3827633" cy="3263516"/>
          </a:xfrm>
        </p:grpSpPr>
        <p:sp>
          <p:nvSpPr>
            <p:cNvPr id="1221" name="Rectangle 1220">
              <a:extLst>
                <a:ext uri="{FF2B5EF4-FFF2-40B4-BE49-F238E27FC236}">
                  <a16:creationId xmlns:a16="http://schemas.microsoft.com/office/drawing/2014/main" id="{C47CF577-2E40-C928-01A9-7CAE0D7CD63D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22" name="Group 1221">
              <a:extLst>
                <a:ext uri="{FF2B5EF4-FFF2-40B4-BE49-F238E27FC236}">
                  <a16:creationId xmlns:a16="http://schemas.microsoft.com/office/drawing/2014/main" id="{2CB995B9-614A-E0B5-DA3B-88AFA0A0311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1223" name="Freeform: Shape 1222">
                <a:extLst>
                  <a:ext uri="{FF2B5EF4-FFF2-40B4-BE49-F238E27FC236}">
                    <a16:creationId xmlns:a16="http://schemas.microsoft.com/office/drawing/2014/main" id="{74D0686A-9181-5FAA-D2F8-48D04482EDB7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224" name="Freeform: Shape 1223">
                <a:extLst>
                  <a:ext uri="{FF2B5EF4-FFF2-40B4-BE49-F238E27FC236}">
                    <a16:creationId xmlns:a16="http://schemas.microsoft.com/office/drawing/2014/main" id="{4C500721-FEE1-7B93-8384-2FACC14CB844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1225" name="Rectangle: Rounded Corners 1224">
                <a:extLst>
                  <a:ext uri="{FF2B5EF4-FFF2-40B4-BE49-F238E27FC236}">
                    <a16:creationId xmlns:a16="http://schemas.microsoft.com/office/drawing/2014/main" id="{4ABD8EB0-EA9D-8A68-F7EC-B133F6A89AD5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6" name="Rectangle: Rounded Corners 1225">
                <a:extLst>
                  <a:ext uri="{FF2B5EF4-FFF2-40B4-BE49-F238E27FC236}">
                    <a16:creationId xmlns:a16="http://schemas.microsoft.com/office/drawing/2014/main" id="{6B02C0E5-311A-6F13-3CF0-A4CBCBB24E85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7" name="Rectangle: Rounded Corners 1226">
                <a:extLst>
                  <a:ext uri="{FF2B5EF4-FFF2-40B4-BE49-F238E27FC236}">
                    <a16:creationId xmlns:a16="http://schemas.microsoft.com/office/drawing/2014/main" id="{6ECDB529-0A11-049A-4393-98D8C7A28F2C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8" name="Rectangle: Rounded Corners 1227">
                <a:extLst>
                  <a:ext uri="{FF2B5EF4-FFF2-40B4-BE49-F238E27FC236}">
                    <a16:creationId xmlns:a16="http://schemas.microsoft.com/office/drawing/2014/main" id="{FCAA67D1-FA8A-C7A8-E877-10F1F425434A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9" name="Rectangle: Rounded Corners 1228">
                <a:extLst>
                  <a:ext uri="{FF2B5EF4-FFF2-40B4-BE49-F238E27FC236}">
                    <a16:creationId xmlns:a16="http://schemas.microsoft.com/office/drawing/2014/main" id="{277DB532-60E2-C18E-ADE4-8D310204C929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0" name="Rectangle: Rounded Corners 1229">
                <a:extLst>
                  <a:ext uri="{FF2B5EF4-FFF2-40B4-BE49-F238E27FC236}">
                    <a16:creationId xmlns:a16="http://schemas.microsoft.com/office/drawing/2014/main" id="{6E19B4D0-176A-3ADE-C193-92B53B04231D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1" name="Rectangle: Rounded Corners 1230">
                <a:extLst>
                  <a:ext uri="{FF2B5EF4-FFF2-40B4-BE49-F238E27FC236}">
                    <a16:creationId xmlns:a16="http://schemas.microsoft.com/office/drawing/2014/main" id="{3CF88214-6990-1721-BDFC-B16EFA60DF30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2" name="Rectangle: Rounded Corners 1231">
                <a:extLst>
                  <a:ext uri="{FF2B5EF4-FFF2-40B4-BE49-F238E27FC236}">
                    <a16:creationId xmlns:a16="http://schemas.microsoft.com/office/drawing/2014/main" id="{1FC9764D-0281-20A3-1C11-D107FDCE26ED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233" name="Group 1232">
                <a:extLst>
                  <a:ext uri="{FF2B5EF4-FFF2-40B4-BE49-F238E27FC236}">
                    <a16:creationId xmlns:a16="http://schemas.microsoft.com/office/drawing/2014/main" id="{4E857272-8039-F04D-E192-BCDB4712162A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239" name="Rectangle: Rounded Corners 1238">
                  <a:extLst>
                    <a:ext uri="{FF2B5EF4-FFF2-40B4-BE49-F238E27FC236}">
                      <a16:creationId xmlns:a16="http://schemas.microsoft.com/office/drawing/2014/main" id="{7DCB96A9-F924-0F08-0CCB-97EE41454C6D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0" name="Rectangle: Rounded Corners 1239">
                  <a:extLst>
                    <a:ext uri="{FF2B5EF4-FFF2-40B4-BE49-F238E27FC236}">
                      <a16:creationId xmlns:a16="http://schemas.microsoft.com/office/drawing/2014/main" id="{42A391CE-E684-D652-9B95-83C410D8535D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1" name="Rectangle: Rounded Corners 1240">
                  <a:extLst>
                    <a:ext uri="{FF2B5EF4-FFF2-40B4-BE49-F238E27FC236}">
                      <a16:creationId xmlns:a16="http://schemas.microsoft.com/office/drawing/2014/main" id="{D3CBB657-00FB-B3D2-0559-E040B33E88A6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2" name="Rectangle: Rounded Corners 1241">
                  <a:extLst>
                    <a:ext uri="{FF2B5EF4-FFF2-40B4-BE49-F238E27FC236}">
                      <a16:creationId xmlns:a16="http://schemas.microsoft.com/office/drawing/2014/main" id="{E8019209-9959-C110-D48C-93A0BD32356C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234" name="Group 1233">
                <a:extLst>
                  <a:ext uri="{FF2B5EF4-FFF2-40B4-BE49-F238E27FC236}">
                    <a16:creationId xmlns:a16="http://schemas.microsoft.com/office/drawing/2014/main" id="{ED2BA819-C5B5-4DCF-DD0C-F693CC8EF375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235" name="Rectangle: Rounded Corners 1234">
                  <a:extLst>
                    <a:ext uri="{FF2B5EF4-FFF2-40B4-BE49-F238E27FC236}">
                      <a16:creationId xmlns:a16="http://schemas.microsoft.com/office/drawing/2014/main" id="{D9DDC9FF-5CE5-EB84-030E-B50F633D5C84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6" name="Rectangle: Rounded Corners 1235">
                  <a:extLst>
                    <a:ext uri="{FF2B5EF4-FFF2-40B4-BE49-F238E27FC236}">
                      <a16:creationId xmlns:a16="http://schemas.microsoft.com/office/drawing/2014/main" id="{817434F1-4044-4B6D-1304-DF15BD8B6A18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7" name="Rectangle: Rounded Corners 1236">
                  <a:extLst>
                    <a:ext uri="{FF2B5EF4-FFF2-40B4-BE49-F238E27FC236}">
                      <a16:creationId xmlns:a16="http://schemas.microsoft.com/office/drawing/2014/main" id="{FBA6B042-55DA-35A8-EED7-BD67F4BC1975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8" name="Rectangle: Rounded Corners 1237">
                  <a:extLst>
                    <a:ext uri="{FF2B5EF4-FFF2-40B4-BE49-F238E27FC236}">
                      <a16:creationId xmlns:a16="http://schemas.microsoft.com/office/drawing/2014/main" id="{26FD6D87-3A48-5268-F1B8-5A8A25B3DF67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1243" name="Rectangle 1242">
            <a:extLst>
              <a:ext uri="{FF2B5EF4-FFF2-40B4-BE49-F238E27FC236}">
                <a16:creationId xmlns:a16="http://schemas.microsoft.com/office/drawing/2014/main" id="{BA7E73CC-7753-E71A-3BDD-2C010CB7A0EA}"/>
              </a:ext>
            </a:extLst>
          </p:cNvPr>
          <p:cNvSpPr/>
          <p:nvPr/>
        </p:nvSpPr>
        <p:spPr>
          <a:xfrm rot="5400000">
            <a:off x="345480" y="2036003"/>
            <a:ext cx="5628724" cy="322252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4" name="TextBox 1243">
            <a:extLst>
              <a:ext uri="{FF2B5EF4-FFF2-40B4-BE49-F238E27FC236}">
                <a16:creationId xmlns:a16="http://schemas.microsoft.com/office/drawing/2014/main" id="{197643D4-8187-34DD-83CE-64C8090F7EE5}"/>
              </a:ext>
            </a:extLst>
          </p:cNvPr>
          <p:cNvSpPr txBox="1"/>
          <p:nvPr/>
        </p:nvSpPr>
        <p:spPr>
          <a:xfrm>
            <a:off x="1457129" y="561324"/>
            <a:ext cx="54374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b="1" dirty="0"/>
              <a:t>Server</a:t>
            </a:r>
          </a:p>
        </p:txBody>
      </p:sp>
      <p:sp>
        <p:nvSpPr>
          <p:cNvPr id="1246" name="Rectangle: Rounded Corners 1245">
            <a:extLst>
              <a:ext uri="{FF2B5EF4-FFF2-40B4-BE49-F238E27FC236}">
                <a16:creationId xmlns:a16="http://schemas.microsoft.com/office/drawing/2014/main" id="{A31B9A3D-0783-DC1A-F12D-CFEAAFB57CA5}"/>
              </a:ext>
            </a:extLst>
          </p:cNvPr>
          <p:cNvSpPr/>
          <p:nvPr/>
        </p:nvSpPr>
        <p:spPr>
          <a:xfrm rot="16200000">
            <a:off x="2899003" y="3437322"/>
            <a:ext cx="5080883" cy="480312"/>
          </a:xfrm>
          <a:prstGeom prst="roundRect">
            <a:avLst/>
          </a:prstGeom>
          <a:solidFill>
            <a:schemeClr val="accent3">
              <a:lumMod val="20000"/>
              <a:lumOff val="80000"/>
              <a:alpha val="78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00B050"/>
                </a:solidFill>
              </a:rPr>
              <a:t>Infiniband NDR </a:t>
            </a:r>
          </a:p>
        </p:txBody>
      </p:sp>
      <p:sp>
        <p:nvSpPr>
          <p:cNvPr id="1247" name="TextBox 1246">
            <a:extLst>
              <a:ext uri="{FF2B5EF4-FFF2-40B4-BE49-F238E27FC236}">
                <a16:creationId xmlns:a16="http://schemas.microsoft.com/office/drawing/2014/main" id="{EE17803B-9C41-AB46-769E-A6C5D0DF34D8}"/>
              </a:ext>
            </a:extLst>
          </p:cNvPr>
          <p:cNvSpPr txBox="1"/>
          <p:nvPr/>
        </p:nvSpPr>
        <p:spPr>
          <a:xfrm>
            <a:off x="5144769" y="865362"/>
            <a:ext cx="55816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b="1" dirty="0"/>
              <a:t>Switch</a:t>
            </a:r>
          </a:p>
        </p:txBody>
      </p:sp>
      <p:sp>
        <p:nvSpPr>
          <p:cNvPr id="1252" name="Rectangle: Rounded Corners 1251">
            <a:extLst>
              <a:ext uri="{FF2B5EF4-FFF2-40B4-BE49-F238E27FC236}">
                <a16:creationId xmlns:a16="http://schemas.microsoft.com/office/drawing/2014/main" id="{0C7C06B5-11C8-363E-887B-18696F2D70BD}"/>
              </a:ext>
            </a:extLst>
          </p:cNvPr>
          <p:cNvSpPr/>
          <p:nvPr/>
        </p:nvSpPr>
        <p:spPr>
          <a:xfrm rot="5400000" flipH="1">
            <a:off x="778976" y="3368078"/>
            <a:ext cx="4747158" cy="480312"/>
          </a:xfrm>
          <a:prstGeom prst="roundRect">
            <a:avLst/>
          </a:prstGeom>
          <a:solidFill>
            <a:schemeClr val="accent2">
              <a:lumMod val="20000"/>
              <a:lumOff val="80000"/>
              <a:alpha val="78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FF0000"/>
                </a:solidFill>
              </a:rPr>
              <a:t>PLX</a:t>
            </a:r>
          </a:p>
        </p:txBody>
      </p:sp>
      <p:grpSp>
        <p:nvGrpSpPr>
          <p:cNvPr id="1270" name="Group 1269">
            <a:extLst>
              <a:ext uri="{FF2B5EF4-FFF2-40B4-BE49-F238E27FC236}">
                <a16:creationId xmlns:a16="http://schemas.microsoft.com/office/drawing/2014/main" id="{8E388FC7-50F3-A53F-F0EE-E73E87C8DBC2}"/>
              </a:ext>
            </a:extLst>
          </p:cNvPr>
          <p:cNvGrpSpPr/>
          <p:nvPr/>
        </p:nvGrpSpPr>
        <p:grpSpPr>
          <a:xfrm>
            <a:off x="3820898" y="3292848"/>
            <a:ext cx="894797" cy="572294"/>
            <a:chOff x="3617019" y="3013602"/>
            <a:chExt cx="894797" cy="572294"/>
          </a:xfrm>
        </p:grpSpPr>
        <p:pic>
          <p:nvPicPr>
            <p:cNvPr id="1271" name="Picture 1270">
              <a:extLst>
                <a:ext uri="{FF2B5EF4-FFF2-40B4-BE49-F238E27FC236}">
                  <a16:creationId xmlns:a16="http://schemas.microsoft.com/office/drawing/2014/main" id="{72AEE061-CB26-2F3D-6267-27DC5E993A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3679291" y="3071002"/>
              <a:ext cx="757950" cy="514894"/>
            </a:xfrm>
            <a:prstGeom prst="rect">
              <a:avLst/>
            </a:prstGeom>
          </p:spPr>
        </p:pic>
        <p:sp>
          <p:nvSpPr>
            <p:cNvPr id="1272" name="TextBox 1271">
              <a:extLst>
                <a:ext uri="{FF2B5EF4-FFF2-40B4-BE49-F238E27FC236}">
                  <a16:creationId xmlns:a16="http://schemas.microsoft.com/office/drawing/2014/main" id="{459BADBC-36C1-31EF-6E68-842F1A6E1342}"/>
                </a:ext>
              </a:extLst>
            </p:cNvPr>
            <p:cNvSpPr txBox="1"/>
            <p:nvPr/>
          </p:nvSpPr>
          <p:spPr>
            <a:xfrm>
              <a:off x="3617019" y="3013602"/>
              <a:ext cx="89479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>
                  <a:solidFill>
                    <a:srgbClr val="00B050"/>
                  </a:solidFill>
                </a:rPr>
                <a:t>Infiniband NDR</a:t>
              </a:r>
            </a:p>
          </p:txBody>
        </p:sp>
      </p:grpSp>
      <p:sp>
        <p:nvSpPr>
          <p:cNvPr id="1464" name="Rectangle: Rounded Corners 1463">
            <a:extLst>
              <a:ext uri="{FF2B5EF4-FFF2-40B4-BE49-F238E27FC236}">
                <a16:creationId xmlns:a16="http://schemas.microsoft.com/office/drawing/2014/main" id="{DE105B35-4587-5567-6187-F2239EBC6933}"/>
              </a:ext>
            </a:extLst>
          </p:cNvPr>
          <p:cNvSpPr/>
          <p:nvPr/>
        </p:nvSpPr>
        <p:spPr>
          <a:xfrm>
            <a:off x="7540919" y="721688"/>
            <a:ext cx="601448" cy="5739938"/>
          </a:xfrm>
          <a:prstGeom prst="roundRect">
            <a:avLst/>
          </a:prstGeom>
          <a:noFill/>
          <a:ln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3" name="TextBox 1652">
            <a:extLst>
              <a:ext uri="{FF2B5EF4-FFF2-40B4-BE49-F238E27FC236}">
                <a16:creationId xmlns:a16="http://schemas.microsoft.com/office/drawing/2014/main" id="{10820645-B5D4-5EB8-112E-390B983B6472}"/>
              </a:ext>
            </a:extLst>
          </p:cNvPr>
          <p:cNvSpPr txBox="1"/>
          <p:nvPr/>
        </p:nvSpPr>
        <p:spPr>
          <a:xfrm>
            <a:off x="9927308" y="289454"/>
            <a:ext cx="54374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050" b="1" dirty="0"/>
              <a:t>Server</a:t>
            </a:r>
          </a:p>
        </p:txBody>
      </p:sp>
      <p:sp>
        <p:nvSpPr>
          <p:cNvPr id="1672" name="Rectangle: Rounded Corners 1671">
            <a:extLst>
              <a:ext uri="{FF2B5EF4-FFF2-40B4-BE49-F238E27FC236}">
                <a16:creationId xmlns:a16="http://schemas.microsoft.com/office/drawing/2014/main" id="{FF3D0E88-4FEA-CC34-8434-B4B54D5A4F70}"/>
              </a:ext>
            </a:extLst>
          </p:cNvPr>
          <p:cNvSpPr/>
          <p:nvPr/>
        </p:nvSpPr>
        <p:spPr>
          <a:xfrm rot="16200000">
            <a:off x="8705191" y="3011566"/>
            <a:ext cx="4964698" cy="480312"/>
          </a:xfrm>
          <a:prstGeom prst="roundRect">
            <a:avLst/>
          </a:prstGeom>
          <a:solidFill>
            <a:schemeClr val="accent4">
              <a:lumMod val="20000"/>
              <a:lumOff val="80000"/>
              <a:alpha val="78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0070C0"/>
                </a:solidFill>
              </a:rPr>
              <a:t>Ethernet </a:t>
            </a:r>
          </a:p>
        </p:txBody>
      </p:sp>
      <p:sp>
        <p:nvSpPr>
          <p:cNvPr id="1673" name="TextBox 1672">
            <a:extLst>
              <a:ext uri="{FF2B5EF4-FFF2-40B4-BE49-F238E27FC236}">
                <a16:creationId xmlns:a16="http://schemas.microsoft.com/office/drawing/2014/main" id="{D9CF939F-AC99-D0FF-3857-F0A12A11AC67}"/>
              </a:ext>
            </a:extLst>
          </p:cNvPr>
          <p:cNvSpPr txBox="1"/>
          <p:nvPr/>
        </p:nvSpPr>
        <p:spPr>
          <a:xfrm>
            <a:off x="10908457" y="515917"/>
            <a:ext cx="55816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b="1" dirty="0"/>
              <a:t>Switch</a:t>
            </a:r>
          </a:p>
        </p:txBody>
      </p:sp>
      <p:sp>
        <p:nvSpPr>
          <p:cNvPr id="1687" name="TextBox 1686">
            <a:extLst>
              <a:ext uri="{FF2B5EF4-FFF2-40B4-BE49-F238E27FC236}">
                <a16:creationId xmlns:a16="http://schemas.microsoft.com/office/drawing/2014/main" id="{8E327D05-8887-2814-00AB-5372C28B4E54}"/>
              </a:ext>
            </a:extLst>
          </p:cNvPr>
          <p:cNvSpPr txBox="1"/>
          <p:nvPr/>
        </p:nvSpPr>
        <p:spPr>
          <a:xfrm>
            <a:off x="1835127" y="1705859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rgbClr val="FF0000"/>
                </a:solidFill>
              </a:rPr>
              <a:t>RTX PRO</a:t>
            </a:r>
          </a:p>
          <a:p>
            <a:pPr algn="ctr"/>
            <a:r>
              <a:rPr lang="en-US" sz="900" dirty="0">
                <a:solidFill>
                  <a:srgbClr val="FF0000"/>
                </a:solidFill>
              </a:rPr>
              <a:t>6000</a:t>
            </a:r>
          </a:p>
        </p:txBody>
      </p:sp>
      <p:sp>
        <p:nvSpPr>
          <p:cNvPr id="1688" name="TextBox 1687">
            <a:extLst>
              <a:ext uri="{FF2B5EF4-FFF2-40B4-BE49-F238E27FC236}">
                <a16:creationId xmlns:a16="http://schemas.microsoft.com/office/drawing/2014/main" id="{ED634C88-4CB8-3C9A-551B-34AB06EFE916}"/>
              </a:ext>
            </a:extLst>
          </p:cNvPr>
          <p:cNvSpPr txBox="1"/>
          <p:nvPr/>
        </p:nvSpPr>
        <p:spPr>
          <a:xfrm>
            <a:off x="1822480" y="3093566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rgbClr val="FF0000"/>
                </a:solidFill>
              </a:rPr>
              <a:t>RTX PRO</a:t>
            </a:r>
          </a:p>
          <a:p>
            <a:pPr algn="ctr"/>
            <a:r>
              <a:rPr lang="en-US" sz="900" dirty="0">
                <a:solidFill>
                  <a:srgbClr val="FF0000"/>
                </a:solidFill>
              </a:rPr>
              <a:t>6000</a:t>
            </a:r>
          </a:p>
        </p:txBody>
      </p:sp>
      <p:sp>
        <p:nvSpPr>
          <p:cNvPr id="1689" name="TextBox 1688">
            <a:extLst>
              <a:ext uri="{FF2B5EF4-FFF2-40B4-BE49-F238E27FC236}">
                <a16:creationId xmlns:a16="http://schemas.microsoft.com/office/drawing/2014/main" id="{74666A22-088A-AB87-4110-76AFE8E09EDB}"/>
              </a:ext>
            </a:extLst>
          </p:cNvPr>
          <p:cNvSpPr txBox="1"/>
          <p:nvPr/>
        </p:nvSpPr>
        <p:spPr>
          <a:xfrm>
            <a:off x="1828858" y="3786850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rgbClr val="FF0000"/>
                </a:solidFill>
              </a:rPr>
              <a:t>RTX PRO</a:t>
            </a:r>
          </a:p>
          <a:p>
            <a:pPr algn="ctr"/>
            <a:r>
              <a:rPr lang="en-US" sz="900" dirty="0">
                <a:solidFill>
                  <a:srgbClr val="FF0000"/>
                </a:solidFill>
              </a:rPr>
              <a:t>6000</a:t>
            </a:r>
          </a:p>
        </p:txBody>
      </p:sp>
      <p:sp>
        <p:nvSpPr>
          <p:cNvPr id="1690" name="TextBox 1689">
            <a:extLst>
              <a:ext uri="{FF2B5EF4-FFF2-40B4-BE49-F238E27FC236}">
                <a16:creationId xmlns:a16="http://schemas.microsoft.com/office/drawing/2014/main" id="{D4D9C507-1E51-90EC-0ADC-C95A9489E3F6}"/>
              </a:ext>
            </a:extLst>
          </p:cNvPr>
          <p:cNvSpPr txBox="1"/>
          <p:nvPr/>
        </p:nvSpPr>
        <p:spPr>
          <a:xfrm>
            <a:off x="1834533" y="5152141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rgbClr val="FF0000"/>
                </a:solidFill>
              </a:rPr>
              <a:t>RTX PRO</a:t>
            </a:r>
          </a:p>
          <a:p>
            <a:pPr algn="ctr"/>
            <a:r>
              <a:rPr lang="en-US" sz="900" dirty="0">
                <a:solidFill>
                  <a:srgbClr val="FF0000"/>
                </a:solidFill>
              </a:rPr>
              <a:t>6000</a:t>
            </a:r>
          </a:p>
        </p:txBody>
      </p:sp>
      <p:grpSp>
        <p:nvGrpSpPr>
          <p:cNvPr id="1701" name="Group 1700">
            <a:extLst>
              <a:ext uri="{FF2B5EF4-FFF2-40B4-BE49-F238E27FC236}">
                <a16:creationId xmlns:a16="http://schemas.microsoft.com/office/drawing/2014/main" id="{4427C95C-FB6B-4CB1-A148-CFB42B3128D9}"/>
              </a:ext>
            </a:extLst>
          </p:cNvPr>
          <p:cNvGrpSpPr/>
          <p:nvPr/>
        </p:nvGrpSpPr>
        <p:grpSpPr>
          <a:xfrm>
            <a:off x="2324934" y="1510774"/>
            <a:ext cx="587465" cy="96312"/>
            <a:chOff x="2324934" y="1510774"/>
            <a:chExt cx="587465" cy="96312"/>
          </a:xfrm>
        </p:grpSpPr>
        <p:cxnSp>
          <p:nvCxnSpPr>
            <p:cNvPr id="1695" name="Straight Connector 1694">
              <a:extLst>
                <a:ext uri="{FF2B5EF4-FFF2-40B4-BE49-F238E27FC236}">
                  <a16:creationId xmlns:a16="http://schemas.microsoft.com/office/drawing/2014/main" id="{4CAF53DF-4A5C-CED9-3E1D-3653F4353807}"/>
                </a:ext>
              </a:extLst>
            </p:cNvPr>
            <p:cNvCxnSpPr>
              <a:cxnSpLocks/>
            </p:cNvCxnSpPr>
            <p:nvPr/>
          </p:nvCxnSpPr>
          <p:spPr>
            <a:xfrm>
              <a:off x="2324934" y="1510774"/>
              <a:ext cx="587465" cy="0"/>
            </a:xfrm>
            <a:prstGeom prst="line">
              <a:avLst/>
            </a:prstGeom>
            <a:ln>
              <a:solidFill>
                <a:schemeClr val="tx1"/>
              </a:solidFill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0" name="Straight Connector 1699">
              <a:extLst>
                <a:ext uri="{FF2B5EF4-FFF2-40B4-BE49-F238E27FC236}">
                  <a16:creationId xmlns:a16="http://schemas.microsoft.com/office/drawing/2014/main" id="{B41D798F-7FD4-B026-DA05-AD385F884328}"/>
                </a:ext>
              </a:extLst>
            </p:cNvPr>
            <p:cNvCxnSpPr>
              <a:cxnSpLocks/>
            </p:cNvCxnSpPr>
            <p:nvPr/>
          </p:nvCxnSpPr>
          <p:spPr>
            <a:xfrm>
              <a:off x="2324934" y="1607086"/>
              <a:ext cx="587465" cy="0"/>
            </a:xfrm>
            <a:prstGeom prst="line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02" name="Group 1701">
            <a:extLst>
              <a:ext uri="{FF2B5EF4-FFF2-40B4-BE49-F238E27FC236}">
                <a16:creationId xmlns:a16="http://schemas.microsoft.com/office/drawing/2014/main" id="{B87C6999-F89B-AF37-42EE-9E850EC6846B}"/>
              </a:ext>
            </a:extLst>
          </p:cNvPr>
          <p:cNvGrpSpPr/>
          <p:nvPr/>
        </p:nvGrpSpPr>
        <p:grpSpPr>
          <a:xfrm>
            <a:off x="2324934" y="2882864"/>
            <a:ext cx="587465" cy="96312"/>
            <a:chOff x="2324934" y="1510774"/>
            <a:chExt cx="587465" cy="96312"/>
          </a:xfrm>
        </p:grpSpPr>
        <p:cxnSp>
          <p:nvCxnSpPr>
            <p:cNvPr id="1703" name="Straight Connector 1702">
              <a:extLst>
                <a:ext uri="{FF2B5EF4-FFF2-40B4-BE49-F238E27FC236}">
                  <a16:creationId xmlns:a16="http://schemas.microsoft.com/office/drawing/2014/main" id="{2A239FF2-D0A7-A99A-5A1B-8534FE0343EB}"/>
                </a:ext>
              </a:extLst>
            </p:cNvPr>
            <p:cNvCxnSpPr>
              <a:cxnSpLocks/>
            </p:cNvCxnSpPr>
            <p:nvPr/>
          </p:nvCxnSpPr>
          <p:spPr>
            <a:xfrm>
              <a:off x="2324934" y="1510774"/>
              <a:ext cx="587465" cy="0"/>
            </a:xfrm>
            <a:prstGeom prst="line">
              <a:avLst/>
            </a:prstGeom>
            <a:ln>
              <a:solidFill>
                <a:schemeClr val="tx1"/>
              </a:solidFill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4" name="Straight Connector 1703">
              <a:extLst>
                <a:ext uri="{FF2B5EF4-FFF2-40B4-BE49-F238E27FC236}">
                  <a16:creationId xmlns:a16="http://schemas.microsoft.com/office/drawing/2014/main" id="{41CC8DE8-CB7E-EE8F-2BF2-4FBF24228791}"/>
                </a:ext>
              </a:extLst>
            </p:cNvPr>
            <p:cNvCxnSpPr>
              <a:cxnSpLocks/>
            </p:cNvCxnSpPr>
            <p:nvPr/>
          </p:nvCxnSpPr>
          <p:spPr>
            <a:xfrm>
              <a:off x="2324934" y="1607086"/>
              <a:ext cx="587465" cy="0"/>
            </a:xfrm>
            <a:prstGeom prst="line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05" name="Group 1704">
            <a:extLst>
              <a:ext uri="{FF2B5EF4-FFF2-40B4-BE49-F238E27FC236}">
                <a16:creationId xmlns:a16="http://schemas.microsoft.com/office/drawing/2014/main" id="{90D6AC75-544F-C864-2D03-E08B90AF6535}"/>
              </a:ext>
            </a:extLst>
          </p:cNvPr>
          <p:cNvGrpSpPr/>
          <p:nvPr/>
        </p:nvGrpSpPr>
        <p:grpSpPr>
          <a:xfrm>
            <a:off x="2324934" y="4259363"/>
            <a:ext cx="587465" cy="96312"/>
            <a:chOff x="2324934" y="1510774"/>
            <a:chExt cx="587465" cy="96312"/>
          </a:xfrm>
        </p:grpSpPr>
        <p:cxnSp>
          <p:nvCxnSpPr>
            <p:cNvPr id="1706" name="Straight Connector 1705">
              <a:extLst>
                <a:ext uri="{FF2B5EF4-FFF2-40B4-BE49-F238E27FC236}">
                  <a16:creationId xmlns:a16="http://schemas.microsoft.com/office/drawing/2014/main" id="{8C0EFC99-C92A-B9CD-A8FC-25B0966D89C3}"/>
                </a:ext>
              </a:extLst>
            </p:cNvPr>
            <p:cNvCxnSpPr>
              <a:cxnSpLocks/>
            </p:cNvCxnSpPr>
            <p:nvPr/>
          </p:nvCxnSpPr>
          <p:spPr>
            <a:xfrm>
              <a:off x="2324934" y="1510774"/>
              <a:ext cx="587465" cy="0"/>
            </a:xfrm>
            <a:prstGeom prst="line">
              <a:avLst/>
            </a:prstGeom>
            <a:ln>
              <a:solidFill>
                <a:schemeClr val="tx1"/>
              </a:solidFill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7" name="Straight Connector 1706">
              <a:extLst>
                <a:ext uri="{FF2B5EF4-FFF2-40B4-BE49-F238E27FC236}">
                  <a16:creationId xmlns:a16="http://schemas.microsoft.com/office/drawing/2014/main" id="{BE4EFF4C-FF65-E0F7-3D73-93C1C45407B1}"/>
                </a:ext>
              </a:extLst>
            </p:cNvPr>
            <p:cNvCxnSpPr>
              <a:cxnSpLocks/>
            </p:cNvCxnSpPr>
            <p:nvPr/>
          </p:nvCxnSpPr>
          <p:spPr>
            <a:xfrm>
              <a:off x="2324934" y="1607086"/>
              <a:ext cx="587465" cy="0"/>
            </a:xfrm>
            <a:prstGeom prst="line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08" name="Group 1707">
            <a:extLst>
              <a:ext uri="{FF2B5EF4-FFF2-40B4-BE49-F238E27FC236}">
                <a16:creationId xmlns:a16="http://schemas.microsoft.com/office/drawing/2014/main" id="{401D1E6F-87C3-0473-4E30-A8BCB8002D49}"/>
              </a:ext>
            </a:extLst>
          </p:cNvPr>
          <p:cNvGrpSpPr/>
          <p:nvPr/>
        </p:nvGrpSpPr>
        <p:grpSpPr>
          <a:xfrm>
            <a:off x="2324934" y="5637759"/>
            <a:ext cx="587465" cy="96312"/>
            <a:chOff x="2324934" y="1510774"/>
            <a:chExt cx="587465" cy="96312"/>
          </a:xfrm>
        </p:grpSpPr>
        <p:cxnSp>
          <p:nvCxnSpPr>
            <p:cNvPr id="1709" name="Straight Connector 1708">
              <a:extLst>
                <a:ext uri="{FF2B5EF4-FFF2-40B4-BE49-F238E27FC236}">
                  <a16:creationId xmlns:a16="http://schemas.microsoft.com/office/drawing/2014/main" id="{53BEE731-BFE4-C2F6-92D6-B8A496BB04E5}"/>
                </a:ext>
              </a:extLst>
            </p:cNvPr>
            <p:cNvCxnSpPr>
              <a:cxnSpLocks/>
            </p:cNvCxnSpPr>
            <p:nvPr/>
          </p:nvCxnSpPr>
          <p:spPr>
            <a:xfrm>
              <a:off x="2324934" y="1510774"/>
              <a:ext cx="587465" cy="0"/>
            </a:xfrm>
            <a:prstGeom prst="line">
              <a:avLst/>
            </a:prstGeom>
            <a:ln>
              <a:solidFill>
                <a:schemeClr val="tx1"/>
              </a:solidFill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0" name="Straight Connector 1709">
              <a:extLst>
                <a:ext uri="{FF2B5EF4-FFF2-40B4-BE49-F238E27FC236}">
                  <a16:creationId xmlns:a16="http://schemas.microsoft.com/office/drawing/2014/main" id="{3529C77E-8F5F-A5CA-34C9-FD53CD43881B}"/>
                </a:ext>
              </a:extLst>
            </p:cNvPr>
            <p:cNvCxnSpPr>
              <a:cxnSpLocks/>
            </p:cNvCxnSpPr>
            <p:nvPr/>
          </p:nvCxnSpPr>
          <p:spPr>
            <a:xfrm>
              <a:off x="2324934" y="1607086"/>
              <a:ext cx="587465" cy="0"/>
            </a:xfrm>
            <a:prstGeom prst="line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11" name="Group 1710">
            <a:extLst>
              <a:ext uri="{FF2B5EF4-FFF2-40B4-BE49-F238E27FC236}">
                <a16:creationId xmlns:a16="http://schemas.microsoft.com/office/drawing/2014/main" id="{7F9EE09B-C279-ED1C-A7D7-5EF533C6375F}"/>
              </a:ext>
            </a:extLst>
          </p:cNvPr>
          <p:cNvGrpSpPr/>
          <p:nvPr/>
        </p:nvGrpSpPr>
        <p:grpSpPr>
          <a:xfrm>
            <a:off x="3392712" y="3578995"/>
            <a:ext cx="480312" cy="96312"/>
            <a:chOff x="2324934" y="1510774"/>
            <a:chExt cx="587465" cy="96312"/>
          </a:xfrm>
        </p:grpSpPr>
        <p:cxnSp>
          <p:nvCxnSpPr>
            <p:cNvPr id="1712" name="Straight Connector 1711">
              <a:extLst>
                <a:ext uri="{FF2B5EF4-FFF2-40B4-BE49-F238E27FC236}">
                  <a16:creationId xmlns:a16="http://schemas.microsoft.com/office/drawing/2014/main" id="{8C055018-F22D-92B9-F344-443DF0FCF0EA}"/>
                </a:ext>
              </a:extLst>
            </p:cNvPr>
            <p:cNvCxnSpPr>
              <a:cxnSpLocks/>
            </p:cNvCxnSpPr>
            <p:nvPr/>
          </p:nvCxnSpPr>
          <p:spPr>
            <a:xfrm>
              <a:off x="2324934" y="1510774"/>
              <a:ext cx="587465" cy="0"/>
            </a:xfrm>
            <a:prstGeom prst="line">
              <a:avLst/>
            </a:prstGeom>
            <a:ln>
              <a:solidFill>
                <a:schemeClr val="tx1"/>
              </a:solidFill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3" name="Straight Connector 1712">
              <a:extLst>
                <a:ext uri="{FF2B5EF4-FFF2-40B4-BE49-F238E27FC236}">
                  <a16:creationId xmlns:a16="http://schemas.microsoft.com/office/drawing/2014/main" id="{25AB353A-796A-CFBF-A17C-2D5951775737}"/>
                </a:ext>
              </a:extLst>
            </p:cNvPr>
            <p:cNvCxnSpPr>
              <a:cxnSpLocks/>
            </p:cNvCxnSpPr>
            <p:nvPr/>
          </p:nvCxnSpPr>
          <p:spPr>
            <a:xfrm>
              <a:off x="2324934" y="1607086"/>
              <a:ext cx="587465" cy="0"/>
            </a:xfrm>
            <a:prstGeom prst="line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14" name="Group 1713">
            <a:extLst>
              <a:ext uri="{FF2B5EF4-FFF2-40B4-BE49-F238E27FC236}">
                <a16:creationId xmlns:a16="http://schemas.microsoft.com/office/drawing/2014/main" id="{B595B75E-B498-3723-4F4A-4B7F90B0C2C8}"/>
              </a:ext>
            </a:extLst>
          </p:cNvPr>
          <p:cNvGrpSpPr/>
          <p:nvPr/>
        </p:nvGrpSpPr>
        <p:grpSpPr>
          <a:xfrm>
            <a:off x="4611824" y="3557980"/>
            <a:ext cx="587465" cy="96312"/>
            <a:chOff x="2324934" y="1510774"/>
            <a:chExt cx="587465" cy="96312"/>
          </a:xfrm>
        </p:grpSpPr>
        <p:cxnSp>
          <p:nvCxnSpPr>
            <p:cNvPr id="1715" name="Straight Connector 1714">
              <a:extLst>
                <a:ext uri="{FF2B5EF4-FFF2-40B4-BE49-F238E27FC236}">
                  <a16:creationId xmlns:a16="http://schemas.microsoft.com/office/drawing/2014/main" id="{7BA17200-9767-A4FA-AF27-16D256D1EB14}"/>
                </a:ext>
              </a:extLst>
            </p:cNvPr>
            <p:cNvCxnSpPr>
              <a:cxnSpLocks/>
            </p:cNvCxnSpPr>
            <p:nvPr/>
          </p:nvCxnSpPr>
          <p:spPr>
            <a:xfrm>
              <a:off x="2324934" y="1510774"/>
              <a:ext cx="587465" cy="0"/>
            </a:xfrm>
            <a:prstGeom prst="line">
              <a:avLst/>
            </a:prstGeom>
            <a:ln>
              <a:solidFill>
                <a:schemeClr val="tx1"/>
              </a:solidFill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6" name="Straight Connector 1715">
              <a:extLst>
                <a:ext uri="{FF2B5EF4-FFF2-40B4-BE49-F238E27FC236}">
                  <a16:creationId xmlns:a16="http://schemas.microsoft.com/office/drawing/2014/main" id="{D9123477-33A9-48D0-4D6F-6711E3A83FDC}"/>
                </a:ext>
              </a:extLst>
            </p:cNvPr>
            <p:cNvCxnSpPr>
              <a:cxnSpLocks/>
            </p:cNvCxnSpPr>
            <p:nvPr/>
          </p:nvCxnSpPr>
          <p:spPr>
            <a:xfrm>
              <a:off x="2324934" y="1607086"/>
              <a:ext cx="587465" cy="0"/>
            </a:xfrm>
            <a:prstGeom prst="line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26" name="Title 1">
            <a:extLst>
              <a:ext uri="{FF2B5EF4-FFF2-40B4-BE49-F238E27FC236}">
                <a16:creationId xmlns:a16="http://schemas.microsoft.com/office/drawing/2014/main" id="{EBF41D04-4EE3-23B2-D83D-B3144557C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926956" cy="387808"/>
          </a:xfrm>
        </p:spPr>
        <p:txBody>
          <a:bodyPr>
            <a:noAutofit/>
          </a:bodyPr>
          <a:lstStyle/>
          <a:p>
            <a:r>
              <a:rPr lang="en-US" sz="3200" dirty="0"/>
              <a:t>Disaggregated PD with Pipeline Parallelism (physical view)</a:t>
            </a:r>
          </a:p>
        </p:txBody>
      </p:sp>
      <p:sp>
        <p:nvSpPr>
          <p:cNvPr id="1727" name="TextBox 1726">
            <a:extLst>
              <a:ext uri="{FF2B5EF4-FFF2-40B4-BE49-F238E27FC236}">
                <a16:creationId xmlns:a16="http://schemas.microsoft.com/office/drawing/2014/main" id="{3E34266D-118F-7281-3CF3-4AC1D10D71B4}"/>
              </a:ext>
            </a:extLst>
          </p:cNvPr>
          <p:cNvSpPr txBox="1"/>
          <p:nvPr/>
        </p:nvSpPr>
        <p:spPr>
          <a:xfrm>
            <a:off x="2864632" y="995528"/>
            <a:ext cx="55816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b="1" dirty="0"/>
              <a:t>Switch</a:t>
            </a:r>
          </a:p>
        </p:txBody>
      </p:sp>
      <p:sp>
        <p:nvSpPr>
          <p:cNvPr id="1795" name="TextBox 1794">
            <a:extLst>
              <a:ext uri="{FF2B5EF4-FFF2-40B4-BE49-F238E27FC236}">
                <a16:creationId xmlns:a16="http://schemas.microsoft.com/office/drawing/2014/main" id="{206A9596-09A4-2F6E-2D02-6C054173C2FD}"/>
              </a:ext>
            </a:extLst>
          </p:cNvPr>
          <p:cNvSpPr txBox="1"/>
          <p:nvPr/>
        </p:nvSpPr>
        <p:spPr>
          <a:xfrm rot="16200000">
            <a:off x="2180317" y="4112704"/>
            <a:ext cx="956488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800" dirty="0" err="1"/>
              <a:t>p_gpu_lanes</a:t>
            </a:r>
            <a:r>
              <a:rPr lang="en-US" sz="800" dirty="0"/>
              <a:t>[1]</a:t>
            </a:r>
          </a:p>
        </p:txBody>
      </p:sp>
      <p:sp>
        <p:nvSpPr>
          <p:cNvPr id="1796" name="TextBox 1795">
            <a:extLst>
              <a:ext uri="{FF2B5EF4-FFF2-40B4-BE49-F238E27FC236}">
                <a16:creationId xmlns:a16="http://schemas.microsoft.com/office/drawing/2014/main" id="{FD504CCD-6AB3-272C-117C-B14F691FFE93}"/>
              </a:ext>
            </a:extLst>
          </p:cNvPr>
          <p:cNvSpPr txBox="1"/>
          <p:nvPr/>
        </p:nvSpPr>
        <p:spPr>
          <a:xfrm rot="16200000">
            <a:off x="2186733" y="2734576"/>
            <a:ext cx="956488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800" dirty="0" err="1"/>
              <a:t>p_gpu_lanes</a:t>
            </a:r>
            <a:r>
              <a:rPr lang="en-US" sz="800" dirty="0"/>
              <a:t>[2]</a:t>
            </a:r>
          </a:p>
        </p:txBody>
      </p:sp>
      <p:sp>
        <p:nvSpPr>
          <p:cNvPr id="1797" name="TextBox 1796">
            <a:extLst>
              <a:ext uri="{FF2B5EF4-FFF2-40B4-BE49-F238E27FC236}">
                <a16:creationId xmlns:a16="http://schemas.microsoft.com/office/drawing/2014/main" id="{CD0DCF01-6F0D-6B8B-D1A3-312AFB2448C0}"/>
              </a:ext>
            </a:extLst>
          </p:cNvPr>
          <p:cNvSpPr txBox="1"/>
          <p:nvPr/>
        </p:nvSpPr>
        <p:spPr>
          <a:xfrm rot="16200000">
            <a:off x="2195983" y="1356447"/>
            <a:ext cx="956488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800" dirty="0" err="1"/>
              <a:t>p_gpu_lanes</a:t>
            </a:r>
            <a:r>
              <a:rPr lang="en-US" sz="800" dirty="0"/>
              <a:t>[3]</a:t>
            </a:r>
          </a:p>
        </p:txBody>
      </p:sp>
      <p:sp>
        <p:nvSpPr>
          <p:cNvPr id="1694" name="TextBox 1693">
            <a:extLst>
              <a:ext uri="{FF2B5EF4-FFF2-40B4-BE49-F238E27FC236}">
                <a16:creationId xmlns:a16="http://schemas.microsoft.com/office/drawing/2014/main" id="{D3D64951-BB44-00C7-A949-DE011DF52340}"/>
              </a:ext>
            </a:extLst>
          </p:cNvPr>
          <p:cNvSpPr txBox="1"/>
          <p:nvPr/>
        </p:nvSpPr>
        <p:spPr>
          <a:xfrm rot="16200000">
            <a:off x="2178815" y="5481104"/>
            <a:ext cx="956488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800" dirty="0" err="1"/>
              <a:t>p_gpu_lanes</a:t>
            </a:r>
            <a:r>
              <a:rPr lang="en-US" sz="800" dirty="0"/>
              <a:t>[0]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FB5B17-F54B-895B-F446-3D0DA3D5B889}"/>
              </a:ext>
            </a:extLst>
          </p:cNvPr>
          <p:cNvSpPr txBox="1"/>
          <p:nvPr/>
        </p:nvSpPr>
        <p:spPr>
          <a:xfrm rot="16200000">
            <a:off x="3252199" y="3504198"/>
            <a:ext cx="833557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/>
              <a:t>p_ib_lanes</a:t>
            </a:r>
            <a:r>
              <a:rPr lang="en-US" sz="800" dirty="0"/>
              <a:t>[0]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048D3C-E773-6546-A753-FE79FFDD8D4E}"/>
              </a:ext>
            </a:extLst>
          </p:cNvPr>
          <p:cNvSpPr txBox="1"/>
          <p:nvPr/>
        </p:nvSpPr>
        <p:spPr>
          <a:xfrm rot="16200000">
            <a:off x="4522868" y="3504198"/>
            <a:ext cx="833557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/>
              <a:t>p_ib_cables</a:t>
            </a:r>
            <a:r>
              <a:rPr lang="en-US" sz="800" dirty="0"/>
              <a:t>[3]</a:t>
            </a:r>
          </a:p>
        </p:txBody>
      </p:sp>
      <p:grpSp>
        <p:nvGrpSpPr>
          <p:cNvPr id="1110" name="Group 1109">
            <a:extLst>
              <a:ext uri="{FF2B5EF4-FFF2-40B4-BE49-F238E27FC236}">
                <a16:creationId xmlns:a16="http://schemas.microsoft.com/office/drawing/2014/main" id="{808BDA1D-3C89-0C98-36A4-589A160C138E}"/>
              </a:ext>
            </a:extLst>
          </p:cNvPr>
          <p:cNvGrpSpPr/>
          <p:nvPr/>
        </p:nvGrpSpPr>
        <p:grpSpPr>
          <a:xfrm>
            <a:off x="5694194" y="5057733"/>
            <a:ext cx="5242957" cy="1334273"/>
            <a:chOff x="5694194" y="5057733"/>
            <a:chExt cx="5242957" cy="1334273"/>
          </a:xfrm>
        </p:grpSpPr>
        <p:grpSp>
          <p:nvGrpSpPr>
            <p:cNvPr id="1102" name="Group 1101">
              <a:extLst>
                <a:ext uri="{FF2B5EF4-FFF2-40B4-BE49-F238E27FC236}">
                  <a16:creationId xmlns:a16="http://schemas.microsoft.com/office/drawing/2014/main" id="{5B929222-A2BF-1F41-56C9-1D0CF2497205}"/>
                </a:ext>
              </a:extLst>
            </p:cNvPr>
            <p:cNvGrpSpPr/>
            <p:nvPr/>
          </p:nvGrpSpPr>
          <p:grpSpPr>
            <a:xfrm>
              <a:off x="5694194" y="5057733"/>
              <a:ext cx="5242957" cy="1334273"/>
              <a:chOff x="5694194" y="5057733"/>
              <a:chExt cx="5242957" cy="1334273"/>
            </a:xfrm>
          </p:grpSpPr>
          <p:grpSp>
            <p:nvGrpSpPr>
              <p:cNvPr id="1847" name="Group 1846">
                <a:extLst>
                  <a:ext uri="{FF2B5EF4-FFF2-40B4-BE49-F238E27FC236}">
                    <a16:creationId xmlns:a16="http://schemas.microsoft.com/office/drawing/2014/main" id="{7FB4952F-6005-7E44-6D3D-44A8A8EB3548}"/>
                  </a:ext>
                </a:extLst>
              </p:cNvPr>
              <p:cNvGrpSpPr/>
              <p:nvPr/>
            </p:nvGrpSpPr>
            <p:grpSpPr>
              <a:xfrm>
                <a:off x="5694194" y="5076136"/>
                <a:ext cx="5242957" cy="1315870"/>
                <a:chOff x="5694194" y="498463"/>
                <a:chExt cx="5242957" cy="1315870"/>
              </a:xfrm>
            </p:grpSpPr>
            <p:grpSp>
              <p:nvGrpSpPr>
                <p:cNvPr id="1848" name="Group 1847">
                  <a:extLst>
                    <a:ext uri="{FF2B5EF4-FFF2-40B4-BE49-F238E27FC236}">
                      <a16:creationId xmlns:a16="http://schemas.microsoft.com/office/drawing/2014/main" id="{8B5F9966-0D79-B32D-AF86-734312429577}"/>
                    </a:ext>
                  </a:extLst>
                </p:cNvPr>
                <p:cNvGrpSpPr/>
                <p:nvPr/>
              </p:nvGrpSpPr>
              <p:grpSpPr>
                <a:xfrm>
                  <a:off x="5694194" y="1346309"/>
                  <a:ext cx="587465" cy="96312"/>
                  <a:chOff x="2324934" y="1510774"/>
                  <a:chExt cx="587465" cy="96312"/>
                </a:xfrm>
              </p:grpSpPr>
              <p:cxnSp>
                <p:nvCxnSpPr>
                  <p:cNvPr id="1093" name="Straight Connector 1092">
                    <a:extLst>
                      <a:ext uri="{FF2B5EF4-FFF2-40B4-BE49-F238E27FC236}">
                        <a16:creationId xmlns:a16="http://schemas.microsoft.com/office/drawing/2014/main" id="{D8BC6C88-28BC-2C34-B2E2-CA510A031FE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324934" y="1510774"/>
                    <a:ext cx="587465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headEnd type="triangle"/>
                    <a:tailEnd type="non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94" name="Straight Connector 1093">
                    <a:extLst>
                      <a:ext uri="{FF2B5EF4-FFF2-40B4-BE49-F238E27FC236}">
                        <a16:creationId xmlns:a16="http://schemas.microsoft.com/office/drawing/2014/main" id="{2943A0DD-0090-5AEC-F6EC-2BE16F6F82F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324934" y="1607086"/>
                    <a:ext cx="587465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849" name="Group 1848">
                  <a:extLst>
                    <a:ext uri="{FF2B5EF4-FFF2-40B4-BE49-F238E27FC236}">
                      <a16:creationId xmlns:a16="http://schemas.microsoft.com/office/drawing/2014/main" id="{7621E3BF-8E6F-D905-D591-CE50664D3E39}"/>
                    </a:ext>
                  </a:extLst>
                </p:cNvPr>
                <p:cNvGrpSpPr/>
                <p:nvPr/>
              </p:nvGrpSpPr>
              <p:grpSpPr>
                <a:xfrm>
                  <a:off x="6205098" y="498463"/>
                  <a:ext cx="4732053" cy="1168391"/>
                  <a:chOff x="6205098" y="498463"/>
                  <a:chExt cx="4732053" cy="1168391"/>
                </a:xfrm>
              </p:grpSpPr>
              <p:sp>
                <p:nvSpPr>
                  <p:cNvPr id="1851" name="TextBox 1850">
                    <a:extLst>
                      <a:ext uri="{FF2B5EF4-FFF2-40B4-BE49-F238E27FC236}">
                        <a16:creationId xmlns:a16="http://schemas.microsoft.com/office/drawing/2014/main" id="{C25BAC5E-1B14-E46C-C6CB-1D022BD2F7F8}"/>
                      </a:ext>
                    </a:extLst>
                  </p:cNvPr>
                  <p:cNvSpPr txBox="1"/>
                  <p:nvPr/>
                </p:nvSpPr>
                <p:spPr>
                  <a:xfrm>
                    <a:off x="7535418" y="500979"/>
                    <a:ext cx="601448" cy="25391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1050" b="1" dirty="0">
                        <a:solidFill>
                          <a:srgbClr val="0070C0"/>
                        </a:solidFill>
                      </a:rPr>
                      <a:t>Decode</a:t>
                    </a:r>
                  </a:p>
                </p:txBody>
              </p:sp>
              <p:grpSp>
                <p:nvGrpSpPr>
                  <p:cNvPr id="1852" name="Group 1851">
                    <a:extLst>
                      <a:ext uri="{FF2B5EF4-FFF2-40B4-BE49-F238E27FC236}">
                        <a16:creationId xmlns:a16="http://schemas.microsoft.com/office/drawing/2014/main" id="{7BB6CB5D-DA46-AA8D-DCE7-A9247BEAD404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7635912" y="792402"/>
                    <a:ext cx="411851" cy="351150"/>
                    <a:chOff x="3251348" y="1795096"/>
                    <a:chExt cx="3827633" cy="3263516"/>
                  </a:xfrm>
                </p:grpSpPr>
                <p:sp>
                  <p:nvSpPr>
                    <p:cNvPr id="1361" name="Rectangle 1360">
                      <a:extLst>
                        <a:ext uri="{FF2B5EF4-FFF2-40B4-BE49-F238E27FC236}">
                          <a16:creationId xmlns:a16="http://schemas.microsoft.com/office/drawing/2014/main" id="{774D0E3D-D638-D001-CFAC-7901BFF662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51348" y="1795096"/>
                      <a:ext cx="3824019" cy="325990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grpSp>
                  <p:nvGrpSpPr>
                    <p:cNvPr id="1362" name="Group 1361">
                      <a:extLst>
                        <a:ext uri="{FF2B5EF4-FFF2-40B4-BE49-F238E27FC236}">
                          <a16:creationId xmlns:a16="http://schemas.microsoft.com/office/drawing/2014/main" id="{7826C254-07F4-177F-84BE-5FA42569A48F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>
                    <a:xfrm>
                      <a:off x="3251348" y="1795096"/>
                      <a:ext cx="3827633" cy="3263516"/>
                      <a:chOff x="3251348" y="1795096"/>
                      <a:chExt cx="3827633" cy="3263516"/>
                    </a:xfrm>
                  </p:grpSpPr>
                  <p:sp>
                    <p:nvSpPr>
                      <p:cNvPr id="1363" name="Freeform: Shape 1362">
                        <a:extLst>
                          <a:ext uri="{FF2B5EF4-FFF2-40B4-BE49-F238E27FC236}">
                            <a16:creationId xmlns:a16="http://schemas.microsoft.com/office/drawing/2014/main" id="{666C4613-2E30-3B99-C978-1881C6F20CD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855720" y="2377440"/>
                        <a:ext cx="2606040" cy="2072640"/>
                      </a:xfrm>
                      <a:custGeom>
                        <a:avLst/>
                        <a:gdLst>
                          <a:gd name="csX0" fmla="*/ 387364 w 2606040"/>
                          <a:gd name="csY0" fmla="*/ 152400 h 2072640"/>
                          <a:gd name="csX1" fmla="*/ 152400 w 2606040"/>
                          <a:gd name="csY1" fmla="*/ 387364 h 2072640"/>
                          <a:gd name="csX2" fmla="*/ 152400 w 2606040"/>
                          <a:gd name="csY2" fmla="*/ 1692896 h 2072640"/>
                          <a:gd name="csX3" fmla="*/ 387364 w 2606040"/>
                          <a:gd name="csY3" fmla="*/ 1927860 h 2072640"/>
                          <a:gd name="csX4" fmla="*/ 2218676 w 2606040"/>
                          <a:gd name="csY4" fmla="*/ 1927860 h 2072640"/>
                          <a:gd name="csX5" fmla="*/ 2453640 w 2606040"/>
                          <a:gd name="csY5" fmla="*/ 1692896 h 2072640"/>
                          <a:gd name="csX6" fmla="*/ 2453640 w 2606040"/>
                          <a:gd name="csY6" fmla="*/ 387364 h 2072640"/>
                          <a:gd name="csX7" fmla="*/ 2218676 w 2606040"/>
                          <a:gd name="csY7" fmla="*/ 152400 h 2072640"/>
                          <a:gd name="csX8" fmla="*/ 345447 w 2606040"/>
                          <a:gd name="csY8" fmla="*/ 0 h 2072640"/>
                          <a:gd name="csX9" fmla="*/ 2260593 w 2606040"/>
                          <a:gd name="csY9" fmla="*/ 0 h 2072640"/>
                          <a:gd name="csX10" fmla="*/ 2606040 w 2606040"/>
                          <a:gd name="csY10" fmla="*/ 345447 h 2072640"/>
                          <a:gd name="csX11" fmla="*/ 2606040 w 2606040"/>
                          <a:gd name="csY11" fmla="*/ 1727193 h 2072640"/>
                          <a:gd name="csX12" fmla="*/ 2260593 w 2606040"/>
                          <a:gd name="csY12" fmla="*/ 2072640 h 2072640"/>
                          <a:gd name="csX13" fmla="*/ 345447 w 2606040"/>
                          <a:gd name="csY13" fmla="*/ 2072640 h 2072640"/>
                          <a:gd name="csX14" fmla="*/ 0 w 2606040"/>
                          <a:gd name="csY14" fmla="*/ 1727193 h 2072640"/>
                          <a:gd name="csX15" fmla="*/ 0 w 2606040"/>
                          <a:gd name="csY15" fmla="*/ 345447 h 2072640"/>
                          <a:gd name="csX16" fmla="*/ 345447 w 2606040"/>
                          <a:gd name="csY16" fmla="*/ 0 h 2072640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  <a:cxn ang="0">
                            <a:pos x="csX5" y="csY5"/>
                          </a:cxn>
                          <a:cxn ang="0">
                            <a:pos x="csX6" y="csY6"/>
                          </a:cxn>
                          <a:cxn ang="0">
                            <a:pos x="csX7" y="csY7"/>
                          </a:cxn>
                          <a:cxn ang="0">
                            <a:pos x="csX8" y="csY8"/>
                          </a:cxn>
                          <a:cxn ang="0">
                            <a:pos x="csX9" y="csY9"/>
                          </a:cxn>
                          <a:cxn ang="0">
                            <a:pos x="csX10" y="csY10"/>
                          </a:cxn>
                          <a:cxn ang="0">
                            <a:pos x="csX11" y="csY11"/>
                          </a:cxn>
                          <a:cxn ang="0">
                            <a:pos x="csX12" y="csY12"/>
                          </a:cxn>
                          <a:cxn ang="0">
                            <a:pos x="csX13" y="csY13"/>
                          </a:cxn>
                          <a:cxn ang="0">
                            <a:pos x="csX14" y="csY14"/>
                          </a:cxn>
                          <a:cxn ang="0">
                            <a:pos x="csX15" y="csY15"/>
                          </a:cxn>
                          <a:cxn ang="0">
                            <a:pos x="csX16" y="csY16"/>
                          </a:cxn>
                        </a:cxnLst>
                        <a:rect l="l" t="t" r="r" b="b"/>
                        <a:pathLst>
                          <a:path w="2606040" h="2072640">
                            <a:moveTo>
                              <a:pt x="387364" y="152400"/>
                            </a:moveTo>
                            <a:cubicBezTo>
                              <a:pt x="257597" y="152400"/>
                              <a:pt x="152400" y="257597"/>
                              <a:pt x="152400" y="387364"/>
                            </a:cubicBezTo>
                            <a:lnTo>
                              <a:pt x="152400" y="1692896"/>
                            </a:lnTo>
                            <a:cubicBezTo>
                              <a:pt x="152400" y="1822663"/>
                              <a:pt x="257597" y="1927860"/>
                              <a:pt x="387364" y="1927860"/>
                            </a:cubicBezTo>
                            <a:lnTo>
                              <a:pt x="2218676" y="1927860"/>
                            </a:lnTo>
                            <a:cubicBezTo>
                              <a:pt x="2348443" y="1927860"/>
                              <a:pt x="2453640" y="1822663"/>
                              <a:pt x="2453640" y="1692896"/>
                            </a:cubicBezTo>
                            <a:lnTo>
                              <a:pt x="2453640" y="387364"/>
                            </a:lnTo>
                            <a:cubicBezTo>
                              <a:pt x="2453640" y="257597"/>
                              <a:pt x="2348443" y="152400"/>
                              <a:pt x="2218676" y="152400"/>
                            </a:cubicBezTo>
                            <a:close/>
                            <a:moveTo>
                              <a:pt x="345447" y="0"/>
                            </a:moveTo>
                            <a:lnTo>
                              <a:pt x="2260593" y="0"/>
                            </a:lnTo>
                            <a:cubicBezTo>
                              <a:pt x="2451378" y="0"/>
                              <a:pt x="2606040" y="154662"/>
                              <a:pt x="2606040" y="345447"/>
                            </a:cubicBezTo>
                            <a:lnTo>
                              <a:pt x="2606040" y="1727193"/>
                            </a:lnTo>
                            <a:cubicBezTo>
                              <a:pt x="2606040" y="1917978"/>
                              <a:pt x="2451378" y="2072640"/>
                              <a:pt x="2260593" y="2072640"/>
                            </a:cubicBezTo>
                            <a:lnTo>
                              <a:pt x="345447" y="2072640"/>
                            </a:lnTo>
                            <a:cubicBezTo>
                              <a:pt x="154662" y="2072640"/>
                              <a:pt x="0" y="1917978"/>
                              <a:pt x="0" y="1727193"/>
                            </a:cubicBezTo>
                            <a:lnTo>
                              <a:pt x="0" y="345447"/>
                            </a:lnTo>
                            <a:cubicBezTo>
                              <a:pt x="0" y="154662"/>
                              <a:pt x="154662" y="0"/>
                              <a:pt x="345447" y="0"/>
                            </a:cubicBezTo>
                            <a:close/>
                          </a:path>
                        </a:pathLst>
                      </a:custGeom>
                      <a:solidFill>
                        <a:srgbClr val="0070C0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wrap="square" rtlCol="0" anchor="ctr">
                        <a:noAutofit/>
                      </a:bodyPr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364" name="Freeform: Shape 1363">
                        <a:extLst>
                          <a:ext uri="{FF2B5EF4-FFF2-40B4-BE49-F238E27FC236}">
                            <a16:creationId xmlns:a16="http://schemas.microsoft.com/office/drawing/2014/main" id="{CE40DDA8-CC47-A69E-E930-3A1B73163D6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32427" y="3116580"/>
                        <a:ext cx="1652626" cy="629848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176486" h="448382">
                            <a:moveTo>
                              <a:pt x="548990" y="75344"/>
                            </a:moveTo>
                            <a:lnTo>
                              <a:pt x="548990" y="222349"/>
                            </a:lnTo>
                            <a:lnTo>
                              <a:pt x="588503" y="222349"/>
                            </a:lnTo>
                            <a:cubicBezTo>
                              <a:pt x="602568" y="222349"/>
                              <a:pt x="614344" y="220452"/>
                              <a:pt x="623831" y="216657"/>
                            </a:cubicBezTo>
                            <a:cubicBezTo>
                              <a:pt x="633319" y="212861"/>
                              <a:pt x="641077" y="207559"/>
                              <a:pt x="647104" y="200750"/>
                            </a:cubicBezTo>
                            <a:cubicBezTo>
                              <a:pt x="653132" y="193942"/>
                              <a:pt x="657708" y="185793"/>
                              <a:pt x="660834" y="176305"/>
                            </a:cubicBezTo>
                            <a:cubicBezTo>
                              <a:pt x="663959" y="166818"/>
                              <a:pt x="665522" y="156493"/>
                              <a:pt x="665522" y="145331"/>
                            </a:cubicBezTo>
                            <a:cubicBezTo>
                              <a:pt x="665522" y="130150"/>
                              <a:pt x="662843" y="117649"/>
                              <a:pt x="657485" y="107826"/>
                            </a:cubicBezTo>
                            <a:cubicBezTo>
                              <a:pt x="652127" y="98003"/>
                              <a:pt x="645542" y="90748"/>
                              <a:pt x="637728" y="86060"/>
                            </a:cubicBezTo>
                            <a:cubicBezTo>
                              <a:pt x="629915" y="81372"/>
                              <a:pt x="621711" y="78414"/>
                              <a:pt x="613116" y="77186"/>
                            </a:cubicBezTo>
                            <a:cubicBezTo>
                              <a:pt x="604521" y="75958"/>
                              <a:pt x="595647" y="75344"/>
                              <a:pt x="586494" y="75344"/>
                            </a:cubicBezTo>
                            <a:close/>
                            <a:moveTo>
                              <a:pt x="490723" y="7367"/>
                            </a:moveTo>
                            <a:lnTo>
                              <a:pt x="592857" y="7367"/>
                            </a:lnTo>
                            <a:cubicBezTo>
                              <a:pt x="603126" y="7367"/>
                              <a:pt x="612893" y="7758"/>
                              <a:pt x="622157" y="8539"/>
                            </a:cubicBezTo>
                            <a:cubicBezTo>
                              <a:pt x="631422" y="9320"/>
                              <a:pt x="642528" y="10995"/>
                              <a:pt x="655476" y="13562"/>
                            </a:cubicBezTo>
                            <a:cubicBezTo>
                              <a:pt x="668424" y="16129"/>
                              <a:pt x="681540" y="20873"/>
                              <a:pt x="694822" y="27794"/>
                            </a:cubicBezTo>
                            <a:cubicBezTo>
                              <a:pt x="708105" y="34714"/>
                              <a:pt x="719435" y="43476"/>
                              <a:pt x="728811" y="54080"/>
                            </a:cubicBezTo>
                            <a:cubicBezTo>
                              <a:pt x="738187" y="64684"/>
                              <a:pt x="745331" y="77074"/>
                              <a:pt x="750242" y="91250"/>
                            </a:cubicBezTo>
                            <a:cubicBezTo>
                              <a:pt x="755154" y="105426"/>
                              <a:pt x="757609" y="121332"/>
                              <a:pt x="757609" y="138968"/>
                            </a:cubicBezTo>
                            <a:cubicBezTo>
                              <a:pt x="757609" y="163302"/>
                              <a:pt x="753814" y="184844"/>
                              <a:pt x="746224" y="203597"/>
                            </a:cubicBezTo>
                            <a:cubicBezTo>
                              <a:pt x="738634" y="222349"/>
                              <a:pt x="727583" y="238144"/>
                              <a:pt x="713072" y="250980"/>
                            </a:cubicBezTo>
                            <a:cubicBezTo>
                              <a:pt x="698562" y="263816"/>
                              <a:pt x="680758" y="273583"/>
                              <a:pt x="659662" y="280281"/>
                            </a:cubicBezTo>
                            <a:cubicBezTo>
                              <a:pt x="638565" y="286978"/>
                              <a:pt x="613730" y="290326"/>
                              <a:pt x="585155" y="290326"/>
                            </a:cubicBezTo>
                            <a:lnTo>
                              <a:pt x="548990" y="290326"/>
                            </a:lnTo>
                            <a:lnTo>
                              <a:pt x="548990" y="428625"/>
                            </a:lnTo>
                            <a:cubicBezTo>
                              <a:pt x="548990" y="430857"/>
                              <a:pt x="548264" y="432867"/>
                              <a:pt x="546813" y="434653"/>
                            </a:cubicBezTo>
                            <a:cubicBezTo>
                              <a:pt x="545362" y="436439"/>
                              <a:pt x="542962" y="437890"/>
                              <a:pt x="539613" y="439006"/>
                            </a:cubicBezTo>
                            <a:cubicBezTo>
                              <a:pt x="536265" y="440122"/>
                              <a:pt x="531800" y="441015"/>
                              <a:pt x="526219" y="441685"/>
                            </a:cubicBezTo>
                            <a:cubicBezTo>
                              <a:pt x="520638" y="442354"/>
                              <a:pt x="513494" y="442689"/>
                              <a:pt x="504788" y="442689"/>
                            </a:cubicBezTo>
                            <a:cubicBezTo>
                              <a:pt x="496304" y="442689"/>
                              <a:pt x="489216" y="442354"/>
                              <a:pt x="483524" y="441685"/>
                            </a:cubicBezTo>
                            <a:cubicBezTo>
                              <a:pt x="477831" y="441015"/>
                              <a:pt x="473310" y="440122"/>
                              <a:pt x="469962" y="439006"/>
                            </a:cubicBezTo>
                            <a:cubicBezTo>
                              <a:pt x="466613" y="437890"/>
                              <a:pt x="464269" y="436439"/>
                              <a:pt x="462930" y="434653"/>
                            </a:cubicBezTo>
                            <a:cubicBezTo>
                              <a:pt x="461590" y="432867"/>
                              <a:pt x="460920" y="430857"/>
                              <a:pt x="460920" y="428625"/>
                            </a:cubicBezTo>
                            <a:lnTo>
                              <a:pt x="460920" y="38844"/>
                            </a:lnTo>
                            <a:cubicBezTo>
                              <a:pt x="460920" y="28352"/>
                              <a:pt x="463655" y="20482"/>
                              <a:pt x="469125" y="15236"/>
                            </a:cubicBezTo>
                            <a:cubicBezTo>
                              <a:pt x="474594" y="9990"/>
                              <a:pt x="481794" y="7367"/>
                              <a:pt x="490723" y="7367"/>
                            </a:cubicBezTo>
                            <a:close/>
                            <a:moveTo>
                              <a:pt x="866738" y="5358"/>
                            </a:moveTo>
                            <a:cubicBezTo>
                              <a:pt x="875221" y="5358"/>
                              <a:pt x="882253" y="5693"/>
                              <a:pt x="887834" y="6362"/>
                            </a:cubicBezTo>
                            <a:cubicBezTo>
                              <a:pt x="893415" y="7032"/>
                              <a:pt x="897880" y="7925"/>
                              <a:pt x="901228" y="9041"/>
                            </a:cubicBezTo>
                            <a:cubicBezTo>
                              <a:pt x="904577" y="10158"/>
                              <a:pt x="906977" y="11609"/>
                              <a:pt x="908428" y="13394"/>
                            </a:cubicBezTo>
                            <a:cubicBezTo>
                              <a:pt x="909879" y="15180"/>
                              <a:pt x="910605" y="17190"/>
                              <a:pt x="910605" y="19422"/>
                            </a:cubicBezTo>
                            <a:lnTo>
                              <a:pt x="910605" y="275258"/>
                            </a:lnTo>
                            <a:cubicBezTo>
                              <a:pt x="910605" y="292447"/>
                              <a:pt x="912725" y="307349"/>
                              <a:pt x="916967" y="319962"/>
                            </a:cubicBezTo>
                            <a:cubicBezTo>
                              <a:pt x="921209" y="332575"/>
                              <a:pt x="927292" y="343012"/>
                              <a:pt x="935217" y="351272"/>
                            </a:cubicBezTo>
                            <a:cubicBezTo>
                              <a:pt x="943142" y="359532"/>
                              <a:pt x="952630" y="365727"/>
                              <a:pt x="963680" y="369857"/>
                            </a:cubicBezTo>
                            <a:cubicBezTo>
                              <a:pt x="974731" y="373987"/>
                              <a:pt x="987065" y="376052"/>
                              <a:pt x="1000683" y="376052"/>
                            </a:cubicBezTo>
                            <a:cubicBezTo>
                              <a:pt x="1014524" y="376052"/>
                              <a:pt x="1026914" y="373931"/>
                              <a:pt x="1037853" y="369689"/>
                            </a:cubicBezTo>
                            <a:cubicBezTo>
                              <a:pt x="1048791" y="365447"/>
                              <a:pt x="1058056" y="359252"/>
                              <a:pt x="1065646" y="351104"/>
                            </a:cubicBezTo>
                            <a:cubicBezTo>
                              <a:pt x="1073237" y="342956"/>
                              <a:pt x="1079097" y="332910"/>
                              <a:pt x="1083227" y="320966"/>
                            </a:cubicBezTo>
                            <a:cubicBezTo>
                              <a:pt x="1087357" y="309023"/>
                              <a:pt x="1089422" y="295461"/>
                              <a:pt x="1089422" y="280281"/>
                            </a:cubicBezTo>
                            <a:lnTo>
                              <a:pt x="1089422" y="19422"/>
                            </a:lnTo>
                            <a:cubicBezTo>
                              <a:pt x="1089422" y="17190"/>
                              <a:pt x="1090091" y="15180"/>
                              <a:pt x="1091431" y="13394"/>
                            </a:cubicBezTo>
                            <a:cubicBezTo>
                              <a:pt x="1092770" y="11609"/>
                              <a:pt x="1095114" y="10158"/>
                              <a:pt x="1098463" y="9041"/>
                            </a:cubicBezTo>
                            <a:cubicBezTo>
                              <a:pt x="1101812" y="7925"/>
                              <a:pt x="1106332" y="7032"/>
                              <a:pt x="1112025" y="6362"/>
                            </a:cubicBezTo>
                            <a:cubicBezTo>
                              <a:pt x="1117718" y="5693"/>
                              <a:pt x="1124805" y="5358"/>
                              <a:pt x="1133289" y="5358"/>
                            </a:cubicBezTo>
                            <a:cubicBezTo>
                              <a:pt x="1141772" y="5358"/>
                              <a:pt x="1148748" y="5693"/>
                              <a:pt x="1154218" y="6362"/>
                            </a:cubicBezTo>
                            <a:cubicBezTo>
                              <a:pt x="1159687" y="7032"/>
                              <a:pt x="1164096" y="7925"/>
                              <a:pt x="1167445" y="9041"/>
                            </a:cubicBezTo>
                            <a:cubicBezTo>
                              <a:pt x="1170793" y="10158"/>
                              <a:pt x="1173137" y="11609"/>
                              <a:pt x="1174477" y="13394"/>
                            </a:cubicBezTo>
                            <a:cubicBezTo>
                              <a:pt x="1175816" y="15180"/>
                              <a:pt x="1176486" y="17190"/>
                              <a:pt x="1176486" y="19422"/>
                            </a:cubicBezTo>
                            <a:lnTo>
                              <a:pt x="1176486" y="279276"/>
                            </a:lnTo>
                            <a:cubicBezTo>
                              <a:pt x="1176486" y="305842"/>
                              <a:pt x="1172579" y="329617"/>
                              <a:pt x="1164766" y="350602"/>
                            </a:cubicBezTo>
                            <a:cubicBezTo>
                              <a:pt x="1156952" y="371587"/>
                              <a:pt x="1145455" y="389334"/>
                              <a:pt x="1130275" y="403845"/>
                            </a:cubicBezTo>
                            <a:cubicBezTo>
                              <a:pt x="1115094" y="418356"/>
                              <a:pt x="1096342" y="429406"/>
                              <a:pt x="1074018" y="436997"/>
                            </a:cubicBezTo>
                            <a:cubicBezTo>
                              <a:pt x="1051694" y="444587"/>
                              <a:pt x="1026021" y="448382"/>
                              <a:pt x="996999" y="448382"/>
                            </a:cubicBezTo>
                            <a:cubicBezTo>
                              <a:pt x="969764" y="448382"/>
                              <a:pt x="945319" y="444978"/>
                              <a:pt x="923664" y="438169"/>
                            </a:cubicBezTo>
                            <a:cubicBezTo>
                              <a:pt x="902010" y="431360"/>
                              <a:pt x="883704" y="421035"/>
                              <a:pt x="868747" y="407194"/>
                            </a:cubicBezTo>
                            <a:cubicBezTo>
                              <a:pt x="853789" y="393353"/>
                              <a:pt x="842348" y="376107"/>
                              <a:pt x="834423" y="355457"/>
                            </a:cubicBezTo>
                            <a:cubicBezTo>
                              <a:pt x="826498" y="334807"/>
                              <a:pt x="822536" y="310642"/>
                              <a:pt x="822536" y="282959"/>
                            </a:cubicBezTo>
                            <a:lnTo>
                              <a:pt x="822536" y="19422"/>
                            </a:lnTo>
                            <a:cubicBezTo>
                              <a:pt x="822536" y="17190"/>
                              <a:pt x="823205" y="15180"/>
                              <a:pt x="824545" y="13394"/>
                            </a:cubicBezTo>
                            <a:cubicBezTo>
                              <a:pt x="825884" y="11609"/>
                              <a:pt x="828284" y="10158"/>
                              <a:pt x="831744" y="9041"/>
                            </a:cubicBezTo>
                            <a:cubicBezTo>
                              <a:pt x="835205" y="7925"/>
                              <a:pt x="839725" y="7032"/>
                              <a:pt x="845306" y="6362"/>
                            </a:cubicBezTo>
                            <a:cubicBezTo>
                              <a:pt x="850887" y="5693"/>
                              <a:pt x="858031" y="5358"/>
                              <a:pt x="866738" y="5358"/>
                            </a:cubicBezTo>
                            <a:close/>
                            <a:moveTo>
                              <a:pt x="225698" y="0"/>
                            </a:moveTo>
                            <a:cubicBezTo>
                              <a:pt x="244450" y="0"/>
                              <a:pt x="261528" y="1284"/>
                              <a:pt x="276932" y="3851"/>
                            </a:cubicBezTo>
                            <a:cubicBezTo>
                              <a:pt x="292335" y="6418"/>
                              <a:pt x="305786" y="9544"/>
                              <a:pt x="317283" y="13227"/>
                            </a:cubicBezTo>
                            <a:cubicBezTo>
                              <a:pt x="328780" y="16911"/>
                              <a:pt x="338323" y="20873"/>
                              <a:pt x="345914" y="25115"/>
                            </a:cubicBezTo>
                            <a:cubicBezTo>
                              <a:pt x="353504" y="29356"/>
                              <a:pt x="358806" y="33040"/>
                              <a:pt x="361820" y="36165"/>
                            </a:cubicBezTo>
                            <a:cubicBezTo>
                              <a:pt x="364833" y="39291"/>
                              <a:pt x="367010" y="43700"/>
                              <a:pt x="368349" y="49392"/>
                            </a:cubicBezTo>
                            <a:cubicBezTo>
                              <a:pt x="369689" y="55085"/>
                              <a:pt x="370359" y="63512"/>
                              <a:pt x="370359" y="74675"/>
                            </a:cubicBezTo>
                            <a:cubicBezTo>
                              <a:pt x="370359" y="81148"/>
                              <a:pt x="370080" y="86730"/>
                              <a:pt x="369521" y="91418"/>
                            </a:cubicBezTo>
                            <a:cubicBezTo>
                              <a:pt x="368963" y="96106"/>
                              <a:pt x="368182" y="99845"/>
                              <a:pt x="367177" y="102636"/>
                            </a:cubicBezTo>
                            <a:cubicBezTo>
                              <a:pt x="366173" y="105426"/>
                              <a:pt x="364945" y="107379"/>
                              <a:pt x="363494" y="108496"/>
                            </a:cubicBezTo>
                            <a:cubicBezTo>
                              <a:pt x="362043" y="109612"/>
                              <a:pt x="360313" y="110170"/>
                              <a:pt x="358304" y="110170"/>
                            </a:cubicBezTo>
                            <a:cubicBezTo>
                              <a:pt x="355401" y="110170"/>
                              <a:pt x="350713" y="108161"/>
                              <a:pt x="344239" y="104142"/>
                            </a:cubicBezTo>
                            <a:cubicBezTo>
                              <a:pt x="337765" y="100124"/>
                              <a:pt x="329170" y="95771"/>
                              <a:pt x="318455" y="91083"/>
                            </a:cubicBezTo>
                            <a:cubicBezTo>
                              <a:pt x="307739" y="86395"/>
                              <a:pt x="294959" y="82041"/>
                              <a:pt x="280113" y="78023"/>
                            </a:cubicBezTo>
                            <a:cubicBezTo>
                              <a:pt x="265267" y="74005"/>
                              <a:pt x="248022" y="71996"/>
                              <a:pt x="228377" y="71996"/>
                            </a:cubicBezTo>
                            <a:cubicBezTo>
                              <a:pt x="207392" y="71996"/>
                              <a:pt x="188416" y="75623"/>
                              <a:pt x="171450" y="82879"/>
                            </a:cubicBezTo>
                            <a:cubicBezTo>
                              <a:pt x="154483" y="90134"/>
                              <a:pt x="139973" y="100403"/>
                              <a:pt x="127918" y="113686"/>
                            </a:cubicBezTo>
                            <a:cubicBezTo>
                              <a:pt x="115862" y="126969"/>
                              <a:pt x="106598" y="142931"/>
                              <a:pt x="100124" y="161571"/>
                            </a:cubicBezTo>
                            <a:cubicBezTo>
                              <a:pt x="93650" y="180212"/>
                              <a:pt x="90413" y="200806"/>
                              <a:pt x="90413" y="223354"/>
                            </a:cubicBezTo>
                            <a:cubicBezTo>
                              <a:pt x="90413" y="248134"/>
                              <a:pt x="93706" y="269956"/>
                              <a:pt x="100291" y="288820"/>
                            </a:cubicBezTo>
                            <a:cubicBezTo>
                              <a:pt x="106877" y="307684"/>
                              <a:pt x="116086" y="323478"/>
                              <a:pt x="127918" y="336203"/>
                            </a:cubicBezTo>
                            <a:cubicBezTo>
                              <a:pt x="139749" y="348928"/>
                              <a:pt x="153981" y="358527"/>
                              <a:pt x="170613" y="365001"/>
                            </a:cubicBezTo>
                            <a:cubicBezTo>
                              <a:pt x="187244" y="371475"/>
                              <a:pt x="205606" y="374712"/>
                              <a:pt x="225698" y="374712"/>
                            </a:cubicBezTo>
                            <a:cubicBezTo>
                              <a:pt x="235520" y="374712"/>
                              <a:pt x="245231" y="373596"/>
                              <a:pt x="254831" y="371363"/>
                            </a:cubicBezTo>
                            <a:cubicBezTo>
                              <a:pt x="264430" y="369131"/>
                              <a:pt x="273360" y="365782"/>
                              <a:pt x="281620" y="361317"/>
                            </a:cubicBezTo>
                            <a:lnTo>
                              <a:pt x="281620" y="260858"/>
                            </a:lnTo>
                            <a:lnTo>
                              <a:pt x="199578" y="260858"/>
                            </a:lnTo>
                            <a:cubicBezTo>
                              <a:pt x="195560" y="260858"/>
                              <a:pt x="192435" y="258347"/>
                              <a:pt x="190202" y="253324"/>
                            </a:cubicBezTo>
                            <a:cubicBezTo>
                              <a:pt x="187970" y="248301"/>
                              <a:pt x="186853" y="239762"/>
                              <a:pt x="186853" y="227707"/>
                            </a:cubicBezTo>
                            <a:cubicBezTo>
                              <a:pt x="186853" y="221456"/>
                              <a:pt x="187133" y="216210"/>
                              <a:pt x="187691" y="211968"/>
                            </a:cubicBezTo>
                            <a:cubicBezTo>
                              <a:pt x="188249" y="207727"/>
                              <a:pt x="189086" y="204322"/>
                              <a:pt x="190202" y="201755"/>
                            </a:cubicBezTo>
                            <a:cubicBezTo>
                              <a:pt x="191318" y="199188"/>
                              <a:pt x="192658" y="197290"/>
                              <a:pt x="194220" y="196062"/>
                            </a:cubicBezTo>
                            <a:cubicBezTo>
                              <a:pt x="195783" y="194835"/>
                              <a:pt x="197569" y="194221"/>
                              <a:pt x="199578" y="194221"/>
                            </a:cubicBezTo>
                            <a:lnTo>
                              <a:pt x="345914" y="194221"/>
                            </a:lnTo>
                            <a:cubicBezTo>
                              <a:pt x="349485" y="194221"/>
                              <a:pt x="352667" y="194835"/>
                              <a:pt x="355457" y="196062"/>
                            </a:cubicBezTo>
                            <a:cubicBezTo>
                              <a:pt x="358248" y="197290"/>
                              <a:pt x="360703" y="199132"/>
                              <a:pt x="362824" y="201588"/>
                            </a:cubicBezTo>
                            <a:cubicBezTo>
                              <a:pt x="364945" y="204043"/>
                              <a:pt x="366563" y="207001"/>
                              <a:pt x="367680" y="210462"/>
                            </a:cubicBezTo>
                            <a:cubicBezTo>
                              <a:pt x="368796" y="213922"/>
                              <a:pt x="369354" y="217884"/>
                              <a:pt x="369354" y="222349"/>
                            </a:cubicBezTo>
                            <a:lnTo>
                              <a:pt x="369354" y="394804"/>
                            </a:lnTo>
                            <a:cubicBezTo>
                              <a:pt x="369354" y="401501"/>
                              <a:pt x="368182" y="407361"/>
                              <a:pt x="365838" y="412384"/>
                            </a:cubicBezTo>
                            <a:cubicBezTo>
                              <a:pt x="363494" y="417407"/>
                              <a:pt x="358694" y="421370"/>
                              <a:pt x="351439" y="424272"/>
                            </a:cubicBezTo>
                            <a:cubicBezTo>
                              <a:pt x="344183" y="427174"/>
                              <a:pt x="335198" y="430188"/>
                              <a:pt x="324482" y="433313"/>
                            </a:cubicBezTo>
                            <a:cubicBezTo>
                              <a:pt x="313767" y="436439"/>
                              <a:pt x="302660" y="439117"/>
                              <a:pt x="291163" y="441350"/>
                            </a:cubicBezTo>
                            <a:cubicBezTo>
                              <a:pt x="279666" y="443582"/>
                              <a:pt x="268058" y="445257"/>
                              <a:pt x="256338" y="446373"/>
                            </a:cubicBezTo>
                            <a:cubicBezTo>
                              <a:pt x="244617" y="447489"/>
                              <a:pt x="232841" y="448047"/>
                              <a:pt x="221010" y="448047"/>
                            </a:cubicBezTo>
                            <a:cubicBezTo>
                              <a:pt x="186407" y="448047"/>
                              <a:pt x="155432" y="443080"/>
                              <a:pt x="128085" y="433146"/>
                            </a:cubicBezTo>
                            <a:cubicBezTo>
                              <a:pt x="100738" y="423211"/>
                              <a:pt x="77576" y="408812"/>
                              <a:pt x="58601" y="389948"/>
                            </a:cubicBezTo>
                            <a:cubicBezTo>
                              <a:pt x="39625" y="371084"/>
                              <a:pt x="25115" y="348090"/>
                              <a:pt x="15069" y="320966"/>
                            </a:cubicBezTo>
                            <a:cubicBezTo>
                              <a:pt x="5023" y="293842"/>
                              <a:pt x="0" y="263091"/>
                              <a:pt x="0" y="228712"/>
                            </a:cubicBezTo>
                            <a:cubicBezTo>
                              <a:pt x="0" y="193216"/>
                              <a:pt x="5358" y="161348"/>
                              <a:pt x="16073" y="133108"/>
                            </a:cubicBezTo>
                            <a:cubicBezTo>
                              <a:pt x="26789" y="104868"/>
                              <a:pt x="41969" y="80869"/>
                              <a:pt x="61615" y="61113"/>
                            </a:cubicBezTo>
                            <a:cubicBezTo>
                              <a:pt x="81260" y="41356"/>
                              <a:pt x="104979" y="26231"/>
                              <a:pt x="132773" y="15739"/>
                            </a:cubicBezTo>
                            <a:cubicBezTo>
                              <a:pt x="160567" y="5246"/>
                              <a:pt x="191542" y="0"/>
                              <a:pt x="225698" y="0"/>
                            </a:cubicBezTo>
                            <a:close/>
                          </a:path>
                        </a:pathLst>
                      </a:custGeom>
                      <a:solidFill>
                        <a:srgbClr val="0070C0"/>
                      </a:solidFill>
                      <a:ln w="0">
                        <a:noFill/>
                      </a:ln>
                      <a:effectLst/>
                    </p:spPr>
                    <p:txBody>
      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algn="ctr"/>
                        <a:endParaRPr lang="en-US" sz="5400" b="1" dirty="0">
                          <a:ln w="0"/>
                        </a:endParaRPr>
                      </a:p>
                    </p:txBody>
                  </p:sp>
                  <p:sp>
                    <p:nvSpPr>
                      <p:cNvPr id="1365" name="Rectangle: Rounded Corners 1364">
                        <a:extLst>
                          <a:ext uri="{FF2B5EF4-FFF2-40B4-BE49-F238E27FC236}">
                            <a16:creationId xmlns:a16="http://schemas.microsoft.com/office/drawing/2014/main" id="{448A890B-B78A-7338-6A8D-B7D74A44CD2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24350" y="1795096"/>
                        <a:ext cx="266700" cy="388229"/>
                      </a:xfrm>
                      <a:prstGeom prst="roundRect">
                        <a:avLst/>
                      </a:prstGeom>
                      <a:solidFill>
                        <a:srgbClr val="0070C0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366" name="Rectangle: Rounded Corners 1365">
                        <a:extLst>
                          <a:ext uri="{FF2B5EF4-FFF2-40B4-BE49-F238E27FC236}">
                            <a16:creationId xmlns:a16="http://schemas.microsoft.com/office/drawing/2014/main" id="{16991622-0222-EF03-45A3-19E96330ED9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08220" y="1798711"/>
                        <a:ext cx="266700" cy="388229"/>
                      </a:xfrm>
                      <a:prstGeom prst="roundRect">
                        <a:avLst/>
                      </a:prstGeom>
                      <a:solidFill>
                        <a:srgbClr val="0070C0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367" name="Rectangle: Rounded Corners 1366">
                        <a:extLst>
                          <a:ext uri="{FF2B5EF4-FFF2-40B4-BE49-F238E27FC236}">
                            <a16:creationId xmlns:a16="http://schemas.microsoft.com/office/drawing/2014/main" id="{385FEBF7-3F69-EB28-AF15-ACE046BE34D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292090" y="1798710"/>
                        <a:ext cx="266700" cy="388229"/>
                      </a:xfrm>
                      <a:prstGeom prst="roundRect">
                        <a:avLst/>
                      </a:prstGeom>
                      <a:solidFill>
                        <a:srgbClr val="0070C0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368" name="Rectangle: Rounded Corners 1367">
                        <a:extLst>
                          <a:ext uri="{FF2B5EF4-FFF2-40B4-BE49-F238E27FC236}">
                            <a16:creationId xmlns:a16="http://schemas.microsoft.com/office/drawing/2014/main" id="{427216FE-4ECD-443A-49BB-7CF5372C268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75960" y="1795096"/>
                        <a:ext cx="266700" cy="388229"/>
                      </a:xfrm>
                      <a:prstGeom prst="roundRect">
                        <a:avLst/>
                      </a:prstGeom>
                      <a:solidFill>
                        <a:srgbClr val="0070C0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369" name="Rectangle: Rounded Corners 1368">
                        <a:extLst>
                          <a:ext uri="{FF2B5EF4-FFF2-40B4-BE49-F238E27FC236}">
                            <a16:creationId xmlns:a16="http://schemas.microsoft.com/office/drawing/2014/main" id="{B312B4D6-E3B5-55BF-2444-B37218C079F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24350" y="4666768"/>
                        <a:ext cx="266700" cy="388229"/>
                      </a:xfrm>
                      <a:prstGeom prst="roundRect">
                        <a:avLst/>
                      </a:prstGeom>
                      <a:solidFill>
                        <a:srgbClr val="0070C0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370" name="Rectangle: Rounded Corners 1369">
                        <a:extLst>
                          <a:ext uri="{FF2B5EF4-FFF2-40B4-BE49-F238E27FC236}">
                            <a16:creationId xmlns:a16="http://schemas.microsoft.com/office/drawing/2014/main" id="{7F36949E-96BB-E5D4-F34A-8DAB4A52F1D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08220" y="4670383"/>
                        <a:ext cx="266700" cy="388229"/>
                      </a:xfrm>
                      <a:prstGeom prst="roundRect">
                        <a:avLst/>
                      </a:prstGeom>
                      <a:solidFill>
                        <a:srgbClr val="0070C0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465" name="Rectangle: Rounded Corners 1464">
                        <a:extLst>
                          <a:ext uri="{FF2B5EF4-FFF2-40B4-BE49-F238E27FC236}">
                            <a16:creationId xmlns:a16="http://schemas.microsoft.com/office/drawing/2014/main" id="{6CA53A98-32AC-2372-E920-4AEC2F36601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292090" y="4670382"/>
                        <a:ext cx="266700" cy="388229"/>
                      </a:xfrm>
                      <a:prstGeom prst="roundRect">
                        <a:avLst/>
                      </a:prstGeom>
                      <a:solidFill>
                        <a:srgbClr val="0070C0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466" name="Rectangle: Rounded Corners 1465">
                        <a:extLst>
                          <a:ext uri="{FF2B5EF4-FFF2-40B4-BE49-F238E27FC236}">
                            <a16:creationId xmlns:a16="http://schemas.microsoft.com/office/drawing/2014/main" id="{3A967135-2BD9-D3EB-4EB6-10810403BAE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75960" y="4666768"/>
                        <a:ext cx="266700" cy="388229"/>
                      </a:xfrm>
                      <a:prstGeom prst="roundRect">
                        <a:avLst/>
                      </a:prstGeom>
                      <a:solidFill>
                        <a:srgbClr val="0070C0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grpSp>
                    <p:nvGrpSpPr>
                      <p:cNvPr id="1467" name="Group 1466">
                        <a:extLst>
                          <a:ext uri="{FF2B5EF4-FFF2-40B4-BE49-F238E27FC236}">
                            <a16:creationId xmlns:a16="http://schemas.microsoft.com/office/drawing/2014/main" id="{1142FF27-951F-94D1-C797-D61B882125D1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5400000">
                        <a:off x="2588115" y="3217838"/>
                        <a:ext cx="1718310" cy="391844"/>
                        <a:chOff x="4476750" y="1947496"/>
                        <a:chExt cx="1718310" cy="391844"/>
                      </a:xfrm>
                    </p:grpSpPr>
                    <p:sp>
                      <p:nvSpPr>
                        <p:cNvPr id="1089" name="Rectangle: Rounded Corners 1088">
                          <a:extLst>
                            <a:ext uri="{FF2B5EF4-FFF2-40B4-BE49-F238E27FC236}">
                              <a16:creationId xmlns:a16="http://schemas.microsoft.com/office/drawing/2014/main" id="{EB1439BF-3986-F7F0-13C4-DB9B11B2C53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476750" y="1947496"/>
                          <a:ext cx="266700" cy="388229"/>
                        </a:xfrm>
                        <a:prstGeom prst="roundRect">
                          <a:avLst/>
                        </a:prstGeom>
                        <a:solidFill>
                          <a:srgbClr val="0070C0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90" name="Rectangle: Rounded Corners 1089">
                          <a:extLst>
                            <a:ext uri="{FF2B5EF4-FFF2-40B4-BE49-F238E27FC236}">
                              <a16:creationId xmlns:a16="http://schemas.microsoft.com/office/drawing/2014/main" id="{5A6A1528-5978-E0A0-3985-9EFD6F83EE5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960620" y="1951111"/>
                          <a:ext cx="266700" cy="388229"/>
                        </a:xfrm>
                        <a:prstGeom prst="roundRect">
                          <a:avLst/>
                        </a:prstGeom>
                        <a:solidFill>
                          <a:srgbClr val="0070C0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91" name="Rectangle: Rounded Corners 1090">
                          <a:extLst>
                            <a:ext uri="{FF2B5EF4-FFF2-40B4-BE49-F238E27FC236}">
                              <a16:creationId xmlns:a16="http://schemas.microsoft.com/office/drawing/2014/main" id="{DEC61BAF-14CF-FB2D-E1DF-02BA233753D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444490" y="1951110"/>
                          <a:ext cx="266700" cy="388229"/>
                        </a:xfrm>
                        <a:prstGeom prst="roundRect">
                          <a:avLst/>
                        </a:prstGeom>
                        <a:solidFill>
                          <a:srgbClr val="0070C0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92" name="Rectangle: Rounded Corners 1091">
                          <a:extLst>
                            <a:ext uri="{FF2B5EF4-FFF2-40B4-BE49-F238E27FC236}">
                              <a16:creationId xmlns:a16="http://schemas.microsoft.com/office/drawing/2014/main" id="{AA17156E-D65F-F5B1-D19B-463DEF08766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928360" y="1947496"/>
                          <a:ext cx="266700" cy="388229"/>
                        </a:xfrm>
                        <a:prstGeom prst="roundRect">
                          <a:avLst/>
                        </a:prstGeom>
                        <a:solidFill>
                          <a:srgbClr val="0070C0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468" name="Group 1467">
                        <a:extLst>
                          <a:ext uri="{FF2B5EF4-FFF2-40B4-BE49-F238E27FC236}">
                            <a16:creationId xmlns:a16="http://schemas.microsoft.com/office/drawing/2014/main" id="{E5C4224F-A9FD-B1DA-A545-B46AD1B6B905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5400000">
                        <a:off x="6023904" y="3217839"/>
                        <a:ext cx="1718310" cy="391844"/>
                        <a:chOff x="4476750" y="1947496"/>
                        <a:chExt cx="1718310" cy="391844"/>
                      </a:xfrm>
                    </p:grpSpPr>
                    <p:sp>
                      <p:nvSpPr>
                        <p:cNvPr id="1469" name="Rectangle: Rounded Corners 1468">
                          <a:extLst>
                            <a:ext uri="{FF2B5EF4-FFF2-40B4-BE49-F238E27FC236}">
                              <a16:creationId xmlns:a16="http://schemas.microsoft.com/office/drawing/2014/main" id="{C57E27B4-156C-2B66-9F76-434B1A2D063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476750" y="1947496"/>
                          <a:ext cx="266700" cy="388229"/>
                        </a:xfrm>
                        <a:prstGeom prst="roundRect">
                          <a:avLst/>
                        </a:prstGeom>
                        <a:solidFill>
                          <a:srgbClr val="0070C0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70" name="Rectangle: Rounded Corners 1469">
                          <a:extLst>
                            <a:ext uri="{FF2B5EF4-FFF2-40B4-BE49-F238E27FC236}">
                              <a16:creationId xmlns:a16="http://schemas.microsoft.com/office/drawing/2014/main" id="{EF08F3F3-9A49-5149-C7B5-6AA5CF0C938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960620" y="1951111"/>
                          <a:ext cx="266700" cy="388229"/>
                        </a:xfrm>
                        <a:prstGeom prst="roundRect">
                          <a:avLst/>
                        </a:prstGeom>
                        <a:solidFill>
                          <a:srgbClr val="0070C0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71" name="Rectangle: Rounded Corners 1470">
                          <a:extLst>
                            <a:ext uri="{FF2B5EF4-FFF2-40B4-BE49-F238E27FC236}">
                              <a16:creationId xmlns:a16="http://schemas.microsoft.com/office/drawing/2014/main" id="{3B58EE44-B402-5A65-F097-DA0A79623D8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444490" y="1951110"/>
                          <a:ext cx="266700" cy="388229"/>
                        </a:xfrm>
                        <a:prstGeom prst="roundRect">
                          <a:avLst/>
                        </a:prstGeom>
                        <a:solidFill>
                          <a:srgbClr val="0070C0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88" name="Rectangle: Rounded Corners 1087">
                          <a:extLst>
                            <a:ext uri="{FF2B5EF4-FFF2-40B4-BE49-F238E27FC236}">
                              <a16:creationId xmlns:a16="http://schemas.microsoft.com/office/drawing/2014/main" id="{38651848-F931-0F63-BC4D-E64879EF9B9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928360" y="1947496"/>
                          <a:ext cx="266700" cy="388229"/>
                        </a:xfrm>
                        <a:prstGeom prst="roundRect">
                          <a:avLst/>
                        </a:prstGeom>
                        <a:solidFill>
                          <a:srgbClr val="0070C0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853" name="Group 1852">
                    <a:extLst>
                      <a:ext uri="{FF2B5EF4-FFF2-40B4-BE49-F238E27FC236}">
                        <a16:creationId xmlns:a16="http://schemas.microsoft.com/office/drawing/2014/main" id="{A7AC0785-BDDE-710F-7250-295056435F39}"/>
                      </a:ext>
                    </a:extLst>
                  </p:cNvPr>
                  <p:cNvGrpSpPr/>
                  <p:nvPr/>
                </p:nvGrpSpPr>
                <p:grpSpPr>
                  <a:xfrm>
                    <a:off x="6205098" y="1041211"/>
                    <a:ext cx="894797" cy="572294"/>
                    <a:chOff x="3617019" y="3013602"/>
                    <a:chExt cx="894797" cy="572294"/>
                  </a:xfrm>
                </p:grpSpPr>
                <p:pic>
                  <p:nvPicPr>
                    <p:cNvPr id="1359" name="Picture 1358">
                      <a:extLst>
                        <a:ext uri="{FF2B5EF4-FFF2-40B4-BE49-F238E27FC236}">
                          <a16:creationId xmlns:a16="http://schemas.microsoft.com/office/drawing/2014/main" id="{AEE4785F-2BD0-1A6B-6FB2-C9567EBE2968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/>
                    <a:stretch>
                      <a:fillRect/>
                    </a:stretch>
                  </p:blipFill>
                  <p:spPr>
                    <a:xfrm>
                      <a:off x="3679291" y="3071002"/>
                      <a:ext cx="757950" cy="514894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1360" name="TextBox 1359">
                      <a:extLst>
                        <a:ext uri="{FF2B5EF4-FFF2-40B4-BE49-F238E27FC236}">
                          <a16:creationId xmlns:a16="http://schemas.microsoft.com/office/drawing/2014/main" id="{7316B647-62B0-AABE-FBB0-7BD44E99314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617019" y="3013602"/>
                      <a:ext cx="894797" cy="2308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900" dirty="0">
                          <a:solidFill>
                            <a:srgbClr val="00B050"/>
                          </a:solidFill>
                        </a:rPr>
                        <a:t>Infiniband NDR</a:t>
                      </a:r>
                    </a:p>
                  </p:txBody>
                </p:sp>
              </p:grpSp>
              <p:grpSp>
                <p:nvGrpSpPr>
                  <p:cNvPr id="1854" name="Group 1853">
                    <a:extLst>
                      <a:ext uri="{FF2B5EF4-FFF2-40B4-BE49-F238E27FC236}">
                        <a16:creationId xmlns:a16="http://schemas.microsoft.com/office/drawing/2014/main" id="{15AEAE39-5A9F-1326-43AC-141B8F6C5F83}"/>
                      </a:ext>
                    </a:extLst>
                  </p:cNvPr>
                  <p:cNvGrpSpPr/>
                  <p:nvPr/>
                </p:nvGrpSpPr>
                <p:grpSpPr>
                  <a:xfrm>
                    <a:off x="7027727" y="1346309"/>
                    <a:ext cx="1617400" cy="96312"/>
                    <a:chOff x="2324934" y="1510774"/>
                    <a:chExt cx="587465" cy="96312"/>
                  </a:xfrm>
                </p:grpSpPr>
                <p:cxnSp>
                  <p:nvCxnSpPr>
                    <p:cNvPr id="1357" name="Straight Connector 1356">
                      <a:extLst>
                        <a:ext uri="{FF2B5EF4-FFF2-40B4-BE49-F238E27FC236}">
                          <a16:creationId xmlns:a16="http://schemas.microsoft.com/office/drawing/2014/main" id="{6547BBEF-B4FD-7019-FA41-CAA498F9555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324934" y="1510774"/>
                      <a:ext cx="58746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headEnd type="triangle"/>
                      <a:tailEnd type="non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58" name="Straight Connector 1357">
                      <a:extLst>
                        <a:ext uri="{FF2B5EF4-FFF2-40B4-BE49-F238E27FC236}">
                          <a16:creationId xmlns:a16="http://schemas.microsoft.com/office/drawing/2014/main" id="{1AA2E1AC-7A79-9A11-4197-2635A557A24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324934" y="1607086"/>
                      <a:ext cx="58746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855" name="Rectangle: Rounded Corners 1854">
                    <a:extLst>
                      <a:ext uri="{FF2B5EF4-FFF2-40B4-BE49-F238E27FC236}">
                        <a16:creationId xmlns:a16="http://schemas.microsoft.com/office/drawing/2014/main" id="{DC8F9F56-D10A-AC4B-AEF5-B6E60308D0E7}"/>
                      </a:ext>
                    </a:extLst>
                  </p:cNvPr>
                  <p:cNvSpPr/>
                  <p:nvPr/>
                </p:nvSpPr>
                <p:spPr>
                  <a:xfrm rot="5400000" flipH="1">
                    <a:off x="8476552" y="885618"/>
                    <a:ext cx="833557" cy="480312"/>
                  </a:xfrm>
                  <a:prstGeom prst="roundRect">
                    <a:avLst/>
                  </a:prstGeom>
                  <a:solidFill>
                    <a:schemeClr val="accent2">
                      <a:lumMod val="20000"/>
                      <a:lumOff val="80000"/>
                      <a:alpha val="78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100" dirty="0">
                        <a:solidFill>
                          <a:srgbClr val="FF0000"/>
                        </a:solidFill>
                      </a:rPr>
                      <a:t>PLX</a:t>
                    </a:r>
                  </a:p>
                </p:txBody>
              </p:sp>
              <p:grpSp>
                <p:nvGrpSpPr>
                  <p:cNvPr id="1344" name="Group 1343">
                    <a:extLst>
                      <a:ext uri="{FF2B5EF4-FFF2-40B4-BE49-F238E27FC236}">
                        <a16:creationId xmlns:a16="http://schemas.microsoft.com/office/drawing/2014/main" id="{4EB66666-58AA-F3AF-F43D-E839AF51F3D3}"/>
                      </a:ext>
                    </a:extLst>
                  </p:cNvPr>
                  <p:cNvGrpSpPr/>
                  <p:nvPr/>
                </p:nvGrpSpPr>
                <p:grpSpPr>
                  <a:xfrm>
                    <a:off x="8056343" y="914750"/>
                    <a:ext cx="587465" cy="96312"/>
                    <a:chOff x="2324934" y="1510774"/>
                    <a:chExt cx="587465" cy="96312"/>
                  </a:xfrm>
                </p:grpSpPr>
                <p:cxnSp>
                  <p:nvCxnSpPr>
                    <p:cNvPr id="1355" name="Straight Connector 1354">
                      <a:extLst>
                        <a:ext uri="{FF2B5EF4-FFF2-40B4-BE49-F238E27FC236}">
                          <a16:creationId xmlns:a16="http://schemas.microsoft.com/office/drawing/2014/main" id="{88261CED-041E-EE57-4E63-B3A102C1E54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324934" y="1510774"/>
                      <a:ext cx="58746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headEnd type="triangle"/>
                      <a:tailEnd type="non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56" name="Straight Connector 1355">
                      <a:extLst>
                        <a:ext uri="{FF2B5EF4-FFF2-40B4-BE49-F238E27FC236}">
                          <a16:creationId xmlns:a16="http://schemas.microsoft.com/office/drawing/2014/main" id="{9CD0B67B-CF81-9387-72E5-1DE90A801A9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324934" y="1607086"/>
                      <a:ext cx="58746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pic>
                <p:nvPicPr>
                  <p:cNvPr id="1345" name="Picture 1344">
                    <a:extLst>
                      <a:ext uri="{FF2B5EF4-FFF2-40B4-BE49-F238E27FC236}">
                        <a16:creationId xmlns:a16="http://schemas.microsoft.com/office/drawing/2014/main" id="{7702E550-BF86-59AD-A722-FF1BFB6BD55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9696452" y="668167"/>
                    <a:ext cx="649040" cy="519232"/>
                  </a:xfrm>
                  <a:prstGeom prst="rect">
                    <a:avLst/>
                  </a:prstGeom>
                </p:spPr>
              </p:pic>
              <p:grpSp>
                <p:nvGrpSpPr>
                  <p:cNvPr id="1346" name="Group 1345">
                    <a:extLst>
                      <a:ext uri="{FF2B5EF4-FFF2-40B4-BE49-F238E27FC236}">
                        <a16:creationId xmlns:a16="http://schemas.microsoft.com/office/drawing/2014/main" id="{75C4C7C5-C425-5D54-3579-98B4E3B9D099}"/>
                      </a:ext>
                    </a:extLst>
                  </p:cNvPr>
                  <p:cNvGrpSpPr/>
                  <p:nvPr/>
                </p:nvGrpSpPr>
                <p:grpSpPr>
                  <a:xfrm>
                    <a:off x="9139794" y="908400"/>
                    <a:ext cx="587465" cy="96312"/>
                    <a:chOff x="2324934" y="1510774"/>
                    <a:chExt cx="587465" cy="96312"/>
                  </a:xfrm>
                </p:grpSpPr>
                <p:cxnSp>
                  <p:nvCxnSpPr>
                    <p:cNvPr id="1353" name="Straight Connector 1352">
                      <a:extLst>
                        <a:ext uri="{FF2B5EF4-FFF2-40B4-BE49-F238E27FC236}">
                          <a16:creationId xmlns:a16="http://schemas.microsoft.com/office/drawing/2014/main" id="{6C781CB0-7E4F-29D7-88BD-F6E12721781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324934" y="1510774"/>
                      <a:ext cx="58746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headEnd type="triangle"/>
                      <a:tailEnd type="non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54" name="Straight Connector 1353">
                      <a:extLst>
                        <a:ext uri="{FF2B5EF4-FFF2-40B4-BE49-F238E27FC236}">
                          <a16:creationId xmlns:a16="http://schemas.microsoft.com/office/drawing/2014/main" id="{1BA96F64-D0AA-9080-D476-F4F72725D4C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324934" y="1607086"/>
                      <a:ext cx="58746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347" name="Group 1346">
                    <a:extLst>
                      <a:ext uri="{FF2B5EF4-FFF2-40B4-BE49-F238E27FC236}">
                        <a16:creationId xmlns:a16="http://schemas.microsoft.com/office/drawing/2014/main" id="{330383B2-8D46-C810-F889-90D274015E86}"/>
                      </a:ext>
                    </a:extLst>
                  </p:cNvPr>
                  <p:cNvGrpSpPr/>
                  <p:nvPr/>
                </p:nvGrpSpPr>
                <p:grpSpPr>
                  <a:xfrm>
                    <a:off x="10349686" y="908400"/>
                    <a:ext cx="587465" cy="96312"/>
                    <a:chOff x="2324934" y="1510774"/>
                    <a:chExt cx="587465" cy="96312"/>
                  </a:xfrm>
                </p:grpSpPr>
                <p:cxnSp>
                  <p:nvCxnSpPr>
                    <p:cNvPr id="1351" name="Straight Connector 1350">
                      <a:extLst>
                        <a:ext uri="{FF2B5EF4-FFF2-40B4-BE49-F238E27FC236}">
                          <a16:creationId xmlns:a16="http://schemas.microsoft.com/office/drawing/2014/main" id="{FE1DD7F7-68F0-9BF8-C73E-A3B76B7A2B2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324934" y="1510774"/>
                      <a:ext cx="58746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headEnd type="triangle"/>
                      <a:tailEnd type="non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52" name="Straight Connector 1351">
                      <a:extLst>
                        <a:ext uri="{FF2B5EF4-FFF2-40B4-BE49-F238E27FC236}">
                          <a16:creationId xmlns:a16="http://schemas.microsoft.com/office/drawing/2014/main" id="{65603FFB-B795-7287-6851-62CFBB5FE8E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324934" y="1607086"/>
                      <a:ext cx="58746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348" name="TextBox 1347">
                    <a:extLst>
                      <a:ext uri="{FF2B5EF4-FFF2-40B4-BE49-F238E27FC236}">
                        <a16:creationId xmlns:a16="http://schemas.microsoft.com/office/drawing/2014/main" id="{00997ACF-2E9F-1814-2BAD-EE47EEF2D351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7954913" y="807520"/>
                    <a:ext cx="833557" cy="215444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800" dirty="0" err="1"/>
                      <a:t>d_gpu_lanes</a:t>
                    </a:r>
                    <a:r>
                      <a:rPr lang="en-US" sz="800" dirty="0"/>
                      <a:t>[0]</a:t>
                    </a:r>
                  </a:p>
                </p:txBody>
              </p:sp>
              <p:sp>
                <p:nvSpPr>
                  <p:cNvPr id="1349" name="Rectangle 1348">
                    <a:extLst>
                      <a:ext uri="{FF2B5EF4-FFF2-40B4-BE49-F238E27FC236}">
                        <a16:creationId xmlns:a16="http://schemas.microsoft.com/office/drawing/2014/main" id="{6D60C27C-7167-C646-F0E6-F262E8CA7DF9}"/>
                      </a:ext>
                    </a:extLst>
                  </p:cNvPr>
                  <p:cNvSpPr/>
                  <p:nvPr/>
                </p:nvSpPr>
                <p:spPr>
                  <a:xfrm>
                    <a:off x="6209812" y="543370"/>
                    <a:ext cx="4253189" cy="1123484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50" name="TextBox 1349">
                    <a:extLst>
                      <a:ext uri="{FF2B5EF4-FFF2-40B4-BE49-F238E27FC236}">
                        <a16:creationId xmlns:a16="http://schemas.microsoft.com/office/drawing/2014/main" id="{21F883CD-BE27-B464-2CED-8B152C21D5F6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9052256" y="870380"/>
                    <a:ext cx="833557" cy="215444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800" dirty="0" err="1"/>
                      <a:t>d_eth_lanes</a:t>
                    </a:r>
                    <a:r>
                      <a:rPr lang="en-US" sz="800" dirty="0"/>
                      <a:t>[0]</a:t>
                    </a:r>
                  </a:p>
                </p:txBody>
              </p:sp>
            </p:grpSp>
            <p:sp>
              <p:nvSpPr>
                <p:cNvPr id="1850" name="TextBox 1849">
                  <a:extLst>
                    <a:ext uri="{FF2B5EF4-FFF2-40B4-BE49-F238E27FC236}">
                      <a16:creationId xmlns:a16="http://schemas.microsoft.com/office/drawing/2014/main" id="{0DA5BACC-34F7-DD09-B346-6810094A94BD}"/>
                    </a:ext>
                  </a:extLst>
                </p:cNvPr>
                <p:cNvSpPr txBox="1"/>
                <p:nvPr/>
              </p:nvSpPr>
              <p:spPr>
                <a:xfrm rot="16200000">
                  <a:off x="5558127" y="1289833"/>
                  <a:ext cx="833557" cy="21544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800" dirty="0" err="1"/>
                    <a:t>d_ib_cables</a:t>
                  </a:r>
                  <a:r>
                    <a:rPr lang="en-US" sz="800" dirty="0"/>
                    <a:t>[0]</a:t>
                  </a:r>
                </a:p>
              </p:txBody>
            </p:sp>
          </p:grpSp>
          <p:sp>
            <p:nvSpPr>
              <p:cNvPr id="1098" name="TextBox 1097">
                <a:extLst>
                  <a:ext uri="{FF2B5EF4-FFF2-40B4-BE49-F238E27FC236}">
                    <a16:creationId xmlns:a16="http://schemas.microsoft.com/office/drawing/2014/main" id="{F9437A0C-249B-BEA1-8102-308291BA016F}"/>
                  </a:ext>
                </a:extLst>
              </p:cNvPr>
              <p:cNvSpPr txBox="1"/>
              <p:nvPr/>
            </p:nvSpPr>
            <p:spPr>
              <a:xfrm rot="16200000">
                <a:off x="10203885" y="5426874"/>
                <a:ext cx="953726" cy="2154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 err="1"/>
                  <a:t>d_eth_cables</a:t>
                </a:r>
                <a:r>
                  <a:rPr lang="en-US" sz="800" dirty="0"/>
                  <a:t>[0]</a:t>
                </a:r>
              </a:p>
            </p:txBody>
          </p:sp>
        </p:grpSp>
        <p:sp>
          <p:nvSpPr>
            <p:cNvPr id="1103" name="TextBox 1102">
              <a:extLst>
                <a:ext uri="{FF2B5EF4-FFF2-40B4-BE49-F238E27FC236}">
                  <a16:creationId xmlns:a16="http://schemas.microsoft.com/office/drawing/2014/main" id="{40C2FE5A-17EF-1925-0BCA-EF058830A593}"/>
                </a:ext>
              </a:extLst>
            </p:cNvPr>
            <p:cNvSpPr txBox="1"/>
            <p:nvPr/>
          </p:nvSpPr>
          <p:spPr>
            <a:xfrm rot="16200000">
              <a:off x="6927884" y="5734912"/>
              <a:ext cx="763270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 err="1"/>
                <a:t>d_ib_lanes</a:t>
              </a:r>
              <a:r>
                <a:rPr lang="en-US" sz="800" dirty="0"/>
                <a:t>[0]</a:t>
              </a:r>
            </a:p>
          </p:txBody>
        </p:sp>
      </p:grpSp>
      <p:grpSp>
        <p:nvGrpSpPr>
          <p:cNvPr id="1109" name="Group 1108">
            <a:extLst>
              <a:ext uri="{FF2B5EF4-FFF2-40B4-BE49-F238E27FC236}">
                <a16:creationId xmlns:a16="http://schemas.microsoft.com/office/drawing/2014/main" id="{F21CE461-625F-02B2-39DE-654D98F90D4C}"/>
              </a:ext>
            </a:extLst>
          </p:cNvPr>
          <p:cNvGrpSpPr/>
          <p:nvPr/>
        </p:nvGrpSpPr>
        <p:grpSpPr>
          <a:xfrm>
            <a:off x="5694194" y="3530367"/>
            <a:ext cx="5242957" cy="1335748"/>
            <a:chOff x="5694194" y="3530367"/>
            <a:chExt cx="5242957" cy="1335748"/>
          </a:xfrm>
        </p:grpSpPr>
        <p:grpSp>
          <p:nvGrpSpPr>
            <p:cNvPr id="1101" name="Group 1100">
              <a:extLst>
                <a:ext uri="{FF2B5EF4-FFF2-40B4-BE49-F238E27FC236}">
                  <a16:creationId xmlns:a16="http://schemas.microsoft.com/office/drawing/2014/main" id="{7B3BB0C9-643C-FBDD-D6F2-ECB95B0F5D6B}"/>
                </a:ext>
              </a:extLst>
            </p:cNvPr>
            <p:cNvGrpSpPr/>
            <p:nvPr/>
          </p:nvGrpSpPr>
          <p:grpSpPr>
            <a:xfrm>
              <a:off x="5694194" y="3530367"/>
              <a:ext cx="5242957" cy="1335748"/>
              <a:chOff x="5694194" y="3530367"/>
              <a:chExt cx="5242957" cy="1335748"/>
            </a:xfrm>
          </p:grpSpPr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F8A3A744-5ABE-3EAA-4C83-A5538427DA59}"/>
                  </a:ext>
                </a:extLst>
              </p:cNvPr>
              <p:cNvGrpSpPr/>
              <p:nvPr/>
            </p:nvGrpSpPr>
            <p:grpSpPr>
              <a:xfrm>
                <a:off x="5694194" y="3550245"/>
                <a:ext cx="5242957" cy="1315870"/>
                <a:chOff x="5694194" y="498463"/>
                <a:chExt cx="5242957" cy="1315870"/>
              </a:xfrm>
            </p:grpSpPr>
            <p:grpSp>
              <p:nvGrpSpPr>
                <p:cNvPr id="63" name="Group 62">
                  <a:extLst>
                    <a:ext uri="{FF2B5EF4-FFF2-40B4-BE49-F238E27FC236}">
                      <a16:creationId xmlns:a16="http://schemas.microsoft.com/office/drawing/2014/main" id="{2FC7091C-C136-6FFB-ADCA-3ACF45EF6B0C}"/>
                    </a:ext>
                  </a:extLst>
                </p:cNvPr>
                <p:cNvGrpSpPr/>
                <p:nvPr/>
              </p:nvGrpSpPr>
              <p:grpSpPr>
                <a:xfrm>
                  <a:off x="5694194" y="1346309"/>
                  <a:ext cx="587465" cy="96312"/>
                  <a:chOff x="2324934" y="1510774"/>
                  <a:chExt cx="587465" cy="96312"/>
                </a:xfrm>
              </p:grpSpPr>
              <p:cxnSp>
                <p:nvCxnSpPr>
                  <p:cNvPr id="1845" name="Straight Connector 1844">
                    <a:extLst>
                      <a:ext uri="{FF2B5EF4-FFF2-40B4-BE49-F238E27FC236}">
                        <a16:creationId xmlns:a16="http://schemas.microsoft.com/office/drawing/2014/main" id="{FD04B461-32C0-5FB6-4108-F7BE87B1ECB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324934" y="1510774"/>
                    <a:ext cx="587465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headEnd type="triangle"/>
                    <a:tailEnd type="non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46" name="Straight Connector 1845">
                    <a:extLst>
                      <a:ext uri="{FF2B5EF4-FFF2-40B4-BE49-F238E27FC236}">
                        <a16:creationId xmlns:a16="http://schemas.microsoft.com/office/drawing/2014/main" id="{78A500D8-EC11-DB12-58D7-EF9CA6A69D1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324934" y="1607086"/>
                    <a:ext cx="587465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798" name="Group 1797">
                  <a:extLst>
                    <a:ext uri="{FF2B5EF4-FFF2-40B4-BE49-F238E27FC236}">
                      <a16:creationId xmlns:a16="http://schemas.microsoft.com/office/drawing/2014/main" id="{E1AF4D3D-B9F3-8CC1-2F47-0C575E2759C7}"/>
                    </a:ext>
                  </a:extLst>
                </p:cNvPr>
                <p:cNvGrpSpPr/>
                <p:nvPr/>
              </p:nvGrpSpPr>
              <p:grpSpPr>
                <a:xfrm>
                  <a:off x="6205098" y="498463"/>
                  <a:ext cx="4732053" cy="1168391"/>
                  <a:chOff x="6205098" y="498463"/>
                  <a:chExt cx="4732053" cy="1168391"/>
                </a:xfrm>
              </p:grpSpPr>
              <p:sp>
                <p:nvSpPr>
                  <p:cNvPr id="1801" name="TextBox 1800">
                    <a:extLst>
                      <a:ext uri="{FF2B5EF4-FFF2-40B4-BE49-F238E27FC236}">
                        <a16:creationId xmlns:a16="http://schemas.microsoft.com/office/drawing/2014/main" id="{5E5E7F51-7485-B605-4057-48A2FFA28768}"/>
                      </a:ext>
                    </a:extLst>
                  </p:cNvPr>
                  <p:cNvSpPr txBox="1"/>
                  <p:nvPr/>
                </p:nvSpPr>
                <p:spPr>
                  <a:xfrm>
                    <a:off x="7535418" y="500979"/>
                    <a:ext cx="601448" cy="25391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1050" b="1" dirty="0">
                        <a:solidFill>
                          <a:srgbClr val="0070C0"/>
                        </a:solidFill>
                      </a:rPr>
                      <a:t>Decode</a:t>
                    </a:r>
                  </a:p>
                </p:txBody>
              </p:sp>
              <p:grpSp>
                <p:nvGrpSpPr>
                  <p:cNvPr id="1802" name="Group 1801">
                    <a:extLst>
                      <a:ext uri="{FF2B5EF4-FFF2-40B4-BE49-F238E27FC236}">
                        <a16:creationId xmlns:a16="http://schemas.microsoft.com/office/drawing/2014/main" id="{F68EC686-E220-A62B-EF3B-38059050D331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7635912" y="792402"/>
                    <a:ext cx="411851" cy="351150"/>
                    <a:chOff x="3251348" y="1795096"/>
                    <a:chExt cx="3827633" cy="3263516"/>
                  </a:xfrm>
                </p:grpSpPr>
                <p:sp>
                  <p:nvSpPr>
                    <p:cNvPr id="1823" name="Rectangle 1822">
                      <a:extLst>
                        <a:ext uri="{FF2B5EF4-FFF2-40B4-BE49-F238E27FC236}">
                          <a16:creationId xmlns:a16="http://schemas.microsoft.com/office/drawing/2014/main" id="{7F3D5A6B-2A29-1427-C5F9-BE8DB115463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51348" y="1795096"/>
                      <a:ext cx="3824019" cy="325990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grpSp>
                  <p:nvGrpSpPr>
                    <p:cNvPr id="1824" name="Group 1823">
                      <a:extLst>
                        <a:ext uri="{FF2B5EF4-FFF2-40B4-BE49-F238E27FC236}">
                          <a16:creationId xmlns:a16="http://schemas.microsoft.com/office/drawing/2014/main" id="{FAABCF64-EAD7-4F33-4E8A-2D8F15FE79BB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>
                    <a:xfrm>
                      <a:off x="3251348" y="1795096"/>
                      <a:ext cx="3827633" cy="3263516"/>
                      <a:chOff x="3251348" y="1795096"/>
                      <a:chExt cx="3827633" cy="3263516"/>
                    </a:xfrm>
                  </p:grpSpPr>
                  <p:sp>
                    <p:nvSpPr>
                      <p:cNvPr id="1825" name="Freeform: Shape 1824">
                        <a:extLst>
                          <a:ext uri="{FF2B5EF4-FFF2-40B4-BE49-F238E27FC236}">
                            <a16:creationId xmlns:a16="http://schemas.microsoft.com/office/drawing/2014/main" id="{48C3008F-7C0F-7B4D-526D-1DED95E638B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855720" y="2377440"/>
                        <a:ext cx="2606040" cy="2072640"/>
                      </a:xfrm>
                      <a:custGeom>
                        <a:avLst/>
                        <a:gdLst>
                          <a:gd name="csX0" fmla="*/ 387364 w 2606040"/>
                          <a:gd name="csY0" fmla="*/ 152400 h 2072640"/>
                          <a:gd name="csX1" fmla="*/ 152400 w 2606040"/>
                          <a:gd name="csY1" fmla="*/ 387364 h 2072640"/>
                          <a:gd name="csX2" fmla="*/ 152400 w 2606040"/>
                          <a:gd name="csY2" fmla="*/ 1692896 h 2072640"/>
                          <a:gd name="csX3" fmla="*/ 387364 w 2606040"/>
                          <a:gd name="csY3" fmla="*/ 1927860 h 2072640"/>
                          <a:gd name="csX4" fmla="*/ 2218676 w 2606040"/>
                          <a:gd name="csY4" fmla="*/ 1927860 h 2072640"/>
                          <a:gd name="csX5" fmla="*/ 2453640 w 2606040"/>
                          <a:gd name="csY5" fmla="*/ 1692896 h 2072640"/>
                          <a:gd name="csX6" fmla="*/ 2453640 w 2606040"/>
                          <a:gd name="csY6" fmla="*/ 387364 h 2072640"/>
                          <a:gd name="csX7" fmla="*/ 2218676 w 2606040"/>
                          <a:gd name="csY7" fmla="*/ 152400 h 2072640"/>
                          <a:gd name="csX8" fmla="*/ 345447 w 2606040"/>
                          <a:gd name="csY8" fmla="*/ 0 h 2072640"/>
                          <a:gd name="csX9" fmla="*/ 2260593 w 2606040"/>
                          <a:gd name="csY9" fmla="*/ 0 h 2072640"/>
                          <a:gd name="csX10" fmla="*/ 2606040 w 2606040"/>
                          <a:gd name="csY10" fmla="*/ 345447 h 2072640"/>
                          <a:gd name="csX11" fmla="*/ 2606040 w 2606040"/>
                          <a:gd name="csY11" fmla="*/ 1727193 h 2072640"/>
                          <a:gd name="csX12" fmla="*/ 2260593 w 2606040"/>
                          <a:gd name="csY12" fmla="*/ 2072640 h 2072640"/>
                          <a:gd name="csX13" fmla="*/ 345447 w 2606040"/>
                          <a:gd name="csY13" fmla="*/ 2072640 h 2072640"/>
                          <a:gd name="csX14" fmla="*/ 0 w 2606040"/>
                          <a:gd name="csY14" fmla="*/ 1727193 h 2072640"/>
                          <a:gd name="csX15" fmla="*/ 0 w 2606040"/>
                          <a:gd name="csY15" fmla="*/ 345447 h 2072640"/>
                          <a:gd name="csX16" fmla="*/ 345447 w 2606040"/>
                          <a:gd name="csY16" fmla="*/ 0 h 2072640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  <a:cxn ang="0">
                            <a:pos x="csX5" y="csY5"/>
                          </a:cxn>
                          <a:cxn ang="0">
                            <a:pos x="csX6" y="csY6"/>
                          </a:cxn>
                          <a:cxn ang="0">
                            <a:pos x="csX7" y="csY7"/>
                          </a:cxn>
                          <a:cxn ang="0">
                            <a:pos x="csX8" y="csY8"/>
                          </a:cxn>
                          <a:cxn ang="0">
                            <a:pos x="csX9" y="csY9"/>
                          </a:cxn>
                          <a:cxn ang="0">
                            <a:pos x="csX10" y="csY10"/>
                          </a:cxn>
                          <a:cxn ang="0">
                            <a:pos x="csX11" y="csY11"/>
                          </a:cxn>
                          <a:cxn ang="0">
                            <a:pos x="csX12" y="csY12"/>
                          </a:cxn>
                          <a:cxn ang="0">
                            <a:pos x="csX13" y="csY13"/>
                          </a:cxn>
                          <a:cxn ang="0">
                            <a:pos x="csX14" y="csY14"/>
                          </a:cxn>
                          <a:cxn ang="0">
                            <a:pos x="csX15" y="csY15"/>
                          </a:cxn>
                          <a:cxn ang="0">
                            <a:pos x="csX16" y="csY16"/>
                          </a:cxn>
                        </a:cxnLst>
                        <a:rect l="l" t="t" r="r" b="b"/>
                        <a:pathLst>
                          <a:path w="2606040" h="2072640">
                            <a:moveTo>
                              <a:pt x="387364" y="152400"/>
                            </a:moveTo>
                            <a:cubicBezTo>
                              <a:pt x="257597" y="152400"/>
                              <a:pt x="152400" y="257597"/>
                              <a:pt x="152400" y="387364"/>
                            </a:cubicBezTo>
                            <a:lnTo>
                              <a:pt x="152400" y="1692896"/>
                            </a:lnTo>
                            <a:cubicBezTo>
                              <a:pt x="152400" y="1822663"/>
                              <a:pt x="257597" y="1927860"/>
                              <a:pt x="387364" y="1927860"/>
                            </a:cubicBezTo>
                            <a:lnTo>
                              <a:pt x="2218676" y="1927860"/>
                            </a:lnTo>
                            <a:cubicBezTo>
                              <a:pt x="2348443" y="1927860"/>
                              <a:pt x="2453640" y="1822663"/>
                              <a:pt x="2453640" y="1692896"/>
                            </a:cubicBezTo>
                            <a:lnTo>
                              <a:pt x="2453640" y="387364"/>
                            </a:lnTo>
                            <a:cubicBezTo>
                              <a:pt x="2453640" y="257597"/>
                              <a:pt x="2348443" y="152400"/>
                              <a:pt x="2218676" y="152400"/>
                            </a:cubicBezTo>
                            <a:close/>
                            <a:moveTo>
                              <a:pt x="345447" y="0"/>
                            </a:moveTo>
                            <a:lnTo>
                              <a:pt x="2260593" y="0"/>
                            </a:lnTo>
                            <a:cubicBezTo>
                              <a:pt x="2451378" y="0"/>
                              <a:pt x="2606040" y="154662"/>
                              <a:pt x="2606040" y="345447"/>
                            </a:cubicBezTo>
                            <a:lnTo>
                              <a:pt x="2606040" y="1727193"/>
                            </a:lnTo>
                            <a:cubicBezTo>
                              <a:pt x="2606040" y="1917978"/>
                              <a:pt x="2451378" y="2072640"/>
                              <a:pt x="2260593" y="2072640"/>
                            </a:cubicBezTo>
                            <a:lnTo>
                              <a:pt x="345447" y="2072640"/>
                            </a:lnTo>
                            <a:cubicBezTo>
                              <a:pt x="154662" y="2072640"/>
                              <a:pt x="0" y="1917978"/>
                              <a:pt x="0" y="1727193"/>
                            </a:cubicBezTo>
                            <a:lnTo>
                              <a:pt x="0" y="345447"/>
                            </a:lnTo>
                            <a:cubicBezTo>
                              <a:pt x="0" y="154662"/>
                              <a:pt x="154662" y="0"/>
                              <a:pt x="345447" y="0"/>
                            </a:cubicBezTo>
                            <a:close/>
                          </a:path>
                        </a:pathLst>
                      </a:custGeom>
                      <a:solidFill>
                        <a:srgbClr val="0070C0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wrap="square" rtlCol="0" anchor="ctr">
                        <a:noAutofit/>
                      </a:bodyPr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826" name="Freeform: Shape 1825">
                        <a:extLst>
                          <a:ext uri="{FF2B5EF4-FFF2-40B4-BE49-F238E27FC236}">
                            <a16:creationId xmlns:a16="http://schemas.microsoft.com/office/drawing/2014/main" id="{D28A8A3A-2524-3ECB-BCE1-B5AC2FDA06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32427" y="3116580"/>
                        <a:ext cx="1652626" cy="629848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176486" h="448382">
                            <a:moveTo>
                              <a:pt x="548990" y="75344"/>
                            </a:moveTo>
                            <a:lnTo>
                              <a:pt x="548990" y="222349"/>
                            </a:lnTo>
                            <a:lnTo>
                              <a:pt x="588503" y="222349"/>
                            </a:lnTo>
                            <a:cubicBezTo>
                              <a:pt x="602568" y="222349"/>
                              <a:pt x="614344" y="220452"/>
                              <a:pt x="623831" y="216657"/>
                            </a:cubicBezTo>
                            <a:cubicBezTo>
                              <a:pt x="633319" y="212861"/>
                              <a:pt x="641077" y="207559"/>
                              <a:pt x="647104" y="200750"/>
                            </a:cubicBezTo>
                            <a:cubicBezTo>
                              <a:pt x="653132" y="193942"/>
                              <a:pt x="657708" y="185793"/>
                              <a:pt x="660834" y="176305"/>
                            </a:cubicBezTo>
                            <a:cubicBezTo>
                              <a:pt x="663959" y="166818"/>
                              <a:pt x="665522" y="156493"/>
                              <a:pt x="665522" y="145331"/>
                            </a:cubicBezTo>
                            <a:cubicBezTo>
                              <a:pt x="665522" y="130150"/>
                              <a:pt x="662843" y="117649"/>
                              <a:pt x="657485" y="107826"/>
                            </a:cubicBezTo>
                            <a:cubicBezTo>
                              <a:pt x="652127" y="98003"/>
                              <a:pt x="645542" y="90748"/>
                              <a:pt x="637728" y="86060"/>
                            </a:cubicBezTo>
                            <a:cubicBezTo>
                              <a:pt x="629915" y="81372"/>
                              <a:pt x="621711" y="78414"/>
                              <a:pt x="613116" y="77186"/>
                            </a:cubicBezTo>
                            <a:cubicBezTo>
                              <a:pt x="604521" y="75958"/>
                              <a:pt x="595647" y="75344"/>
                              <a:pt x="586494" y="75344"/>
                            </a:cubicBezTo>
                            <a:close/>
                            <a:moveTo>
                              <a:pt x="490723" y="7367"/>
                            </a:moveTo>
                            <a:lnTo>
                              <a:pt x="592857" y="7367"/>
                            </a:lnTo>
                            <a:cubicBezTo>
                              <a:pt x="603126" y="7367"/>
                              <a:pt x="612893" y="7758"/>
                              <a:pt x="622157" y="8539"/>
                            </a:cubicBezTo>
                            <a:cubicBezTo>
                              <a:pt x="631422" y="9320"/>
                              <a:pt x="642528" y="10995"/>
                              <a:pt x="655476" y="13562"/>
                            </a:cubicBezTo>
                            <a:cubicBezTo>
                              <a:pt x="668424" y="16129"/>
                              <a:pt x="681540" y="20873"/>
                              <a:pt x="694822" y="27794"/>
                            </a:cubicBezTo>
                            <a:cubicBezTo>
                              <a:pt x="708105" y="34714"/>
                              <a:pt x="719435" y="43476"/>
                              <a:pt x="728811" y="54080"/>
                            </a:cubicBezTo>
                            <a:cubicBezTo>
                              <a:pt x="738187" y="64684"/>
                              <a:pt x="745331" y="77074"/>
                              <a:pt x="750242" y="91250"/>
                            </a:cubicBezTo>
                            <a:cubicBezTo>
                              <a:pt x="755154" y="105426"/>
                              <a:pt x="757609" y="121332"/>
                              <a:pt x="757609" y="138968"/>
                            </a:cubicBezTo>
                            <a:cubicBezTo>
                              <a:pt x="757609" y="163302"/>
                              <a:pt x="753814" y="184844"/>
                              <a:pt x="746224" y="203597"/>
                            </a:cubicBezTo>
                            <a:cubicBezTo>
                              <a:pt x="738634" y="222349"/>
                              <a:pt x="727583" y="238144"/>
                              <a:pt x="713072" y="250980"/>
                            </a:cubicBezTo>
                            <a:cubicBezTo>
                              <a:pt x="698562" y="263816"/>
                              <a:pt x="680758" y="273583"/>
                              <a:pt x="659662" y="280281"/>
                            </a:cubicBezTo>
                            <a:cubicBezTo>
                              <a:pt x="638565" y="286978"/>
                              <a:pt x="613730" y="290326"/>
                              <a:pt x="585155" y="290326"/>
                            </a:cubicBezTo>
                            <a:lnTo>
                              <a:pt x="548990" y="290326"/>
                            </a:lnTo>
                            <a:lnTo>
                              <a:pt x="548990" y="428625"/>
                            </a:lnTo>
                            <a:cubicBezTo>
                              <a:pt x="548990" y="430857"/>
                              <a:pt x="548264" y="432867"/>
                              <a:pt x="546813" y="434653"/>
                            </a:cubicBezTo>
                            <a:cubicBezTo>
                              <a:pt x="545362" y="436439"/>
                              <a:pt x="542962" y="437890"/>
                              <a:pt x="539613" y="439006"/>
                            </a:cubicBezTo>
                            <a:cubicBezTo>
                              <a:pt x="536265" y="440122"/>
                              <a:pt x="531800" y="441015"/>
                              <a:pt x="526219" y="441685"/>
                            </a:cubicBezTo>
                            <a:cubicBezTo>
                              <a:pt x="520638" y="442354"/>
                              <a:pt x="513494" y="442689"/>
                              <a:pt x="504788" y="442689"/>
                            </a:cubicBezTo>
                            <a:cubicBezTo>
                              <a:pt x="496304" y="442689"/>
                              <a:pt x="489216" y="442354"/>
                              <a:pt x="483524" y="441685"/>
                            </a:cubicBezTo>
                            <a:cubicBezTo>
                              <a:pt x="477831" y="441015"/>
                              <a:pt x="473310" y="440122"/>
                              <a:pt x="469962" y="439006"/>
                            </a:cubicBezTo>
                            <a:cubicBezTo>
                              <a:pt x="466613" y="437890"/>
                              <a:pt x="464269" y="436439"/>
                              <a:pt x="462930" y="434653"/>
                            </a:cubicBezTo>
                            <a:cubicBezTo>
                              <a:pt x="461590" y="432867"/>
                              <a:pt x="460920" y="430857"/>
                              <a:pt x="460920" y="428625"/>
                            </a:cubicBezTo>
                            <a:lnTo>
                              <a:pt x="460920" y="38844"/>
                            </a:lnTo>
                            <a:cubicBezTo>
                              <a:pt x="460920" y="28352"/>
                              <a:pt x="463655" y="20482"/>
                              <a:pt x="469125" y="15236"/>
                            </a:cubicBezTo>
                            <a:cubicBezTo>
                              <a:pt x="474594" y="9990"/>
                              <a:pt x="481794" y="7367"/>
                              <a:pt x="490723" y="7367"/>
                            </a:cubicBezTo>
                            <a:close/>
                            <a:moveTo>
                              <a:pt x="866738" y="5358"/>
                            </a:moveTo>
                            <a:cubicBezTo>
                              <a:pt x="875221" y="5358"/>
                              <a:pt x="882253" y="5693"/>
                              <a:pt x="887834" y="6362"/>
                            </a:cubicBezTo>
                            <a:cubicBezTo>
                              <a:pt x="893415" y="7032"/>
                              <a:pt x="897880" y="7925"/>
                              <a:pt x="901228" y="9041"/>
                            </a:cubicBezTo>
                            <a:cubicBezTo>
                              <a:pt x="904577" y="10158"/>
                              <a:pt x="906977" y="11609"/>
                              <a:pt x="908428" y="13394"/>
                            </a:cubicBezTo>
                            <a:cubicBezTo>
                              <a:pt x="909879" y="15180"/>
                              <a:pt x="910605" y="17190"/>
                              <a:pt x="910605" y="19422"/>
                            </a:cubicBezTo>
                            <a:lnTo>
                              <a:pt x="910605" y="275258"/>
                            </a:lnTo>
                            <a:cubicBezTo>
                              <a:pt x="910605" y="292447"/>
                              <a:pt x="912725" y="307349"/>
                              <a:pt x="916967" y="319962"/>
                            </a:cubicBezTo>
                            <a:cubicBezTo>
                              <a:pt x="921209" y="332575"/>
                              <a:pt x="927292" y="343012"/>
                              <a:pt x="935217" y="351272"/>
                            </a:cubicBezTo>
                            <a:cubicBezTo>
                              <a:pt x="943142" y="359532"/>
                              <a:pt x="952630" y="365727"/>
                              <a:pt x="963680" y="369857"/>
                            </a:cubicBezTo>
                            <a:cubicBezTo>
                              <a:pt x="974731" y="373987"/>
                              <a:pt x="987065" y="376052"/>
                              <a:pt x="1000683" y="376052"/>
                            </a:cubicBezTo>
                            <a:cubicBezTo>
                              <a:pt x="1014524" y="376052"/>
                              <a:pt x="1026914" y="373931"/>
                              <a:pt x="1037853" y="369689"/>
                            </a:cubicBezTo>
                            <a:cubicBezTo>
                              <a:pt x="1048791" y="365447"/>
                              <a:pt x="1058056" y="359252"/>
                              <a:pt x="1065646" y="351104"/>
                            </a:cubicBezTo>
                            <a:cubicBezTo>
                              <a:pt x="1073237" y="342956"/>
                              <a:pt x="1079097" y="332910"/>
                              <a:pt x="1083227" y="320966"/>
                            </a:cubicBezTo>
                            <a:cubicBezTo>
                              <a:pt x="1087357" y="309023"/>
                              <a:pt x="1089422" y="295461"/>
                              <a:pt x="1089422" y="280281"/>
                            </a:cubicBezTo>
                            <a:lnTo>
                              <a:pt x="1089422" y="19422"/>
                            </a:lnTo>
                            <a:cubicBezTo>
                              <a:pt x="1089422" y="17190"/>
                              <a:pt x="1090091" y="15180"/>
                              <a:pt x="1091431" y="13394"/>
                            </a:cubicBezTo>
                            <a:cubicBezTo>
                              <a:pt x="1092770" y="11609"/>
                              <a:pt x="1095114" y="10158"/>
                              <a:pt x="1098463" y="9041"/>
                            </a:cubicBezTo>
                            <a:cubicBezTo>
                              <a:pt x="1101812" y="7925"/>
                              <a:pt x="1106332" y="7032"/>
                              <a:pt x="1112025" y="6362"/>
                            </a:cubicBezTo>
                            <a:cubicBezTo>
                              <a:pt x="1117718" y="5693"/>
                              <a:pt x="1124805" y="5358"/>
                              <a:pt x="1133289" y="5358"/>
                            </a:cubicBezTo>
                            <a:cubicBezTo>
                              <a:pt x="1141772" y="5358"/>
                              <a:pt x="1148748" y="5693"/>
                              <a:pt x="1154218" y="6362"/>
                            </a:cubicBezTo>
                            <a:cubicBezTo>
                              <a:pt x="1159687" y="7032"/>
                              <a:pt x="1164096" y="7925"/>
                              <a:pt x="1167445" y="9041"/>
                            </a:cubicBezTo>
                            <a:cubicBezTo>
                              <a:pt x="1170793" y="10158"/>
                              <a:pt x="1173137" y="11609"/>
                              <a:pt x="1174477" y="13394"/>
                            </a:cubicBezTo>
                            <a:cubicBezTo>
                              <a:pt x="1175816" y="15180"/>
                              <a:pt x="1176486" y="17190"/>
                              <a:pt x="1176486" y="19422"/>
                            </a:cubicBezTo>
                            <a:lnTo>
                              <a:pt x="1176486" y="279276"/>
                            </a:lnTo>
                            <a:cubicBezTo>
                              <a:pt x="1176486" y="305842"/>
                              <a:pt x="1172579" y="329617"/>
                              <a:pt x="1164766" y="350602"/>
                            </a:cubicBezTo>
                            <a:cubicBezTo>
                              <a:pt x="1156952" y="371587"/>
                              <a:pt x="1145455" y="389334"/>
                              <a:pt x="1130275" y="403845"/>
                            </a:cubicBezTo>
                            <a:cubicBezTo>
                              <a:pt x="1115094" y="418356"/>
                              <a:pt x="1096342" y="429406"/>
                              <a:pt x="1074018" y="436997"/>
                            </a:cubicBezTo>
                            <a:cubicBezTo>
                              <a:pt x="1051694" y="444587"/>
                              <a:pt x="1026021" y="448382"/>
                              <a:pt x="996999" y="448382"/>
                            </a:cubicBezTo>
                            <a:cubicBezTo>
                              <a:pt x="969764" y="448382"/>
                              <a:pt x="945319" y="444978"/>
                              <a:pt x="923664" y="438169"/>
                            </a:cubicBezTo>
                            <a:cubicBezTo>
                              <a:pt x="902010" y="431360"/>
                              <a:pt x="883704" y="421035"/>
                              <a:pt x="868747" y="407194"/>
                            </a:cubicBezTo>
                            <a:cubicBezTo>
                              <a:pt x="853789" y="393353"/>
                              <a:pt x="842348" y="376107"/>
                              <a:pt x="834423" y="355457"/>
                            </a:cubicBezTo>
                            <a:cubicBezTo>
                              <a:pt x="826498" y="334807"/>
                              <a:pt x="822536" y="310642"/>
                              <a:pt x="822536" y="282959"/>
                            </a:cubicBezTo>
                            <a:lnTo>
                              <a:pt x="822536" y="19422"/>
                            </a:lnTo>
                            <a:cubicBezTo>
                              <a:pt x="822536" y="17190"/>
                              <a:pt x="823205" y="15180"/>
                              <a:pt x="824545" y="13394"/>
                            </a:cubicBezTo>
                            <a:cubicBezTo>
                              <a:pt x="825884" y="11609"/>
                              <a:pt x="828284" y="10158"/>
                              <a:pt x="831744" y="9041"/>
                            </a:cubicBezTo>
                            <a:cubicBezTo>
                              <a:pt x="835205" y="7925"/>
                              <a:pt x="839725" y="7032"/>
                              <a:pt x="845306" y="6362"/>
                            </a:cubicBezTo>
                            <a:cubicBezTo>
                              <a:pt x="850887" y="5693"/>
                              <a:pt x="858031" y="5358"/>
                              <a:pt x="866738" y="5358"/>
                            </a:cubicBezTo>
                            <a:close/>
                            <a:moveTo>
                              <a:pt x="225698" y="0"/>
                            </a:moveTo>
                            <a:cubicBezTo>
                              <a:pt x="244450" y="0"/>
                              <a:pt x="261528" y="1284"/>
                              <a:pt x="276932" y="3851"/>
                            </a:cubicBezTo>
                            <a:cubicBezTo>
                              <a:pt x="292335" y="6418"/>
                              <a:pt x="305786" y="9544"/>
                              <a:pt x="317283" y="13227"/>
                            </a:cubicBezTo>
                            <a:cubicBezTo>
                              <a:pt x="328780" y="16911"/>
                              <a:pt x="338323" y="20873"/>
                              <a:pt x="345914" y="25115"/>
                            </a:cubicBezTo>
                            <a:cubicBezTo>
                              <a:pt x="353504" y="29356"/>
                              <a:pt x="358806" y="33040"/>
                              <a:pt x="361820" y="36165"/>
                            </a:cubicBezTo>
                            <a:cubicBezTo>
                              <a:pt x="364833" y="39291"/>
                              <a:pt x="367010" y="43700"/>
                              <a:pt x="368349" y="49392"/>
                            </a:cubicBezTo>
                            <a:cubicBezTo>
                              <a:pt x="369689" y="55085"/>
                              <a:pt x="370359" y="63512"/>
                              <a:pt x="370359" y="74675"/>
                            </a:cubicBezTo>
                            <a:cubicBezTo>
                              <a:pt x="370359" y="81148"/>
                              <a:pt x="370080" y="86730"/>
                              <a:pt x="369521" y="91418"/>
                            </a:cubicBezTo>
                            <a:cubicBezTo>
                              <a:pt x="368963" y="96106"/>
                              <a:pt x="368182" y="99845"/>
                              <a:pt x="367177" y="102636"/>
                            </a:cubicBezTo>
                            <a:cubicBezTo>
                              <a:pt x="366173" y="105426"/>
                              <a:pt x="364945" y="107379"/>
                              <a:pt x="363494" y="108496"/>
                            </a:cubicBezTo>
                            <a:cubicBezTo>
                              <a:pt x="362043" y="109612"/>
                              <a:pt x="360313" y="110170"/>
                              <a:pt x="358304" y="110170"/>
                            </a:cubicBezTo>
                            <a:cubicBezTo>
                              <a:pt x="355401" y="110170"/>
                              <a:pt x="350713" y="108161"/>
                              <a:pt x="344239" y="104142"/>
                            </a:cubicBezTo>
                            <a:cubicBezTo>
                              <a:pt x="337765" y="100124"/>
                              <a:pt x="329170" y="95771"/>
                              <a:pt x="318455" y="91083"/>
                            </a:cubicBezTo>
                            <a:cubicBezTo>
                              <a:pt x="307739" y="86395"/>
                              <a:pt x="294959" y="82041"/>
                              <a:pt x="280113" y="78023"/>
                            </a:cubicBezTo>
                            <a:cubicBezTo>
                              <a:pt x="265267" y="74005"/>
                              <a:pt x="248022" y="71996"/>
                              <a:pt x="228377" y="71996"/>
                            </a:cubicBezTo>
                            <a:cubicBezTo>
                              <a:pt x="207392" y="71996"/>
                              <a:pt x="188416" y="75623"/>
                              <a:pt x="171450" y="82879"/>
                            </a:cubicBezTo>
                            <a:cubicBezTo>
                              <a:pt x="154483" y="90134"/>
                              <a:pt x="139973" y="100403"/>
                              <a:pt x="127918" y="113686"/>
                            </a:cubicBezTo>
                            <a:cubicBezTo>
                              <a:pt x="115862" y="126969"/>
                              <a:pt x="106598" y="142931"/>
                              <a:pt x="100124" y="161571"/>
                            </a:cubicBezTo>
                            <a:cubicBezTo>
                              <a:pt x="93650" y="180212"/>
                              <a:pt x="90413" y="200806"/>
                              <a:pt x="90413" y="223354"/>
                            </a:cubicBezTo>
                            <a:cubicBezTo>
                              <a:pt x="90413" y="248134"/>
                              <a:pt x="93706" y="269956"/>
                              <a:pt x="100291" y="288820"/>
                            </a:cubicBezTo>
                            <a:cubicBezTo>
                              <a:pt x="106877" y="307684"/>
                              <a:pt x="116086" y="323478"/>
                              <a:pt x="127918" y="336203"/>
                            </a:cubicBezTo>
                            <a:cubicBezTo>
                              <a:pt x="139749" y="348928"/>
                              <a:pt x="153981" y="358527"/>
                              <a:pt x="170613" y="365001"/>
                            </a:cubicBezTo>
                            <a:cubicBezTo>
                              <a:pt x="187244" y="371475"/>
                              <a:pt x="205606" y="374712"/>
                              <a:pt x="225698" y="374712"/>
                            </a:cubicBezTo>
                            <a:cubicBezTo>
                              <a:pt x="235520" y="374712"/>
                              <a:pt x="245231" y="373596"/>
                              <a:pt x="254831" y="371363"/>
                            </a:cubicBezTo>
                            <a:cubicBezTo>
                              <a:pt x="264430" y="369131"/>
                              <a:pt x="273360" y="365782"/>
                              <a:pt x="281620" y="361317"/>
                            </a:cubicBezTo>
                            <a:lnTo>
                              <a:pt x="281620" y="260858"/>
                            </a:lnTo>
                            <a:lnTo>
                              <a:pt x="199578" y="260858"/>
                            </a:lnTo>
                            <a:cubicBezTo>
                              <a:pt x="195560" y="260858"/>
                              <a:pt x="192435" y="258347"/>
                              <a:pt x="190202" y="253324"/>
                            </a:cubicBezTo>
                            <a:cubicBezTo>
                              <a:pt x="187970" y="248301"/>
                              <a:pt x="186853" y="239762"/>
                              <a:pt x="186853" y="227707"/>
                            </a:cubicBezTo>
                            <a:cubicBezTo>
                              <a:pt x="186853" y="221456"/>
                              <a:pt x="187133" y="216210"/>
                              <a:pt x="187691" y="211968"/>
                            </a:cubicBezTo>
                            <a:cubicBezTo>
                              <a:pt x="188249" y="207727"/>
                              <a:pt x="189086" y="204322"/>
                              <a:pt x="190202" y="201755"/>
                            </a:cubicBezTo>
                            <a:cubicBezTo>
                              <a:pt x="191318" y="199188"/>
                              <a:pt x="192658" y="197290"/>
                              <a:pt x="194220" y="196062"/>
                            </a:cubicBezTo>
                            <a:cubicBezTo>
                              <a:pt x="195783" y="194835"/>
                              <a:pt x="197569" y="194221"/>
                              <a:pt x="199578" y="194221"/>
                            </a:cubicBezTo>
                            <a:lnTo>
                              <a:pt x="345914" y="194221"/>
                            </a:lnTo>
                            <a:cubicBezTo>
                              <a:pt x="349485" y="194221"/>
                              <a:pt x="352667" y="194835"/>
                              <a:pt x="355457" y="196062"/>
                            </a:cubicBezTo>
                            <a:cubicBezTo>
                              <a:pt x="358248" y="197290"/>
                              <a:pt x="360703" y="199132"/>
                              <a:pt x="362824" y="201588"/>
                            </a:cubicBezTo>
                            <a:cubicBezTo>
                              <a:pt x="364945" y="204043"/>
                              <a:pt x="366563" y="207001"/>
                              <a:pt x="367680" y="210462"/>
                            </a:cubicBezTo>
                            <a:cubicBezTo>
                              <a:pt x="368796" y="213922"/>
                              <a:pt x="369354" y="217884"/>
                              <a:pt x="369354" y="222349"/>
                            </a:cubicBezTo>
                            <a:lnTo>
                              <a:pt x="369354" y="394804"/>
                            </a:lnTo>
                            <a:cubicBezTo>
                              <a:pt x="369354" y="401501"/>
                              <a:pt x="368182" y="407361"/>
                              <a:pt x="365838" y="412384"/>
                            </a:cubicBezTo>
                            <a:cubicBezTo>
                              <a:pt x="363494" y="417407"/>
                              <a:pt x="358694" y="421370"/>
                              <a:pt x="351439" y="424272"/>
                            </a:cubicBezTo>
                            <a:cubicBezTo>
                              <a:pt x="344183" y="427174"/>
                              <a:pt x="335198" y="430188"/>
                              <a:pt x="324482" y="433313"/>
                            </a:cubicBezTo>
                            <a:cubicBezTo>
                              <a:pt x="313767" y="436439"/>
                              <a:pt x="302660" y="439117"/>
                              <a:pt x="291163" y="441350"/>
                            </a:cubicBezTo>
                            <a:cubicBezTo>
                              <a:pt x="279666" y="443582"/>
                              <a:pt x="268058" y="445257"/>
                              <a:pt x="256338" y="446373"/>
                            </a:cubicBezTo>
                            <a:cubicBezTo>
                              <a:pt x="244617" y="447489"/>
                              <a:pt x="232841" y="448047"/>
                              <a:pt x="221010" y="448047"/>
                            </a:cubicBezTo>
                            <a:cubicBezTo>
                              <a:pt x="186407" y="448047"/>
                              <a:pt x="155432" y="443080"/>
                              <a:pt x="128085" y="433146"/>
                            </a:cubicBezTo>
                            <a:cubicBezTo>
                              <a:pt x="100738" y="423211"/>
                              <a:pt x="77576" y="408812"/>
                              <a:pt x="58601" y="389948"/>
                            </a:cubicBezTo>
                            <a:cubicBezTo>
                              <a:pt x="39625" y="371084"/>
                              <a:pt x="25115" y="348090"/>
                              <a:pt x="15069" y="320966"/>
                            </a:cubicBezTo>
                            <a:cubicBezTo>
                              <a:pt x="5023" y="293842"/>
                              <a:pt x="0" y="263091"/>
                              <a:pt x="0" y="228712"/>
                            </a:cubicBezTo>
                            <a:cubicBezTo>
                              <a:pt x="0" y="193216"/>
                              <a:pt x="5358" y="161348"/>
                              <a:pt x="16073" y="133108"/>
                            </a:cubicBezTo>
                            <a:cubicBezTo>
                              <a:pt x="26789" y="104868"/>
                              <a:pt x="41969" y="80869"/>
                              <a:pt x="61615" y="61113"/>
                            </a:cubicBezTo>
                            <a:cubicBezTo>
                              <a:pt x="81260" y="41356"/>
                              <a:pt x="104979" y="26231"/>
                              <a:pt x="132773" y="15739"/>
                            </a:cubicBezTo>
                            <a:cubicBezTo>
                              <a:pt x="160567" y="5246"/>
                              <a:pt x="191542" y="0"/>
                              <a:pt x="225698" y="0"/>
                            </a:cubicBezTo>
                            <a:close/>
                          </a:path>
                        </a:pathLst>
                      </a:custGeom>
                      <a:solidFill>
                        <a:srgbClr val="0070C0"/>
                      </a:solidFill>
                      <a:ln w="0">
                        <a:noFill/>
                      </a:ln>
                      <a:effectLst/>
                    </p:spPr>
                    <p:txBody>
      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algn="ctr"/>
                        <a:endParaRPr lang="en-US" sz="5400" b="1" dirty="0">
                          <a:ln w="0"/>
                        </a:endParaRPr>
                      </a:p>
                    </p:txBody>
                  </p:sp>
                  <p:sp>
                    <p:nvSpPr>
                      <p:cNvPr id="1827" name="Rectangle: Rounded Corners 1826">
                        <a:extLst>
                          <a:ext uri="{FF2B5EF4-FFF2-40B4-BE49-F238E27FC236}">
                            <a16:creationId xmlns:a16="http://schemas.microsoft.com/office/drawing/2014/main" id="{FBEC6FA9-DE6D-6699-DFB0-3EDB09C5D45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24350" y="1795096"/>
                        <a:ext cx="266700" cy="388229"/>
                      </a:xfrm>
                      <a:prstGeom prst="roundRect">
                        <a:avLst/>
                      </a:prstGeom>
                      <a:solidFill>
                        <a:srgbClr val="0070C0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828" name="Rectangle: Rounded Corners 1827">
                        <a:extLst>
                          <a:ext uri="{FF2B5EF4-FFF2-40B4-BE49-F238E27FC236}">
                            <a16:creationId xmlns:a16="http://schemas.microsoft.com/office/drawing/2014/main" id="{3DFED968-96C3-23B1-9FC0-55B1BAF5516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08220" y="1798711"/>
                        <a:ext cx="266700" cy="388229"/>
                      </a:xfrm>
                      <a:prstGeom prst="roundRect">
                        <a:avLst/>
                      </a:prstGeom>
                      <a:solidFill>
                        <a:srgbClr val="0070C0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829" name="Rectangle: Rounded Corners 1828">
                        <a:extLst>
                          <a:ext uri="{FF2B5EF4-FFF2-40B4-BE49-F238E27FC236}">
                            <a16:creationId xmlns:a16="http://schemas.microsoft.com/office/drawing/2014/main" id="{E35BF0DC-4332-92D5-DAB5-8B65B922D04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292090" y="1798710"/>
                        <a:ext cx="266700" cy="388229"/>
                      </a:xfrm>
                      <a:prstGeom prst="roundRect">
                        <a:avLst/>
                      </a:prstGeom>
                      <a:solidFill>
                        <a:srgbClr val="0070C0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830" name="Rectangle: Rounded Corners 1829">
                        <a:extLst>
                          <a:ext uri="{FF2B5EF4-FFF2-40B4-BE49-F238E27FC236}">
                            <a16:creationId xmlns:a16="http://schemas.microsoft.com/office/drawing/2014/main" id="{EF56B341-E87C-7A57-543A-0969B811B1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75960" y="1795096"/>
                        <a:ext cx="266700" cy="388229"/>
                      </a:xfrm>
                      <a:prstGeom prst="roundRect">
                        <a:avLst/>
                      </a:prstGeom>
                      <a:solidFill>
                        <a:srgbClr val="0070C0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831" name="Rectangle: Rounded Corners 1830">
                        <a:extLst>
                          <a:ext uri="{FF2B5EF4-FFF2-40B4-BE49-F238E27FC236}">
                            <a16:creationId xmlns:a16="http://schemas.microsoft.com/office/drawing/2014/main" id="{C1966292-AFAC-32BE-E8E1-4D2C4113EB3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24350" y="4666768"/>
                        <a:ext cx="266700" cy="388229"/>
                      </a:xfrm>
                      <a:prstGeom prst="roundRect">
                        <a:avLst/>
                      </a:prstGeom>
                      <a:solidFill>
                        <a:srgbClr val="0070C0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832" name="Rectangle: Rounded Corners 1831">
                        <a:extLst>
                          <a:ext uri="{FF2B5EF4-FFF2-40B4-BE49-F238E27FC236}">
                            <a16:creationId xmlns:a16="http://schemas.microsoft.com/office/drawing/2014/main" id="{9272CAAB-78CE-92F1-6B36-D702BA580DD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08220" y="4670383"/>
                        <a:ext cx="266700" cy="388229"/>
                      </a:xfrm>
                      <a:prstGeom prst="roundRect">
                        <a:avLst/>
                      </a:prstGeom>
                      <a:solidFill>
                        <a:srgbClr val="0070C0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833" name="Rectangle: Rounded Corners 1832">
                        <a:extLst>
                          <a:ext uri="{FF2B5EF4-FFF2-40B4-BE49-F238E27FC236}">
                            <a16:creationId xmlns:a16="http://schemas.microsoft.com/office/drawing/2014/main" id="{9FAA50BE-1B6A-0007-6B15-65DC5FAA657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292090" y="4670382"/>
                        <a:ext cx="266700" cy="388229"/>
                      </a:xfrm>
                      <a:prstGeom prst="roundRect">
                        <a:avLst/>
                      </a:prstGeom>
                      <a:solidFill>
                        <a:srgbClr val="0070C0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834" name="Rectangle: Rounded Corners 1833">
                        <a:extLst>
                          <a:ext uri="{FF2B5EF4-FFF2-40B4-BE49-F238E27FC236}">
                            <a16:creationId xmlns:a16="http://schemas.microsoft.com/office/drawing/2014/main" id="{B8A331C8-F9AA-5590-A988-F632CF628B7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75960" y="4666768"/>
                        <a:ext cx="266700" cy="388229"/>
                      </a:xfrm>
                      <a:prstGeom prst="roundRect">
                        <a:avLst/>
                      </a:prstGeom>
                      <a:solidFill>
                        <a:srgbClr val="0070C0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grpSp>
                    <p:nvGrpSpPr>
                      <p:cNvPr id="1835" name="Group 1834">
                        <a:extLst>
                          <a:ext uri="{FF2B5EF4-FFF2-40B4-BE49-F238E27FC236}">
                            <a16:creationId xmlns:a16="http://schemas.microsoft.com/office/drawing/2014/main" id="{15435D8C-6707-5D3E-BBDB-B43BE748A776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5400000">
                        <a:off x="2588115" y="3217838"/>
                        <a:ext cx="1718310" cy="391844"/>
                        <a:chOff x="4476750" y="1947496"/>
                        <a:chExt cx="1718310" cy="391844"/>
                      </a:xfrm>
                    </p:grpSpPr>
                    <p:sp>
                      <p:nvSpPr>
                        <p:cNvPr id="1841" name="Rectangle: Rounded Corners 1840">
                          <a:extLst>
                            <a:ext uri="{FF2B5EF4-FFF2-40B4-BE49-F238E27FC236}">
                              <a16:creationId xmlns:a16="http://schemas.microsoft.com/office/drawing/2014/main" id="{4FCF8AF4-767F-A511-2168-42681C30C13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476750" y="1947496"/>
                          <a:ext cx="266700" cy="388229"/>
                        </a:xfrm>
                        <a:prstGeom prst="roundRect">
                          <a:avLst/>
                        </a:prstGeom>
                        <a:solidFill>
                          <a:srgbClr val="0070C0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842" name="Rectangle: Rounded Corners 1841">
                          <a:extLst>
                            <a:ext uri="{FF2B5EF4-FFF2-40B4-BE49-F238E27FC236}">
                              <a16:creationId xmlns:a16="http://schemas.microsoft.com/office/drawing/2014/main" id="{15729B30-1116-E5A4-32AE-4FCE44DAA83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960620" y="1951111"/>
                          <a:ext cx="266700" cy="388229"/>
                        </a:xfrm>
                        <a:prstGeom prst="roundRect">
                          <a:avLst/>
                        </a:prstGeom>
                        <a:solidFill>
                          <a:srgbClr val="0070C0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843" name="Rectangle: Rounded Corners 1842">
                          <a:extLst>
                            <a:ext uri="{FF2B5EF4-FFF2-40B4-BE49-F238E27FC236}">
                              <a16:creationId xmlns:a16="http://schemas.microsoft.com/office/drawing/2014/main" id="{279322CF-5613-4D89-949C-D3FB33E335C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444490" y="1951110"/>
                          <a:ext cx="266700" cy="388229"/>
                        </a:xfrm>
                        <a:prstGeom prst="roundRect">
                          <a:avLst/>
                        </a:prstGeom>
                        <a:solidFill>
                          <a:srgbClr val="0070C0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844" name="Rectangle: Rounded Corners 1843">
                          <a:extLst>
                            <a:ext uri="{FF2B5EF4-FFF2-40B4-BE49-F238E27FC236}">
                              <a16:creationId xmlns:a16="http://schemas.microsoft.com/office/drawing/2014/main" id="{D1A417CD-9D3A-9EBB-FBC2-C1605228E6E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928360" y="1947496"/>
                          <a:ext cx="266700" cy="388229"/>
                        </a:xfrm>
                        <a:prstGeom prst="roundRect">
                          <a:avLst/>
                        </a:prstGeom>
                        <a:solidFill>
                          <a:srgbClr val="0070C0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36" name="Group 1835">
                        <a:extLst>
                          <a:ext uri="{FF2B5EF4-FFF2-40B4-BE49-F238E27FC236}">
                            <a16:creationId xmlns:a16="http://schemas.microsoft.com/office/drawing/2014/main" id="{5D7A24CC-AAA7-F4F9-1C96-5EF1610864DE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5400000">
                        <a:off x="6023904" y="3217839"/>
                        <a:ext cx="1718310" cy="391844"/>
                        <a:chOff x="4476750" y="1947496"/>
                        <a:chExt cx="1718310" cy="391844"/>
                      </a:xfrm>
                    </p:grpSpPr>
                    <p:sp>
                      <p:nvSpPr>
                        <p:cNvPr id="1837" name="Rectangle: Rounded Corners 1836">
                          <a:extLst>
                            <a:ext uri="{FF2B5EF4-FFF2-40B4-BE49-F238E27FC236}">
                              <a16:creationId xmlns:a16="http://schemas.microsoft.com/office/drawing/2014/main" id="{972DD196-D994-92CB-CC31-0C6C6C769DC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476750" y="1947496"/>
                          <a:ext cx="266700" cy="388229"/>
                        </a:xfrm>
                        <a:prstGeom prst="roundRect">
                          <a:avLst/>
                        </a:prstGeom>
                        <a:solidFill>
                          <a:srgbClr val="0070C0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838" name="Rectangle: Rounded Corners 1837">
                          <a:extLst>
                            <a:ext uri="{FF2B5EF4-FFF2-40B4-BE49-F238E27FC236}">
                              <a16:creationId xmlns:a16="http://schemas.microsoft.com/office/drawing/2014/main" id="{51663C30-C4B3-90D8-4055-FD64709872F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960620" y="1951111"/>
                          <a:ext cx="266700" cy="388229"/>
                        </a:xfrm>
                        <a:prstGeom prst="roundRect">
                          <a:avLst/>
                        </a:prstGeom>
                        <a:solidFill>
                          <a:srgbClr val="0070C0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839" name="Rectangle: Rounded Corners 1838">
                          <a:extLst>
                            <a:ext uri="{FF2B5EF4-FFF2-40B4-BE49-F238E27FC236}">
                              <a16:creationId xmlns:a16="http://schemas.microsoft.com/office/drawing/2014/main" id="{F2DC49F3-161C-6F24-3E01-10606A4251B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444490" y="1951110"/>
                          <a:ext cx="266700" cy="388229"/>
                        </a:xfrm>
                        <a:prstGeom prst="roundRect">
                          <a:avLst/>
                        </a:prstGeom>
                        <a:solidFill>
                          <a:srgbClr val="0070C0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840" name="Rectangle: Rounded Corners 1839">
                          <a:extLst>
                            <a:ext uri="{FF2B5EF4-FFF2-40B4-BE49-F238E27FC236}">
                              <a16:creationId xmlns:a16="http://schemas.microsoft.com/office/drawing/2014/main" id="{112467B9-F5E0-32C0-229A-63CFFC76E8B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928360" y="1947496"/>
                          <a:ext cx="266700" cy="388229"/>
                        </a:xfrm>
                        <a:prstGeom prst="roundRect">
                          <a:avLst/>
                        </a:prstGeom>
                        <a:solidFill>
                          <a:srgbClr val="0070C0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803" name="Group 1802">
                    <a:extLst>
                      <a:ext uri="{FF2B5EF4-FFF2-40B4-BE49-F238E27FC236}">
                        <a16:creationId xmlns:a16="http://schemas.microsoft.com/office/drawing/2014/main" id="{F5693750-9CBA-BAF8-2817-FBC463C0E33C}"/>
                      </a:ext>
                    </a:extLst>
                  </p:cNvPr>
                  <p:cNvGrpSpPr/>
                  <p:nvPr/>
                </p:nvGrpSpPr>
                <p:grpSpPr>
                  <a:xfrm>
                    <a:off x="6205098" y="1041211"/>
                    <a:ext cx="894797" cy="572294"/>
                    <a:chOff x="3617019" y="3013602"/>
                    <a:chExt cx="894797" cy="572294"/>
                  </a:xfrm>
                </p:grpSpPr>
                <p:pic>
                  <p:nvPicPr>
                    <p:cNvPr id="1821" name="Picture 1820">
                      <a:extLst>
                        <a:ext uri="{FF2B5EF4-FFF2-40B4-BE49-F238E27FC236}">
                          <a16:creationId xmlns:a16="http://schemas.microsoft.com/office/drawing/2014/main" id="{816A3127-2DE2-3E2B-DE56-85D0DD3632C0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/>
                    <a:stretch>
                      <a:fillRect/>
                    </a:stretch>
                  </p:blipFill>
                  <p:spPr>
                    <a:xfrm>
                      <a:off x="3679291" y="3071002"/>
                      <a:ext cx="757950" cy="514894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1822" name="TextBox 1821">
                      <a:extLst>
                        <a:ext uri="{FF2B5EF4-FFF2-40B4-BE49-F238E27FC236}">
                          <a16:creationId xmlns:a16="http://schemas.microsoft.com/office/drawing/2014/main" id="{4C3B18C8-A827-0FE6-C9EB-219D25F666A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617019" y="3013602"/>
                      <a:ext cx="894797" cy="2308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900" dirty="0">
                          <a:solidFill>
                            <a:srgbClr val="00B050"/>
                          </a:solidFill>
                        </a:rPr>
                        <a:t>Infiniband NDR</a:t>
                      </a:r>
                    </a:p>
                  </p:txBody>
                </p:sp>
              </p:grpSp>
              <p:grpSp>
                <p:nvGrpSpPr>
                  <p:cNvPr id="1804" name="Group 1803">
                    <a:extLst>
                      <a:ext uri="{FF2B5EF4-FFF2-40B4-BE49-F238E27FC236}">
                        <a16:creationId xmlns:a16="http://schemas.microsoft.com/office/drawing/2014/main" id="{68836615-DF1E-9093-85A9-BDC721B45C8D}"/>
                      </a:ext>
                    </a:extLst>
                  </p:cNvPr>
                  <p:cNvGrpSpPr/>
                  <p:nvPr/>
                </p:nvGrpSpPr>
                <p:grpSpPr>
                  <a:xfrm>
                    <a:off x="7027727" y="1346309"/>
                    <a:ext cx="1617400" cy="96312"/>
                    <a:chOff x="2324934" y="1510774"/>
                    <a:chExt cx="587465" cy="96312"/>
                  </a:xfrm>
                </p:grpSpPr>
                <p:cxnSp>
                  <p:nvCxnSpPr>
                    <p:cNvPr id="1819" name="Straight Connector 1818">
                      <a:extLst>
                        <a:ext uri="{FF2B5EF4-FFF2-40B4-BE49-F238E27FC236}">
                          <a16:creationId xmlns:a16="http://schemas.microsoft.com/office/drawing/2014/main" id="{9C212BF9-3087-004B-2321-639B5BD0210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324934" y="1510774"/>
                      <a:ext cx="58746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headEnd type="triangle"/>
                      <a:tailEnd type="non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20" name="Straight Connector 1819">
                      <a:extLst>
                        <a:ext uri="{FF2B5EF4-FFF2-40B4-BE49-F238E27FC236}">
                          <a16:creationId xmlns:a16="http://schemas.microsoft.com/office/drawing/2014/main" id="{130FA125-C079-7D23-8A0B-8D5D8065094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324934" y="1607086"/>
                      <a:ext cx="58746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805" name="Rectangle: Rounded Corners 1804">
                    <a:extLst>
                      <a:ext uri="{FF2B5EF4-FFF2-40B4-BE49-F238E27FC236}">
                        <a16:creationId xmlns:a16="http://schemas.microsoft.com/office/drawing/2014/main" id="{A4E5291E-FB65-3B12-6F33-3D401AB94CEE}"/>
                      </a:ext>
                    </a:extLst>
                  </p:cNvPr>
                  <p:cNvSpPr/>
                  <p:nvPr/>
                </p:nvSpPr>
                <p:spPr>
                  <a:xfrm rot="5400000" flipH="1">
                    <a:off x="8476552" y="885618"/>
                    <a:ext cx="833557" cy="480312"/>
                  </a:xfrm>
                  <a:prstGeom prst="roundRect">
                    <a:avLst/>
                  </a:prstGeom>
                  <a:solidFill>
                    <a:schemeClr val="accent2">
                      <a:lumMod val="20000"/>
                      <a:lumOff val="80000"/>
                      <a:alpha val="78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100" dirty="0">
                        <a:solidFill>
                          <a:srgbClr val="FF0000"/>
                        </a:solidFill>
                      </a:rPr>
                      <a:t>PLX</a:t>
                    </a:r>
                  </a:p>
                </p:txBody>
              </p:sp>
              <p:grpSp>
                <p:nvGrpSpPr>
                  <p:cNvPr id="1806" name="Group 1805">
                    <a:extLst>
                      <a:ext uri="{FF2B5EF4-FFF2-40B4-BE49-F238E27FC236}">
                        <a16:creationId xmlns:a16="http://schemas.microsoft.com/office/drawing/2014/main" id="{3B657AF4-C851-B255-D30A-36E7FF133285}"/>
                      </a:ext>
                    </a:extLst>
                  </p:cNvPr>
                  <p:cNvGrpSpPr/>
                  <p:nvPr/>
                </p:nvGrpSpPr>
                <p:grpSpPr>
                  <a:xfrm>
                    <a:off x="8056343" y="914750"/>
                    <a:ext cx="587465" cy="96312"/>
                    <a:chOff x="2324934" y="1510774"/>
                    <a:chExt cx="587465" cy="96312"/>
                  </a:xfrm>
                </p:grpSpPr>
                <p:cxnSp>
                  <p:nvCxnSpPr>
                    <p:cNvPr id="1817" name="Straight Connector 1816">
                      <a:extLst>
                        <a:ext uri="{FF2B5EF4-FFF2-40B4-BE49-F238E27FC236}">
                          <a16:creationId xmlns:a16="http://schemas.microsoft.com/office/drawing/2014/main" id="{83538CAC-DD76-2204-ED71-F73832337CA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324934" y="1510774"/>
                      <a:ext cx="58746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headEnd type="triangle"/>
                      <a:tailEnd type="non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18" name="Straight Connector 1817">
                      <a:extLst>
                        <a:ext uri="{FF2B5EF4-FFF2-40B4-BE49-F238E27FC236}">
                          <a16:creationId xmlns:a16="http://schemas.microsoft.com/office/drawing/2014/main" id="{B3ECD5D1-0799-7E7B-5DE5-BB238CFBF85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324934" y="1607086"/>
                      <a:ext cx="58746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pic>
                <p:nvPicPr>
                  <p:cNvPr id="1807" name="Picture 1806">
                    <a:extLst>
                      <a:ext uri="{FF2B5EF4-FFF2-40B4-BE49-F238E27FC236}">
                        <a16:creationId xmlns:a16="http://schemas.microsoft.com/office/drawing/2014/main" id="{993561A1-1312-399A-71CC-4508914F915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9696452" y="668167"/>
                    <a:ext cx="649040" cy="519232"/>
                  </a:xfrm>
                  <a:prstGeom prst="rect">
                    <a:avLst/>
                  </a:prstGeom>
                </p:spPr>
              </p:pic>
              <p:grpSp>
                <p:nvGrpSpPr>
                  <p:cNvPr id="1808" name="Group 1807">
                    <a:extLst>
                      <a:ext uri="{FF2B5EF4-FFF2-40B4-BE49-F238E27FC236}">
                        <a16:creationId xmlns:a16="http://schemas.microsoft.com/office/drawing/2014/main" id="{C439B961-EC6C-89BF-F2EF-60925CADDE54}"/>
                      </a:ext>
                    </a:extLst>
                  </p:cNvPr>
                  <p:cNvGrpSpPr/>
                  <p:nvPr/>
                </p:nvGrpSpPr>
                <p:grpSpPr>
                  <a:xfrm>
                    <a:off x="9139794" y="908400"/>
                    <a:ext cx="587465" cy="96312"/>
                    <a:chOff x="2324934" y="1510774"/>
                    <a:chExt cx="587465" cy="96312"/>
                  </a:xfrm>
                </p:grpSpPr>
                <p:cxnSp>
                  <p:nvCxnSpPr>
                    <p:cNvPr id="1815" name="Straight Connector 1814">
                      <a:extLst>
                        <a:ext uri="{FF2B5EF4-FFF2-40B4-BE49-F238E27FC236}">
                          <a16:creationId xmlns:a16="http://schemas.microsoft.com/office/drawing/2014/main" id="{D8102CED-49DA-EDB1-C360-7145523CCDA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324934" y="1510774"/>
                      <a:ext cx="58746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headEnd type="triangle"/>
                      <a:tailEnd type="non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16" name="Straight Connector 1815">
                      <a:extLst>
                        <a:ext uri="{FF2B5EF4-FFF2-40B4-BE49-F238E27FC236}">
                          <a16:creationId xmlns:a16="http://schemas.microsoft.com/office/drawing/2014/main" id="{A67DD02A-AAC3-6E55-3B53-B8640E6668A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324934" y="1607086"/>
                      <a:ext cx="58746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809" name="Group 1808">
                    <a:extLst>
                      <a:ext uri="{FF2B5EF4-FFF2-40B4-BE49-F238E27FC236}">
                        <a16:creationId xmlns:a16="http://schemas.microsoft.com/office/drawing/2014/main" id="{BCA75064-A848-228D-BC56-E8B4163E169A}"/>
                      </a:ext>
                    </a:extLst>
                  </p:cNvPr>
                  <p:cNvGrpSpPr/>
                  <p:nvPr/>
                </p:nvGrpSpPr>
                <p:grpSpPr>
                  <a:xfrm>
                    <a:off x="10349686" y="908400"/>
                    <a:ext cx="587465" cy="96312"/>
                    <a:chOff x="2324934" y="1510774"/>
                    <a:chExt cx="587465" cy="96312"/>
                  </a:xfrm>
                </p:grpSpPr>
                <p:cxnSp>
                  <p:nvCxnSpPr>
                    <p:cNvPr id="1813" name="Straight Connector 1812">
                      <a:extLst>
                        <a:ext uri="{FF2B5EF4-FFF2-40B4-BE49-F238E27FC236}">
                          <a16:creationId xmlns:a16="http://schemas.microsoft.com/office/drawing/2014/main" id="{6FFE5B91-F09F-03C5-1CF7-C9EA7338A40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324934" y="1510774"/>
                      <a:ext cx="58746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headEnd type="triangle"/>
                      <a:tailEnd type="non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14" name="Straight Connector 1813">
                      <a:extLst>
                        <a:ext uri="{FF2B5EF4-FFF2-40B4-BE49-F238E27FC236}">
                          <a16:creationId xmlns:a16="http://schemas.microsoft.com/office/drawing/2014/main" id="{49741E22-78B3-DB28-698C-58A22EE2052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324934" y="1607086"/>
                      <a:ext cx="58746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810" name="TextBox 1809">
                    <a:extLst>
                      <a:ext uri="{FF2B5EF4-FFF2-40B4-BE49-F238E27FC236}">
                        <a16:creationId xmlns:a16="http://schemas.microsoft.com/office/drawing/2014/main" id="{FAD644A7-89C8-AE50-A879-5D3F0BDAC9EC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7954913" y="807520"/>
                    <a:ext cx="833557" cy="215444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800" dirty="0" err="1"/>
                      <a:t>d_gpu_lanes</a:t>
                    </a:r>
                    <a:r>
                      <a:rPr lang="en-US" sz="800" dirty="0"/>
                      <a:t>[1]</a:t>
                    </a:r>
                  </a:p>
                </p:txBody>
              </p:sp>
              <p:sp>
                <p:nvSpPr>
                  <p:cNvPr id="1811" name="Rectangle 1810">
                    <a:extLst>
                      <a:ext uri="{FF2B5EF4-FFF2-40B4-BE49-F238E27FC236}">
                        <a16:creationId xmlns:a16="http://schemas.microsoft.com/office/drawing/2014/main" id="{F8212C00-9742-12D0-11FB-A765A275FEC5}"/>
                      </a:ext>
                    </a:extLst>
                  </p:cNvPr>
                  <p:cNvSpPr/>
                  <p:nvPr/>
                </p:nvSpPr>
                <p:spPr>
                  <a:xfrm>
                    <a:off x="6209812" y="543370"/>
                    <a:ext cx="4253189" cy="1123484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12" name="TextBox 1811">
                    <a:extLst>
                      <a:ext uri="{FF2B5EF4-FFF2-40B4-BE49-F238E27FC236}">
                        <a16:creationId xmlns:a16="http://schemas.microsoft.com/office/drawing/2014/main" id="{785B3A6C-094C-B98B-1944-4E455C804887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9052256" y="870380"/>
                    <a:ext cx="833557" cy="215444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800" dirty="0" err="1"/>
                      <a:t>d_eth_lanes</a:t>
                    </a:r>
                    <a:r>
                      <a:rPr lang="en-US" sz="800" dirty="0"/>
                      <a:t>[1]</a:t>
                    </a:r>
                  </a:p>
                </p:txBody>
              </p:sp>
            </p:grpSp>
            <p:sp>
              <p:nvSpPr>
                <p:cNvPr id="1800" name="TextBox 1799">
                  <a:extLst>
                    <a:ext uri="{FF2B5EF4-FFF2-40B4-BE49-F238E27FC236}">
                      <a16:creationId xmlns:a16="http://schemas.microsoft.com/office/drawing/2014/main" id="{6C9A4671-4E22-9CA6-786F-E2789AFAE42C}"/>
                    </a:ext>
                  </a:extLst>
                </p:cNvPr>
                <p:cNvSpPr txBox="1"/>
                <p:nvPr/>
              </p:nvSpPr>
              <p:spPr>
                <a:xfrm rot="16200000">
                  <a:off x="5558127" y="1289833"/>
                  <a:ext cx="833557" cy="21544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800" dirty="0" err="1"/>
                    <a:t>d_ib_cables</a:t>
                  </a:r>
                  <a:r>
                    <a:rPr lang="en-US" sz="800" dirty="0"/>
                    <a:t>[1]</a:t>
                  </a:r>
                </a:p>
              </p:txBody>
            </p:sp>
          </p:grpSp>
          <p:sp>
            <p:nvSpPr>
              <p:cNvPr id="1097" name="TextBox 1096">
                <a:extLst>
                  <a:ext uri="{FF2B5EF4-FFF2-40B4-BE49-F238E27FC236}">
                    <a16:creationId xmlns:a16="http://schemas.microsoft.com/office/drawing/2014/main" id="{3FC8418F-0CB6-A104-133E-6DB549CDFF8C}"/>
                  </a:ext>
                </a:extLst>
              </p:cNvPr>
              <p:cNvSpPr txBox="1"/>
              <p:nvPr/>
            </p:nvSpPr>
            <p:spPr>
              <a:xfrm rot="16200000">
                <a:off x="10203885" y="3899508"/>
                <a:ext cx="953726" cy="2154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 err="1"/>
                  <a:t>d_eth_cables</a:t>
                </a:r>
                <a:r>
                  <a:rPr lang="en-US" sz="800" dirty="0"/>
                  <a:t>[1]</a:t>
                </a:r>
              </a:p>
            </p:txBody>
          </p:sp>
        </p:grpSp>
        <p:sp>
          <p:nvSpPr>
            <p:cNvPr id="1104" name="TextBox 1103">
              <a:extLst>
                <a:ext uri="{FF2B5EF4-FFF2-40B4-BE49-F238E27FC236}">
                  <a16:creationId xmlns:a16="http://schemas.microsoft.com/office/drawing/2014/main" id="{B5113E64-2FD6-20D4-1C0B-74516572D7A0}"/>
                </a:ext>
              </a:extLst>
            </p:cNvPr>
            <p:cNvSpPr txBox="1"/>
            <p:nvPr/>
          </p:nvSpPr>
          <p:spPr>
            <a:xfrm rot="16200000">
              <a:off x="6927884" y="4203283"/>
              <a:ext cx="763270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 err="1"/>
                <a:t>d_ib_lanes</a:t>
              </a:r>
              <a:r>
                <a:rPr lang="en-US" sz="800" dirty="0"/>
                <a:t>[1]</a:t>
              </a:r>
            </a:p>
          </p:txBody>
        </p:sp>
      </p:grpSp>
      <p:grpSp>
        <p:nvGrpSpPr>
          <p:cNvPr id="1108" name="Group 1107">
            <a:extLst>
              <a:ext uri="{FF2B5EF4-FFF2-40B4-BE49-F238E27FC236}">
                <a16:creationId xmlns:a16="http://schemas.microsoft.com/office/drawing/2014/main" id="{E2E06EEF-4FE3-E08E-FF46-B5678BB26047}"/>
              </a:ext>
            </a:extLst>
          </p:cNvPr>
          <p:cNvGrpSpPr/>
          <p:nvPr/>
        </p:nvGrpSpPr>
        <p:grpSpPr>
          <a:xfrm>
            <a:off x="5694194" y="2003000"/>
            <a:ext cx="5242957" cy="1337224"/>
            <a:chOff x="5694194" y="2003000"/>
            <a:chExt cx="5242957" cy="1337224"/>
          </a:xfrm>
        </p:grpSpPr>
        <p:grpSp>
          <p:nvGrpSpPr>
            <p:cNvPr id="1100" name="Group 1099">
              <a:extLst>
                <a:ext uri="{FF2B5EF4-FFF2-40B4-BE49-F238E27FC236}">
                  <a16:creationId xmlns:a16="http://schemas.microsoft.com/office/drawing/2014/main" id="{6B441B24-820C-1EAA-3DC7-B546915CED1D}"/>
                </a:ext>
              </a:extLst>
            </p:cNvPr>
            <p:cNvGrpSpPr/>
            <p:nvPr/>
          </p:nvGrpSpPr>
          <p:grpSpPr>
            <a:xfrm>
              <a:off x="5694194" y="2003000"/>
              <a:ext cx="5242957" cy="1337224"/>
              <a:chOff x="5694194" y="2003000"/>
              <a:chExt cx="5242957" cy="1337224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93DEBD76-826A-F9EE-E1C3-2FF3B35CB74C}"/>
                  </a:ext>
                </a:extLst>
              </p:cNvPr>
              <p:cNvGrpSpPr/>
              <p:nvPr/>
            </p:nvGrpSpPr>
            <p:grpSpPr>
              <a:xfrm>
                <a:off x="5694194" y="2024354"/>
                <a:ext cx="5242957" cy="1315870"/>
                <a:chOff x="5694194" y="498463"/>
                <a:chExt cx="5242957" cy="1315870"/>
              </a:xfrm>
            </p:grpSpPr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16C50720-A5D7-E7A4-7E03-30FD5FD4124B}"/>
                    </a:ext>
                  </a:extLst>
                </p:cNvPr>
                <p:cNvGrpSpPr/>
                <p:nvPr/>
              </p:nvGrpSpPr>
              <p:grpSpPr>
                <a:xfrm>
                  <a:off x="5694194" y="1346309"/>
                  <a:ext cx="587465" cy="96312"/>
                  <a:chOff x="2324934" y="1510774"/>
                  <a:chExt cx="587465" cy="96312"/>
                </a:xfrm>
              </p:grpSpPr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6EFDDE2C-3A40-0635-97FD-DF18E68D427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324934" y="1510774"/>
                    <a:ext cx="587465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headEnd type="triangle"/>
                    <a:tailEnd type="non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57E1F08A-DC00-CD0C-155C-D63664A78FB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324934" y="1607086"/>
                    <a:ext cx="587465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88B921DD-E7C3-D9E3-147B-A51288D1F0AE}"/>
                    </a:ext>
                  </a:extLst>
                </p:cNvPr>
                <p:cNvGrpSpPr/>
                <p:nvPr/>
              </p:nvGrpSpPr>
              <p:grpSpPr>
                <a:xfrm>
                  <a:off x="6205098" y="498463"/>
                  <a:ext cx="4732053" cy="1168391"/>
                  <a:chOff x="6205098" y="498463"/>
                  <a:chExt cx="4732053" cy="1168391"/>
                </a:xfrm>
              </p:grpSpPr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5BED9F8C-2545-9544-1274-5A72EB755886}"/>
                      </a:ext>
                    </a:extLst>
                  </p:cNvPr>
                  <p:cNvSpPr txBox="1"/>
                  <p:nvPr/>
                </p:nvSpPr>
                <p:spPr>
                  <a:xfrm>
                    <a:off x="7535418" y="500979"/>
                    <a:ext cx="601448" cy="25391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1050" b="1" dirty="0">
                        <a:solidFill>
                          <a:srgbClr val="0070C0"/>
                        </a:solidFill>
                      </a:rPr>
                      <a:t>Decode</a:t>
                    </a:r>
                  </a:p>
                </p:txBody>
              </p:sp>
              <p:grpSp>
                <p:nvGrpSpPr>
                  <p:cNvPr id="17" name="Group 16">
                    <a:extLst>
                      <a:ext uri="{FF2B5EF4-FFF2-40B4-BE49-F238E27FC236}">
                        <a16:creationId xmlns:a16="http://schemas.microsoft.com/office/drawing/2014/main" id="{AB051D30-1932-0E98-F904-6A35A7A624A7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7635912" y="792402"/>
                    <a:ext cx="411851" cy="351150"/>
                    <a:chOff x="3251348" y="1795096"/>
                    <a:chExt cx="3827633" cy="3263516"/>
                  </a:xfrm>
                </p:grpSpPr>
                <p:sp>
                  <p:nvSpPr>
                    <p:cNvPr id="38" name="Rectangle 37">
                      <a:extLst>
                        <a:ext uri="{FF2B5EF4-FFF2-40B4-BE49-F238E27FC236}">
                          <a16:creationId xmlns:a16="http://schemas.microsoft.com/office/drawing/2014/main" id="{9163F090-F803-CFBF-8F3C-53889B3A39E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51348" y="1795096"/>
                      <a:ext cx="3824019" cy="325990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grpSp>
                  <p:nvGrpSpPr>
                    <p:cNvPr id="39" name="Group 38">
                      <a:extLst>
                        <a:ext uri="{FF2B5EF4-FFF2-40B4-BE49-F238E27FC236}">
                          <a16:creationId xmlns:a16="http://schemas.microsoft.com/office/drawing/2014/main" id="{05F106F8-49DC-690A-B1E6-A1B2BB085AE0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>
                    <a:xfrm>
                      <a:off x="3251348" y="1795096"/>
                      <a:ext cx="3827633" cy="3263516"/>
                      <a:chOff x="3251348" y="1795096"/>
                      <a:chExt cx="3827633" cy="3263516"/>
                    </a:xfrm>
                  </p:grpSpPr>
                  <p:sp>
                    <p:nvSpPr>
                      <p:cNvPr id="40" name="Freeform: Shape 39">
                        <a:extLst>
                          <a:ext uri="{FF2B5EF4-FFF2-40B4-BE49-F238E27FC236}">
                            <a16:creationId xmlns:a16="http://schemas.microsoft.com/office/drawing/2014/main" id="{3071B6E5-0061-4B09-626A-9E13842CD30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855720" y="2377440"/>
                        <a:ext cx="2606040" cy="2072640"/>
                      </a:xfrm>
                      <a:custGeom>
                        <a:avLst/>
                        <a:gdLst>
                          <a:gd name="csX0" fmla="*/ 387364 w 2606040"/>
                          <a:gd name="csY0" fmla="*/ 152400 h 2072640"/>
                          <a:gd name="csX1" fmla="*/ 152400 w 2606040"/>
                          <a:gd name="csY1" fmla="*/ 387364 h 2072640"/>
                          <a:gd name="csX2" fmla="*/ 152400 w 2606040"/>
                          <a:gd name="csY2" fmla="*/ 1692896 h 2072640"/>
                          <a:gd name="csX3" fmla="*/ 387364 w 2606040"/>
                          <a:gd name="csY3" fmla="*/ 1927860 h 2072640"/>
                          <a:gd name="csX4" fmla="*/ 2218676 w 2606040"/>
                          <a:gd name="csY4" fmla="*/ 1927860 h 2072640"/>
                          <a:gd name="csX5" fmla="*/ 2453640 w 2606040"/>
                          <a:gd name="csY5" fmla="*/ 1692896 h 2072640"/>
                          <a:gd name="csX6" fmla="*/ 2453640 w 2606040"/>
                          <a:gd name="csY6" fmla="*/ 387364 h 2072640"/>
                          <a:gd name="csX7" fmla="*/ 2218676 w 2606040"/>
                          <a:gd name="csY7" fmla="*/ 152400 h 2072640"/>
                          <a:gd name="csX8" fmla="*/ 345447 w 2606040"/>
                          <a:gd name="csY8" fmla="*/ 0 h 2072640"/>
                          <a:gd name="csX9" fmla="*/ 2260593 w 2606040"/>
                          <a:gd name="csY9" fmla="*/ 0 h 2072640"/>
                          <a:gd name="csX10" fmla="*/ 2606040 w 2606040"/>
                          <a:gd name="csY10" fmla="*/ 345447 h 2072640"/>
                          <a:gd name="csX11" fmla="*/ 2606040 w 2606040"/>
                          <a:gd name="csY11" fmla="*/ 1727193 h 2072640"/>
                          <a:gd name="csX12" fmla="*/ 2260593 w 2606040"/>
                          <a:gd name="csY12" fmla="*/ 2072640 h 2072640"/>
                          <a:gd name="csX13" fmla="*/ 345447 w 2606040"/>
                          <a:gd name="csY13" fmla="*/ 2072640 h 2072640"/>
                          <a:gd name="csX14" fmla="*/ 0 w 2606040"/>
                          <a:gd name="csY14" fmla="*/ 1727193 h 2072640"/>
                          <a:gd name="csX15" fmla="*/ 0 w 2606040"/>
                          <a:gd name="csY15" fmla="*/ 345447 h 2072640"/>
                          <a:gd name="csX16" fmla="*/ 345447 w 2606040"/>
                          <a:gd name="csY16" fmla="*/ 0 h 2072640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  <a:cxn ang="0">
                            <a:pos x="csX5" y="csY5"/>
                          </a:cxn>
                          <a:cxn ang="0">
                            <a:pos x="csX6" y="csY6"/>
                          </a:cxn>
                          <a:cxn ang="0">
                            <a:pos x="csX7" y="csY7"/>
                          </a:cxn>
                          <a:cxn ang="0">
                            <a:pos x="csX8" y="csY8"/>
                          </a:cxn>
                          <a:cxn ang="0">
                            <a:pos x="csX9" y="csY9"/>
                          </a:cxn>
                          <a:cxn ang="0">
                            <a:pos x="csX10" y="csY10"/>
                          </a:cxn>
                          <a:cxn ang="0">
                            <a:pos x="csX11" y="csY11"/>
                          </a:cxn>
                          <a:cxn ang="0">
                            <a:pos x="csX12" y="csY12"/>
                          </a:cxn>
                          <a:cxn ang="0">
                            <a:pos x="csX13" y="csY13"/>
                          </a:cxn>
                          <a:cxn ang="0">
                            <a:pos x="csX14" y="csY14"/>
                          </a:cxn>
                          <a:cxn ang="0">
                            <a:pos x="csX15" y="csY15"/>
                          </a:cxn>
                          <a:cxn ang="0">
                            <a:pos x="csX16" y="csY16"/>
                          </a:cxn>
                        </a:cxnLst>
                        <a:rect l="l" t="t" r="r" b="b"/>
                        <a:pathLst>
                          <a:path w="2606040" h="2072640">
                            <a:moveTo>
                              <a:pt x="387364" y="152400"/>
                            </a:moveTo>
                            <a:cubicBezTo>
                              <a:pt x="257597" y="152400"/>
                              <a:pt x="152400" y="257597"/>
                              <a:pt x="152400" y="387364"/>
                            </a:cubicBezTo>
                            <a:lnTo>
                              <a:pt x="152400" y="1692896"/>
                            </a:lnTo>
                            <a:cubicBezTo>
                              <a:pt x="152400" y="1822663"/>
                              <a:pt x="257597" y="1927860"/>
                              <a:pt x="387364" y="1927860"/>
                            </a:cubicBezTo>
                            <a:lnTo>
                              <a:pt x="2218676" y="1927860"/>
                            </a:lnTo>
                            <a:cubicBezTo>
                              <a:pt x="2348443" y="1927860"/>
                              <a:pt x="2453640" y="1822663"/>
                              <a:pt x="2453640" y="1692896"/>
                            </a:cubicBezTo>
                            <a:lnTo>
                              <a:pt x="2453640" y="387364"/>
                            </a:lnTo>
                            <a:cubicBezTo>
                              <a:pt x="2453640" y="257597"/>
                              <a:pt x="2348443" y="152400"/>
                              <a:pt x="2218676" y="152400"/>
                            </a:cubicBezTo>
                            <a:close/>
                            <a:moveTo>
                              <a:pt x="345447" y="0"/>
                            </a:moveTo>
                            <a:lnTo>
                              <a:pt x="2260593" y="0"/>
                            </a:lnTo>
                            <a:cubicBezTo>
                              <a:pt x="2451378" y="0"/>
                              <a:pt x="2606040" y="154662"/>
                              <a:pt x="2606040" y="345447"/>
                            </a:cubicBezTo>
                            <a:lnTo>
                              <a:pt x="2606040" y="1727193"/>
                            </a:lnTo>
                            <a:cubicBezTo>
                              <a:pt x="2606040" y="1917978"/>
                              <a:pt x="2451378" y="2072640"/>
                              <a:pt x="2260593" y="2072640"/>
                            </a:cubicBezTo>
                            <a:lnTo>
                              <a:pt x="345447" y="2072640"/>
                            </a:lnTo>
                            <a:cubicBezTo>
                              <a:pt x="154662" y="2072640"/>
                              <a:pt x="0" y="1917978"/>
                              <a:pt x="0" y="1727193"/>
                            </a:cubicBezTo>
                            <a:lnTo>
                              <a:pt x="0" y="345447"/>
                            </a:lnTo>
                            <a:cubicBezTo>
                              <a:pt x="0" y="154662"/>
                              <a:pt x="154662" y="0"/>
                              <a:pt x="345447" y="0"/>
                            </a:cubicBezTo>
                            <a:close/>
                          </a:path>
                        </a:pathLst>
                      </a:custGeom>
                      <a:solidFill>
                        <a:srgbClr val="0070C0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wrap="square" rtlCol="0" anchor="ctr">
                        <a:noAutofit/>
                      </a:bodyPr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41" name="Freeform: Shape 40">
                        <a:extLst>
                          <a:ext uri="{FF2B5EF4-FFF2-40B4-BE49-F238E27FC236}">
                            <a16:creationId xmlns:a16="http://schemas.microsoft.com/office/drawing/2014/main" id="{32A3B4EB-F23E-B864-ACAA-5C08EB09562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32427" y="3116580"/>
                        <a:ext cx="1652626" cy="629848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176486" h="448382">
                            <a:moveTo>
                              <a:pt x="548990" y="75344"/>
                            </a:moveTo>
                            <a:lnTo>
                              <a:pt x="548990" y="222349"/>
                            </a:lnTo>
                            <a:lnTo>
                              <a:pt x="588503" y="222349"/>
                            </a:lnTo>
                            <a:cubicBezTo>
                              <a:pt x="602568" y="222349"/>
                              <a:pt x="614344" y="220452"/>
                              <a:pt x="623831" y="216657"/>
                            </a:cubicBezTo>
                            <a:cubicBezTo>
                              <a:pt x="633319" y="212861"/>
                              <a:pt x="641077" y="207559"/>
                              <a:pt x="647104" y="200750"/>
                            </a:cubicBezTo>
                            <a:cubicBezTo>
                              <a:pt x="653132" y="193942"/>
                              <a:pt x="657708" y="185793"/>
                              <a:pt x="660834" y="176305"/>
                            </a:cubicBezTo>
                            <a:cubicBezTo>
                              <a:pt x="663959" y="166818"/>
                              <a:pt x="665522" y="156493"/>
                              <a:pt x="665522" y="145331"/>
                            </a:cubicBezTo>
                            <a:cubicBezTo>
                              <a:pt x="665522" y="130150"/>
                              <a:pt x="662843" y="117649"/>
                              <a:pt x="657485" y="107826"/>
                            </a:cubicBezTo>
                            <a:cubicBezTo>
                              <a:pt x="652127" y="98003"/>
                              <a:pt x="645542" y="90748"/>
                              <a:pt x="637728" y="86060"/>
                            </a:cubicBezTo>
                            <a:cubicBezTo>
                              <a:pt x="629915" y="81372"/>
                              <a:pt x="621711" y="78414"/>
                              <a:pt x="613116" y="77186"/>
                            </a:cubicBezTo>
                            <a:cubicBezTo>
                              <a:pt x="604521" y="75958"/>
                              <a:pt x="595647" y="75344"/>
                              <a:pt x="586494" y="75344"/>
                            </a:cubicBezTo>
                            <a:close/>
                            <a:moveTo>
                              <a:pt x="490723" y="7367"/>
                            </a:moveTo>
                            <a:lnTo>
                              <a:pt x="592857" y="7367"/>
                            </a:lnTo>
                            <a:cubicBezTo>
                              <a:pt x="603126" y="7367"/>
                              <a:pt x="612893" y="7758"/>
                              <a:pt x="622157" y="8539"/>
                            </a:cubicBezTo>
                            <a:cubicBezTo>
                              <a:pt x="631422" y="9320"/>
                              <a:pt x="642528" y="10995"/>
                              <a:pt x="655476" y="13562"/>
                            </a:cubicBezTo>
                            <a:cubicBezTo>
                              <a:pt x="668424" y="16129"/>
                              <a:pt x="681540" y="20873"/>
                              <a:pt x="694822" y="27794"/>
                            </a:cubicBezTo>
                            <a:cubicBezTo>
                              <a:pt x="708105" y="34714"/>
                              <a:pt x="719435" y="43476"/>
                              <a:pt x="728811" y="54080"/>
                            </a:cubicBezTo>
                            <a:cubicBezTo>
                              <a:pt x="738187" y="64684"/>
                              <a:pt x="745331" y="77074"/>
                              <a:pt x="750242" y="91250"/>
                            </a:cubicBezTo>
                            <a:cubicBezTo>
                              <a:pt x="755154" y="105426"/>
                              <a:pt x="757609" y="121332"/>
                              <a:pt x="757609" y="138968"/>
                            </a:cubicBezTo>
                            <a:cubicBezTo>
                              <a:pt x="757609" y="163302"/>
                              <a:pt x="753814" y="184844"/>
                              <a:pt x="746224" y="203597"/>
                            </a:cubicBezTo>
                            <a:cubicBezTo>
                              <a:pt x="738634" y="222349"/>
                              <a:pt x="727583" y="238144"/>
                              <a:pt x="713072" y="250980"/>
                            </a:cubicBezTo>
                            <a:cubicBezTo>
                              <a:pt x="698562" y="263816"/>
                              <a:pt x="680758" y="273583"/>
                              <a:pt x="659662" y="280281"/>
                            </a:cubicBezTo>
                            <a:cubicBezTo>
                              <a:pt x="638565" y="286978"/>
                              <a:pt x="613730" y="290326"/>
                              <a:pt x="585155" y="290326"/>
                            </a:cubicBezTo>
                            <a:lnTo>
                              <a:pt x="548990" y="290326"/>
                            </a:lnTo>
                            <a:lnTo>
                              <a:pt x="548990" y="428625"/>
                            </a:lnTo>
                            <a:cubicBezTo>
                              <a:pt x="548990" y="430857"/>
                              <a:pt x="548264" y="432867"/>
                              <a:pt x="546813" y="434653"/>
                            </a:cubicBezTo>
                            <a:cubicBezTo>
                              <a:pt x="545362" y="436439"/>
                              <a:pt x="542962" y="437890"/>
                              <a:pt x="539613" y="439006"/>
                            </a:cubicBezTo>
                            <a:cubicBezTo>
                              <a:pt x="536265" y="440122"/>
                              <a:pt x="531800" y="441015"/>
                              <a:pt x="526219" y="441685"/>
                            </a:cubicBezTo>
                            <a:cubicBezTo>
                              <a:pt x="520638" y="442354"/>
                              <a:pt x="513494" y="442689"/>
                              <a:pt x="504788" y="442689"/>
                            </a:cubicBezTo>
                            <a:cubicBezTo>
                              <a:pt x="496304" y="442689"/>
                              <a:pt x="489216" y="442354"/>
                              <a:pt x="483524" y="441685"/>
                            </a:cubicBezTo>
                            <a:cubicBezTo>
                              <a:pt x="477831" y="441015"/>
                              <a:pt x="473310" y="440122"/>
                              <a:pt x="469962" y="439006"/>
                            </a:cubicBezTo>
                            <a:cubicBezTo>
                              <a:pt x="466613" y="437890"/>
                              <a:pt x="464269" y="436439"/>
                              <a:pt x="462930" y="434653"/>
                            </a:cubicBezTo>
                            <a:cubicBezTo>
                              <a:pt x="461590" y="432867"/>
                              <a:pt x="460920" y="430857"/>
                              <a:pt x="460920" y="428625"/>
                            </a:cubicBezTo>
                            <a:lnTo>
                              <a:pt x="460920" y="38844"/>
                            </a:lnTo>
                            <a:cubicBezTo>
                              <a:pt x="460920" y="28352"/>
                              <a:pt x="463655" y="20482"/>
                              <a:pt x="469125" y="15236"/>
                            </a:cubicBezTo>
                            <a:cubicBezTo>
                              <a:pt x="474594" y="9990"/>
                              <a:pt x="481794" y="7367"/>
                              <a:pt x="490723" y="7367"/>
                            </a:cubicBezTo>
                            <a:close/>
                            <a:moveTo>
                              <a:pt x="866738" y="5358"/>
                            </a:moveTo>
                            <a:cubicBezTo>
                              <a:pt x="875221" y="5358"/>
                              <a:pt x="882253" y="5693"/>
                              <a:pt x="887834" y="6362"/>
                            </a:cubicBezTo>
                            <a:cubicBezTo>
                              <a:pt x="893415" y="7032"/>
                              <a:pt x="897880" y="7925"/>
                              <a:pt x="901228" y="9041"/>
                            </a:cubicBezTo>
                            <a:cubicBezTo>
                              <a:pt x="904577" y="10158"/>
                              <a:pt x="906977" y="11609"/>
                              <a:pt x="908428" y="13394"/>
                            </a:cubicBezTo>
                            <a:cubicBezTo>
                              <a:pt x="909879" y="15180"/>
                              <a:pt x="910605" y="17190"/>
                              <a:pt x="910605" y="19422"/>
                            </a:cubicBezTo>
                            <a:lnTo>
                              <a:pt x="910605" y="275258"/>
                            </a:lnTo>
                            <a:cubicBezTo>
                              <a:pt x="910605" y="292447"/>
                              <a:pt x="912725" y="307349"/>
                              <a:pt x="916967" y="319962"/>
                            </a:cubicBezTo>
                            <a:cubicBezTo>
                              <a:pt x="921209" y="332575"/>
                              <a:pt x="927292" y="343012"/>
                              <a:pt x="935217" y="351272"/>
                            </a:cubicBezTo>
                            <a:cubicBezTo>
                              <a:pt x="943142" y="359532"/>
                              <a:pt x="952630" y="365727"/>
                              <a:pt x="963680" y="369857"/>
                            </a:cubicBezTo>
                            <a:cubicBezTo>
                              <a:pt x="974731" y="373987"/>
                              <a:pt x="987065" y="376052"/>
                              <a:pt x="1000683" y="376052"/>
                            </a:cubicBezTo>
                            <a:cubicBezTo>
                              <a:pt x="1014524" y="376052"/>
                              <a:pt x="1026914" y="373931"/>
                              <a:pt x="1037853" y="369689"/>
                            </a:cubicBezTo>
                            <a:cubicBezTo>
                              <a:pt x="1048791" y="365447"/>
                              <a:pt x="1058056" y="359252"/>
                              <a:pt x="1065646" y="351104"/>
                            </a:cubicBezTo>
                            <a:cubicBezTo>
                              <a:pt x="1073237" y="342956"/>
                              <a:pt x="1079097" y="332910"/>
                              <a:pt x="1083227" y="320966"/>
                            </a:cubicBezTo>
                            <a:cubicBezTo>
                              <a:pt x="1087357" y="309023"/>
                              <a:pt x="1089422" y="295461"/>
                              <a:pt x="1089422" y="280281"/>
                            </a:cubicBezTo>
                            <a:lnTo>
                              <a:pt x="1089422" y="19422"/>
                            </a:lnTo>
                            <a:cubicBezTo>
                              <a:pt x="1089422" y="17190"/>
                              <a:pt x="1090091" y="15180"/>
                              <a:pt x="1091431" y="13394"/>
                            </a:cubicBezTo>
                            <a:cubicBezTo>
                              <a:pt x="1092770" y="11609"/>
                              <a:pt x="1095114" y="10158"/>
                              <a:pt x="1098463" y="9041"/>
                            </a:cubicBezTo>
                            <a:cubicBezTo>
                              <a:pt x="1101812" y="7925"/>
                              <a:pt x="1106332" y="7032"/>
                              <a:pt x="1112025" y="6362"/>
                            </a:cubicBezTo>
                            <a:cubicBezTo>
                              <a:pt x="1117718" y="5693"/>
                              <a:pt x="1124805" y="5358"/>
                              <a:pt x="1133289" y="5358"/>
                            </a:cubicBezTo>
                            <a:cubicBezTo>
                              <a:pt x="1141772" y="5358"/>
                              <a:pt x="1148748" y="5693"/>
                              <a:pt x="1154218" y="6362"/>
                            </a:cubicBezTo>
                            <a:cubicBezTo>
                              <a:pt x="1159687" y="7032"/>
                              <a:pt x="1164096" y="7925"/>
                              <a:pt x="1167445" y="9041"/>
                            </a:cubicBezTo>
                            <a:cubicBezTo>
                              <a:pt x="1170793" y="10158"/>
                              <a:pt x="1173137" y="11609"/>
                              <a:pt x="1174477" y="13394"/>
                            </a:cubicBezTo>
                            <a:cubicBezTo>
                              <a:pt x="1175816" y="15180"/>
                              <a:pt x="1176486" y="17190"/>
                              <a:pt x="1176486" y="19422"/>
                            </a:cubicBezTo>
                            <a:lnTo>
                              <a:pt x="1176486" y="279276"/>
                            </a:lnTo>
                            <a:cubicBezTo>
                              <a:pt x="1176486" y="305842"/>
                              <a:pt x="1172579" y="329617"/>
                              <a:pt x="1164766" y="350602"/>
                            </a:cubicBezTo>
                            <a:cubicBezTo>
                              <a:pt x="1156952" y="371587"/>
                              <a:pt x="1145455" y="389334"/>
                              <a:pt x="1130275" y="403845"/>
                            </a:cubicBezTo>
                            <a:cubicBezTo>
                              <a:pt x="1115094" y="418356"/>
                              <a:pt x="1096342" y="429406"/>
                              <a:pt x="1074018" y="436997"/>
                            </a:cubicBezTo>
                            <a:cubicBezTo>
                              <a:pt x="1051694" y="444587"/>
                              <a:pt x="1026021" y="448382"/>
                              <a:pt x="996999" y="448382"/>
                            </a:cubicBezTo>
                            <a:cubicBezTo>
                              <a:pt x="969764" y="448382"/>
                              <a:pt x="945319" y="444978"/>
                              <a:pt x="923664" y="438169"/>
                            </a:cubicBezTo>
                            <a:cubicBezTo>
                              <a:pt x="902010" y="431360"/>
                              <a:pt x="883704" y="421035"/>
                              <a:pt x="868747" y="407194"/>
                            </a:cubicBezTo>
                            <a:cubicBezTo>
                              <a:pt x="853789" y="393353"/>
                              <a:pt x="842348" y="376107"/>
                              <a:pt x="834423" y="355457"/>
                            </a:cubicBezTo>
                            <a:cubicBezTo>
                              <a:pt x="826498" y="334807"/>
                              <a:pt x="822536" y="310642"/>
                              <a:pt x="822536" y="282959"/>
                            </a:cubicBezTo>
                            <a:lnTo>
                              <a:pt x="822536" y="19422"/>
                            </a:lnTo>
                            <a:cubicBezTo>
                              <a:pt x="822536" y="17190"/>
                              <a:pt x="823205" y="15180"/>
                              <a:pt x="824545" y="13394"/>
                            </a:cubicBezTo>
                            <a:cubicBezTo>
                              <a:pt x="825884" y="11609"/>
                              <a:pt x="828284" y="10158"/>
                              <a:pt x="831744" y="9041"/>
                            </a:cubicBezTo>
                            <a:cubicBezTo>
                              <a:pt x="835205" y="7925"/>
                              <a:pt x="839725" y="7032"/>
                              <a:pt x="845306" y="6362"/>
                            </a:cubicBezTo>
                            <a:cubicBezTo>
                              <a:pt x="850887" y="5693"/>
                              <a:pt x="858031" y="5358"/>
                              <a:pt x="866738" y="5358"/>
                            </a:cubicBezTo>
                            <a:close/>
                            <a:moveTo>
                              <a:pt x="225698" y="0"/>
                            </a:moveTo>
                            <a:cubicBezTo>
                              <a:pt x="244450" y="0"/>
                              <a:pt x="261528" y="1284"/>
                              <a:pt x="276932" y="3851"/>
                            </a:cubicBezTo>
                            <a:cubicBezTo>
                              <a:pt x="292335" y="6418"/>
                              <a:pt x="305786" y="9544"/>
                              <a:pt x="317283" y="13227"/>
                            </a:cubicBezTo>
                            <a:cubicBezTo>
                              <a:pt x="328780" y="16911"/>
                              <a:pt x="338323" y="20873"/>
                              <a:pt x="345914" y="25115"/>
                            </a:cubicBezTo>
                            <a:cubicBezTo>
                              <a:pt x="353504" y="29356"/>
                              <a:pt x="358806" y="33040"/>
                              <a:pt x="361820" y="36165"/>
                            </a:cubicBezTo>
                            <a:cubicBezTo>
                              <a:pt x="364833" y="39291"/>
                              <a:pt x="367010" y="43700"/>
                              <a:pt x="368349" y="49392"/>
                            </a:cubicBezTo>
                            <a:cubicBezTo>
                              <a:pt x="369689" y="55085"/>
                              <a:pt x="370359" y="63512"/>
                              <a:pt x="370359" y="74675"/>
                            </a:cubicBezTo>
                            <a:cubicBezTo>
                              <a:pt x="370359" y="81148"/>
                              <a:pt x="370080" y="86730"/>
                              <a:pt x="369521" y="91418"/>
                            </a:cubicBezTo>
                            <a:cubicBezTo>
                              <a:pt x="368963" y="96106"/>
                              <a:pt x="368182" y="99845"/>
                              <a:pt x="367177" y="102636"/>
                            </a:cubicBezTo>
                            <a:cubicBezTo>
                              <a:pt x="366173" y="105426"/>
                              <a:pt x="364945" y="107379"/>
                              <a:pt x="363494" y="108496"/>
                            </a:cubicBezTo>
                            <a:cubicBezTo>
                              <a:pt x="362043" y="109612"/>
                              <a:pt x="360313" y="110170"/>
                              <a:pt x="358304" y="110170"/>
                            </a:cubicBezTo>
                            <a:cubicBezTo>
                              <a:pt x="355401" y="110170"/>
                              <a:pt x="350713" y="108161"/>
                              <a:pt x="344239" y="104142"/>
                            </a:cubicBezTo>
                            <a:cubicBezTo>
                              <a:pt x="337765" y="100124"/>
                              <a:pt x="329170" y="95771"/>
                              <a:pt x="318455" y="91083"/>
                            </a:cubicBezTo>
                            <a:cubicBezTo>
                              <a:pt x="307739" y="86395"/>
                              <a:pt x="294959" y="82041"/>
                              <a:pt x="280113" y="78023"/>
                            </a:cubicBezTo>
                            <a:cubicBezTo>
                              <a:pt x="265267" y="74005"/>
                              <a:pt x="248022" y="71996"/>
                              <a:pt x="228377" y="71996"/>
                            </a:cubicBezTo>
                            <a:cubicBezTo>
                              <a:pt x="207392" y="71996"/>
                              <a:pt x="188416" y="75623"/>
                              <a:pt x="171450" y="82879"/>
                            </a:cubicBezTo>
                            <a:cubicBezTo>
                              <a:pt x="154483" y="90134"/>
                              <a:pt x="139973" y="100403"/>
                              <a:pt x="127918" y="113686"/>
                            </a:cubicBezTo>
                            <a:cubicBezTo>
                              <a:pt x="115862" y="126969"/>
                              <a:pt x="106598" y="142931"/>
                              <a:pt x="100124" y="161571"/>
                            </a:cubicBezTo>
                            <a:cubicBezTo>
                              <a:pt x="93650" y="180212"/>
                              <a:pt x="90413" y="200806"/>
                              <a:pt x="90413" y="223354"/>
                            </a:cubicBezTo>
                            <a:cubicBezTo>
                              <a:pt x="90413" y="248134"/>
                              <a:pt x="93706" y="269956"/>
                              <a:pt x="100291" y="288820"/>
                            </a:cubicBezTo>
                            <a:cubicBezTo>
                              <a:pt x="106877" y="307684"/>
                              <a:pt x="116086" y="323478"/>
                              <a:pt x="127918" y="336203"/>
                            </a:cubicBezTo>
                            <a:cubicBezTo>
                              <a:pt x="139749" y="348928"/>
                              <a:pt x="153981" y="358527"/>
                              <a:pt x="170613" y="365001"/>
                            </a:cubicBezTo>
                            <a:cubicBezTo>
                              <a:pt x="187244" y="371475"/>
                              <a:pt x="205606" y="374712"/>
                              <a:pt x="225698" y="374712"/>
                            </a:cubicBezTo>
                            <a:cubicBezTo>
                              <a:pt x="235520" y="374712"/>
                              <a:pt x="245231" y="373596"/>
                              <a:pt x="254831" y="371363"/>
                            </a:cubicBezTo>
                            <a:cubicBezTo>
                              <a:pt x="264430" y="369131"/>
                              <a:pt x="273360" y="365782"/>
                              <a:pt x="281620" y="361317"/>
                            </a:cubicBezTo>
                            <a:lnTo>
                              <a:pt x="281620" y="260858"/>
                            </a:lnTo>
                            <a:lnTo>
                              <a:pt x="199578" y="260858"/>
                            </a:lnTo>
                            <a:cubicBezTo>
                              <a:pt x="195560" y="260858"/>
                              <a:pt x="192435" y="258347"/>
                              <a:pt x="190202" y="253324"/>
                            </a:cubicBezTo>
                            <a:cubicBezTo>
                              <a:pt x="187970" y="248301"/>
                              <a:pt x="186853" y="239762"/>
                              <a:pt x="186853" y="227707"/>
                            </a:cubicBezTo>
                            <a:cubicBezTo>
                              <a:pt x="186853" y="221456"/>
                              <a:pt x="187133" y="216210"/>
                              <a:pt x="187691" y="211968"/>
                            </a:cubicBezTo>
                            <a:cubicBezTo>
                              <a:pt x="188249" y="207727"/>
                              <a:pt x="189086" y="204322"/>
                              <a:pt x="190202" y="201755"/>
                            </a:cubicBezTo>
                            <a:cubicBezTo>
                              <a:pt x="191318" y="199188"/>
                              <a:pt x="192658" y="197290"/>
                              <a:pt x="194220" y="196062"/>
                            </a:cubicBezTo>
                            <a:cubicBezTo>
                              <a:pt x="195783" y="194835"/>
                              <a:pt x="197569" y="194221"/>
                              <a:pt x="199578" y="194221"/>
                            </a:cubicBezTo>
                            <a:lnTo>
                              <a:pt x="345914" y="194221"/>
                            </a:lnTo>
                            <a:cubicBezTo>
                              <a:pt x="349485" y="194221"/>
                              <a:pt x="352667" y="194835"/>
                              <a:pt x="355457" y="196062"/>
                            </a:cubicBezTo>
                            <a:cubicBezTo>
                              <a:pt x="358248" y="197290"/>
                              <a:pt x="360703" y="199132"/>
                              <a:pt x="362824" y="201588"/>
                            </a:cubicBezTo>
                            <a:cubicBezTo>
                              <a:pt x="364945" y="204043"/>
                              <a:pt x="366563" y="207001"/>
                              <a:pt x="367680" y="210462"/>
                            </a:cubicBezTo>
                            <a:cubicBezTo>
                              <a:pt x="368796" y="213922"/>
                              <a:pt x="369354" y="217884"/>
                              <a:pt x="369354" y="222349"/>
                            </a:cubicBezTo>
                            <a:lnTo>
                              <a:pt x="369354" y="394804"/>
                            </a:lnTo>
                            <a:cubicBezTo>
                              <a:pt x="369354" y="401501"/>
                              <a:pt x="368182" y="407361"/>
                              <a:pt x="365838" y="412384"/>
                            </a:cubicBezTo>
                            <a:cubicBezTo>
                              <a:pt x="363494" y="417407"/>
                              <a:pt x="358694" y="421370"/>
                              <a:pt x="351439" y="424272"/>
                            </a:cubicBezTo>
                            <a:cubicBezTo>
                              <a:pt x="344183" y="427174"/>
                              <a:pt x="335198" y="430188"/>
                              <a:pt x="324482" y="433313"/>
                            </a:cubicBezTo>
                            <a:cubicBezTo>
                              <a:pt x="313767" y="436439"/>
                              <a:pt x="302660" y="439117"/>
                              <a:pt x="291163" y="441350"/>
                            </a:cubicBezTo>
                            <a:cubicBezTo>
                              <a:pt x="279666" y="443582"/>
                              <a:pt x="268058" y="445257"/>
                              <a:pt x="256338" y="446373"/>
                            </a:cubicBezTo>
                            <a:cubicBezTo>
                              <a:pt x="244617" y="447489"/>
                              <a:pt x="232841" y="448047"/>
                              <a:pt x="221010" y="448047"/>
                            </a:cubicBezTo>
                            <a:cubicBezTo>
                              <a:pt x="186407" y="448047"/>
                              <a:pt x="155432" y="443080"/>
                              <a:pt x="128085" y="433146"/>
                            </a:cubicBezTo>
                            <a:cubicBezTo>
                              <a:pt x="100738" y="423211"/>
                              <a:pt x="77576" y="408812"/>
                              <a:pt x="58601" y="389948"/>
                            </a:cubicBezTo>
                            <a:cubicBezTo>
                              <a:pt x="39625" y="371084"/>
                              <a:pt x="25115" y="348090"/>
                              <a:pt x="15069" y="320966"/>
                            </a:cubicBezTo>
                            <a:cubicBezTo>
                              <a:pt x="5023" y="293842"/>
                              <a:pt x="0" y="263091"/>
                              <a:pt x="0" y="228712"/>
                            </a:cubicBezTo>
                            <a:cubicBezTo>
                              <a:pt x="0" y="193216"/>
                              <a:pt x="5358" y="161348"/>
                              <a:pt x="16073" y="133108"/>
                            </a:cubicBezTo>
                            <a:cubicBezTo>
                              <a:pt x="26789" y="104868"/>
                              <a:pt x="41969" y="80869"/>
                              <a:pt x="61615" y="61113"/>
                            </a:cubicBezTo>
                            <a:cubicBezTo>
                              <a:pt x="81260" y="41356"/>
                              <a:pt x="104979" y="26231"/>
                              <a:pt x="132773" y="15739"/>
                            </a:cubicBezTo>
                            <a:cubicBezTo>
                              <a:pt x="160567" y="5246"/>
                              <a:pt x="191542" y="0"/>
                              <a:pt x="225698" y="0"/>
                            </a:cubicBezTo>
                            <a:close/>
                          </a:path>
                        </a:pathLst>
                      </a:custGeom>
                      <a:solidFill>
                        <a:srgbClr val="0070C0"/>
                      </a:solidFill>
                      <a:ln w="0">
                        <a:noFill/>
                      </a:ln>
                      <a:effectLst/>
                    </p:spPr>
                    <p:txBody>
      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algn="ctr"/>
                        <a:endParaRPr lang="en-US" sz="5400" b="1" dirty="0">
                          <a:ln w="0"/>
                        </a:endParaRPr>
                      </a:p>
                    </p:txBody>
                  </p:sp>
                  <p:sp>
                    <p:nvSpPr>
                      <p:cNvPr id="42" name="Rectangle: Rounded Corners 41">
                        <a:extLst>
                          <a:ext uri="{FF2B5EF4-FFF2-40B4-BE49-F238E27FC236}">
                            <a16:creationId xmlns:a16="http://schemas.microsoft.com/office/drawing/2014/main" id="{0B6E55DD-12C2-CF3D-4A92-03500960DD3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24350" y="1795096"/>
                        <a:ext cx="266700" cy="388229"/>
                      </a:xfrm>
                      <a:prstGeom prst="roundRect">
                        <a:avLst/>
                      </a:prstGeom>
                      <a:solidFill>
                        <a:srgbClr val="0070C0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43" name="Rectangle: Rounded Corners 42">
                        <a:extLst>
                          <a:ext uri="{FF2B5EF4-FFF2-40B4-BE49-F238E27FC236}">
                            <a16:creationId xmlns:a16="http://schemas.microsoft.com/office/drawing/2014/main" id="{98B8899F-FC9C-8384-0AB7-F574149531A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08220" y="1798711"/>
                        <a:ext cx="266700" cy="388229"/>
                      </a:xfrm>
                      <a:prstGeom prst="roundRect">
                        <a:avLst/>
                      </a:prstGeom>
                      <a:solidFill>
                        <a:srgbClr val="0070C0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44" name="Rectangle: Rounded Corners 43">
                        <a:extLst>
                          <a:ext uri="{FF2B5EF4-FFF2-40B4-BE49-F238E27FC236}">
                            <a16:creationId xmlns:a16="http://schemas.microsoft.com/office/drawing/2014/main" id="{D484E1D7-2171-E665-E8B6-3C51A40C64D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292090" y="1798710"/>
                        <a:ext cx="266700" cy="388229"/>
                      </a:xfrm>
                      <a:prstGeom prst="roundRect">
                        <a:avLst/>
                      </a:prstGeom>
                      <a:solidFill>
                        <a:srgbClr val="0070C0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45" name="Rectangle: Rounded Corners 44">
                        <a:extLst>
                          <a:ext uri="{FF2B5EF4-FFF2-40B4-BE49-F238E27FC236}">
                            <a16:creationId xmlns:a16="http://schemas.microsoft.com/office/drawing/2014/main" id="{049B69D1-D5C3-3E50-BF2E-FBF84E8C125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75960" y="1795096"/>
                        <a:ext cx="266700" cy="388229"/>
                      </a:xfrm>
                      <a:prstGeom prst="roundRect">
                        <a:avLst/>
                      </a:prstGeom>
                      <a:solidFill>
                        <a:srgbClr val="0070C0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46" name="Rectangle: Rounded Corners 45">
                        <a:extLst>
                          <a:ext uri="{FF2B5EF4-FFF2-40B4-BE49-F238E27FC236}">
                            <a16:creationId xmlns:a16="http://schemas.microsoft.com/office/drawing/2014/main" id="{0C0711FE-D230-6F80-95A6-889430B4A92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24350" y="4666768"/>
                        <a:ext cx="266700" cy="388229"/>
                      </a:xfrm>
                      <a:prstGeom prst="roundRect">
                        <a:avLst/>
                      </a:prstGeom>
                      <a:solidFill>
                        <a:srgbClr val="0070C0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47" name="Rectangle: Rounded Corners 46">
                        <a:extLst>
                          <a:ext uri="{FF2B5EF4-FFF2-40B4-BE49-F238E27FC236}">
                            <a16:creationId xmlns:a16="http://schemas.microsoft.com/office/drawing/2014/main" id="{F3489A49-9AA8-EA6B-1983-26B2D6AA9D2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08220" y="4670383"/>
                        <a:ext cx="266700" cy="388229"/>
                      </a:xfrm>
                      <a:prstGeom prst="roundRect">
                        <a:avLst/>
                      </a:prstGeom>
                      <a:solidFill>
                        <a:srgbClr val="0070C0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48" name="Rectangle: Rounded Corners 47">
                        <a:extLst>
                          <a:ext uri="{FF2B5EF4-FFF2-40B4-BE49-F238E27FC236}">
                            <a16:creationId xmlns:a16="http://schemas.microsoft.com/office/drawing/2014/main" id="{5166F095-D22A-89FB-1866-59501E9228F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292090" y="4670382"/>
                        <a:ext cx="266700" cy="388229"/>
                      </a:xfrm>
                      <a:prstGeom prst="roundRect">
                        <a:avLst/>
                      </a:prstGeom>
                      <a:solidFill>
                        <a:srgbClr val="0070C0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49" name="Rectangle: Rounded Corners 48">
                        <a:extLst>
                          <a:ext uri="{FF2B5EF4-FFF2-40B4-BE49-F238E27FC236}">
                            <a16:creationId xmlns:a16="http://schemas.microsoft.com/office/drawing/2014/main" id="{18C17AB3-D09A-47B0-2509-8CABCA97703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75960" y="4666768"/>
                        <a:ext cx="266700" cy="388229"/>
                      </a:xfrm>
                      <a:prstGeom prst="roundRect">
                        <a:avLst/>
                      </a:prstGeom>
                      <a:solidFill>
                        <a:srgbClr val="0070C0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grpSp>
                    <p:nvGrpSpPr>
                      <p:cNvPr id="50" name="Group 49">
                        <a:extLst>
                          <a:ext uri="{FF2B5EF4-FFF2-40B4-BE49-F238E27FC236}">
                            <a16:creationId xmlns:a16="http://schemas.microsoft.com/office/drawing/2014/main" id="{ABAAF2D7-2B61-8AE8-3117-B7C5A977BF9F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5400000">
                        <a:off x="2588115" y="3217838"/>
                        <a:ext cx="1718310" cy="391844"/>
                        <a:chOff x="4476750" y="1947496"/>
                        <a:chExt cx="1718310" cy="391844"/>
                      </a:xfrm>
                    </p:grpSpPr>
                    <p:sp>
                      <p:nvSpPr>
                        <p:cNvPr id="56" name="Rectangle: Rounded Corners 55">
                          <a:extLst>
                            <a:ext uri="{FF2B5EF4-FFF2-40B4-BE49-F238E27FC236}">
                              <a16:creationId xmlns:a16="http://schemas.microsoft.com/office/drawing/2014/main" id="{95722F62-7BA4-D3FF-21E7-57EFE8442C8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476750" y="1947496"/>
                          <a:ext cx="266700" cy="388229"/>
                        </a:xfrm>
                        <a:prstGeom prst="roundRect">
                          <a:avLst/>
                        </a:prstGeom>
                        <a:solidFill>
                          <a:srgbClr val="0070C0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57" name="Rectangle: Rounded Corners 56">
                          <a:extLst>
                            <a:ext uri="{FF2B5EF4-FFF2-40B4-BE49-F238E27FC236}">
                              <a16:creationId xmlns:a16="http://schemas.microsoft.com/office/drawing/2014/main" id="{49005D8A-A6D3-AB5F-90E0-379BBC72AAF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960620" y="1951111"/>
                          <a:ext cx="266700" cy="388229"/>
                        </a:xfrm>
                        <a:prstGeom prst="roundRect">
                          <a:avLst/>
                        </a:prstGeom>
                        <a:solidFill>
                          <a:srgbClr val="0070C0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58" name="Rectangle: Rounded Corners 57">
                          <a:extLst>
                            <a:ext uri="{FF2B5EF4-FFF2-40B4-BE49-F238E27FC236}">
                              <a16:creationId xmlns:a16="http://schemas.microsoft.com/office/drawing/2014/main" id="{0F7CE43F-4E44-06C0-A881-78938F8EE67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444490" y="1951110"/>
                          <a:ext cx="266700" cy="388229"/>
                        </a:xfrm>
                        <a:prstGeom prst="roundRect">
                          <a:avLst/>
                        </a:prstGeom>
                        <a:solidFill>
                          <a:srgbClr val="0070C0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59" name="Rectangle: Rounded Corners 58">
                          <a:extLst>
                            <a:ext uri="{FF2B5EF4-FFF2-40B4-BE49-F238E27FC236}">
                              <a16:creationId xmlns:a16="http://schemas.microsoft.com/office/drawing/2014/main" id="{6C49A363-267C-1E97-D544-E86A3BB4848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928360" y="1947496"/>
                          <a:ext cx="266700" cy="388229"/>
                        </a:xfrm>
                        <a:prstGeom prst="roundRect">
                          <a:avLst/>
                        </a:prstGeom>
                        <a:solidFill>
                          <a:srgbClr val="0070C0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51" name="Group 50">
                        <a:extLst>
                          <a:ext uri="{FF2B5EF4-FFF2-40B4-BE49-F238E27FC236}">
                            <a16:creationId xmlns:a16="http://schemas.microsoft.com/office/drawing/2014/main" id="{FDA19B43-A206-DF86-B43B-7BC12F97C2DA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5400000">
                        <a:off x="6023904" y="3217839"/>
                        <a:ext cx="1718310" cy="391844"/>
                        <a:chOff x="4476750" y="1947496"/>
                        <a:chExt cx="1718310" cy="391844"/>
                      </a:xfrm>
                    </p:grpSpPr>
                    <p:sp>
                      <p:nvSpPr>
                        <p:cNvPr id="52" name="Rectangle: Rounded Corners 51">
                          <a:extLst>
                            <a:ext uri="{FF2B5EF4-FFF2-40B4-BE49-F238E27FC236}">
                              <a16:creationId xmlns:a16="http://schemas.microsoft.com/office/drawing/2014/main" id="{D5D97C9A-28A6-61CF-B969-FD426B42442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476750" y="1947496"/>
                          <a:ext cx="266700" cy="388229"/>
                        </a:xfrm>
                        <a:prstGeom prst="roundRect">
                          <a:avLst/>
                        </a:prstGeom>
                        <a:solidFill>
                          <a:srgbClr val="0070C0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53" name="Rectangle: Rounded Corners 52">
                          <a:extLst>
                            <a:ext uri="{FF2B5EF4-FFF2-40B4-BE49-F238E27FC236}">
                              <a16:creationId xmlns:a16="http://schemas.microsoft.com/office/drawing/2014/main" id="{334839E2-4AB1-5245-D3FB-44B883137CF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960620" y="1951111"/>
                          <a:ext cx="266700" cy="388229"/>
                        </a:xfrm>
                        <a:prstGeom prst="roundRect">
                          <a:avLst/>
                        </a:prstGeom>
                        <a:solidFill>
                          <a:srgbClr val="0070C0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54" name="Rectangle: Rounded Corners 53">
                          <a:extLst>
                            <a:ext uri="{FF2B5EF4-FFF2-40B4-BE49-F238E27FC236}">
                              <a16:creationId xmlns:a16="http://schemas.microsoft.com/office/drawing/2014/main" id="{2B74A63F-01E5-CC2E-8A59-AA38E9CAA5C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444490" y="1951110"/>
                          <a:ext cx="266700" cy="388229"/>
                        </a:xfrm>
                        <a:prstGeom prst="roundRect">
                          <a:avLst/>
                        </a:prstGeom>
                        <a:solidFill>
                          <a:srgbClr val="0070C0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55" name="Rectangle: Rounded Corners 54">
                          <a:extLst>
                            <a:ext uri="{FF2B5EF4-FFF2-40B4-BE49-F238E27FC236}">
                              <a16:creationId xmlns:a16="http://schemas.microsoft.com/office/drawing/2014/main" id="{C956F983-FFF0-225A-68CF-46766A596D5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928360" y="1947496"/>
                          <a:ext cx="266700" cy="388229"/>
                        </a:xfrm>
                        <a:prstGeom prst="roundRect">
                          <a:avLst/>
                        </a:prstGeom>
                        <a:solidFill>
                          <a:srgbClr val="0070C0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8" name="Group 17">
                    <a:extLst>
                      <a:ext uri="{FF2B5EF4-FFF2-40B4-BE49-F238E27FC236}">
                        <a16:creationId xmlns:a16="http://schemas.microsoft.com/office/drawing/2014/main" id="{E73BD120-C13E-D01F-FDF6-00716A0CDB2A}"/>
                      </a:ext>
                    </a:extLst>
                  </p:cNvPr>
                  <p:cNvGrpSpPr/>
                  <p:nvPr/>
                </p:nvGrpSpPr>
                <p:grpSpPr>
                  <a:xfrm>
                    <a:off x="6205098" y="1041211"/>
                    <a:ext cx="894797" cy="572294"/>
                    <a:chOff x="3617019" y="3013602"/>
                    <a:chExt cx="894797" cy="572294"/>
                  </a:xfrm>
                </p:grpSpPr>
                <p:pic>
                  <p:nvPicPr>
                    <p:cNvPr id="36" name="Picture 35">
                      <a:extLst>
                        <a:ext uri="{FF2B5EF4-FFF2-40B4-BE49-F238E27FC236}">
                          <a16:creationId xmlns:a16="http://schemas.microsoft.com/office/drawing/2014/main" id="{A3FFB2FB-F129-EAEB-B85C-28EC21D169C1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/>
                    <a:stretch>
                      <a:fillRect/>
                    </a:stretch>
                  </p:blipFill>
                  <p:spPr>
                    <a:xfrm>
                      <a:off x="3679291" y="3071002"/>
                      <a:ext cx="757950" cy="514894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37" name="TextBox 36">
                      <a:extLst>
                        <a:ext uri="{FF2B5EF4-FFF2-40B4-BE49-F238E27FC236}">
                          <a16:creationId xmlns:a16="http://schemas.microsoft.com/office/drawing/2014/main" id="{62057DD9-E7D6-60E2-F27D-49B1E31FD30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617019" y="3013602"/>
                      <a:ext cx="894797" cy="2308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900" dirty="0">
                          <a:solidFill>
                            <a:srgbClr val="00B050"/>
                          </a:solidFill>
                        </a:rPr>
                        <a:t>Infiniband NDR</a:t>
                      </a:r>
                    </a:p>
                  </p:txBody>
                </p:sp>
              </p:grpSp>
              <p:grpSp>
                <p:nvGrpSpPr>
                  <p:cNvPr id="19" name="Group 18">
                    <a:extLst>
                      <a:ext uri="{FF2B5EF4-FFF2-40B4-BE49-F238E27FC236}">
                        <a16:creationId xmlns:a16="http://schemas.microsoft.com/office/drawing/2014/main" id="{6E065CB5-6C70-0201-28EF-6CED2048156C}"/>
                      </a:ext>
                    </a:extLst>
                  </p:cNvPr>
                  <p:cNvGrpSpPr/>
                  <p:nvPr/>
                </p:nvGrpSpPr>
                <p:grpSpPr>
                  <a:xfrm>
                    <a:off x="7027727" y="1346309"/>
                    <a:ext cx="1617400" cy="96312"/>
                    <a:chOff x="2324934" y="1510774"/>
                    <a:chExt cx="587465" cy="96312"/>
                  </a:xfrm>
                </p:grpSpPr>
                <p:cxnSp>
                  <p:nvCxnSpPr>
                    <p:cNvPr id="34" name="Straight Connector 33">
                      <a:extLst>
                        <a:ext uri="{FF2B5EF4-FFF2-40B4-BE49-F238E27FC236}">
                          <a16:creationId xmlns:a16="http://schemas.microsoft.com/office/drawing/2014/main" id="{E63FC1B1-49F3-9475-7AB9-9079EB3C6F6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324934" y="1510774"/>
                      <a:ext cx="58746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headEnd type="triangle"/>
                      <a:tailEnd type="non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5" name="Straight Connector 34">
                      <a:extLst>
                        <a:ext uri="{FF2B5EF4-FFF2-40B4-BE49-F238E27FC236}">
                          <a16:creationId xmlns:a16="http://schemas.microsoft.com/office/drawing/2014/main" id="{39CA087C-D715-5555-FFF1-7DBAA370E3D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324934" y="1607086"/>
                      <a:ext cx="58746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0" name="Rectangle: Rounded Corners 19">
                    <a:extLst>
                      <a:ext uri="{FF2B5EF4-FFF2-40B4-BE49-F238E27FC236}">
                        <a16:creationId xmlns:a16="http://schemas.microsoft.com/office/drawing/2014/main" id="{CD2866C6-0137-4493-B59C-0E5A7B1075D8}"/>
                      </a:ext>
                    </a:extLst>
                  </p:cNvPr>
                  <p:cNvSpPr/>
                  <p:nvPr/>
                </p:nvSpPr>
                <p:spPr>
                  <a:xfrm rot="5400000" flipH="1">
                    <a:off x="8476552" y="885618"/>
                    <a:ext cx="833557" cy="480312"/>
                  </a:xfrm>
                  <a:prstGeom prst="roundRect">
                    <a:avLst/>
                  </a:prstGeom>
                  <a:solidFill>
                    <a:schemeClr val="accent2">
                      <a:lumMod val="20000"/>
                      <a:lumOff val="80000"/>
                      <a:alpha val="78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100" dirty="0">
                        <a:solidFill>
                          <a:srgbClr val="FF0000"/>
                        </a:solidFill>
                      </a:rPr>
                      <a:t>PLX</a:t>
                    </a:r>
                  </a:p>
                </p:txBody>
              </p:sp>
              <p:grpSp>
                <p:nvGrpSpPr>
                  <p:cNvPr id="21" name="Group 20">
                    <a:extLst>
                      <a:ext uri="{FF2B5EF4-FFF2-40B4-BE49-F238E27FC236}">
                        <a16:creationId xmlns:a16="http://schemas.microsoft.com/office/drawing/2014/main" id="{5EE7A9D1-A361-8889-10D5-0DC6CBCE1A76}"/>
                      </a:ext>
                    </a:extLst>
                  </p:cNvPr>
                  <p:cNvGrpSpPr/>
                  <p:nvPr/>
                </p:nvGrpSpPr>
                <p:grpSpPr>
                  <a:xfrm>
                    <a:off x="8056343" y="914750"/>
                    <a:ext cx="587465" cy="96312"/>
                    <a:chOff x="2324934" y="1510774"/>
                    <a:chExt cx="587465" cy="96312"/>
                  </a:xfrm>
                </p:grpSpPr>
                <p:cxnSp>
                  <p:nvCxnSpPr>
                    <p:cNvPr id="32" name="Straight Connector 31">
                      <a:extLst>
                        <a:ext uri="{FF2B5EF4-FFF2-40B4-BE49-F238E27FC236}">
                          <a16:creationId xmlns:a16="http://schemas.microsoft.com/office/drawing/2014/main" id="{88731D8E-9FBB-148A-3C11-864C63B9D92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324934" y="1510774"/>
                      <a:ext cx="58746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headEnd type="triangle"/>
                      <a:tailEnd type="non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3" name="Straight Connector 32">
                      <a:extLst>
                        <a:ext uri="{FF2B5EF4-FFF2-40B4-BE49-F238E27FC236}">
                          <a16:creationId xmlns:a16="http://schemas.microsoft.com/office/drawing/2014/main" id="{D4099B42-5660-8C5B-EC6E-EFBB5AE05E1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324934" y="1607086"/>
                      <a:ext cx="58746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pic>
                <p:nvPicPr>
                  <p:cNvPr id="22" name="Picture 21">
                    <a:extLst>
                      <a:ext uri="{FF2B5EF4-FFF2-40B4-BE49-F238E27FC236}">
                        <a16:creationId xmlns:a16="http://schemas.microsoft.com/office/drawing/2014/main" id="{5E2AEEE1-041D-0372-90B6-08784807852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9696452" y="668167"/>
                    <a:ext cx="649040" cy="519232"/>
                  </a:xfrm>
                  <a:prstGeom prst="rect">
                    <a:avLst/>
                  </a:prstGeom>
                </p:spPr>
              </p:pic>
              <p:grpSp>
                <p:nvGrpSpPr>
                  <p:cNvPr id="23" name="Group 22">
                    <a:extLst>
                      <a:ext uri="{FF2B5EF4-FFF2-40B4-BE49-F238E27FC236}">
                        <a16:creationId xmlns:a16="http://schemas.microsoft.com/office/drawing/2014/main" id="{B6397443-D90D-5179-A729-BBA9CE42F793}"/>
                      </a:ext>
                    </a:extLst>
                  </p:cNvPr>
                  <p:cNvGrpSpPr/>
                  <p:nvPr/>
                </p:nvGrpSpPr>
                <p:grpSpPr>
                  <a:xfrm>
                    <a:off x="9139794" y="908400"/>
                    <a:ext cx="587465" cy="96312"/>
                    <a:chOff x="2324934" y="1510774"/>
                    <a:chExt cx="587465" cy="96312"/>
                  </a:xfrm>
                </p:grpSpPr>
                <p:cxnSp>
                  <p:nvCxnSpPr>
                    <p:cNvPr id="30" name="Straight Connector 29">
                      <a:extLst>
                        <a:ext uri="{FF2B5EF4-FFF2-40B4-BE49-F238E27FC236}">
                          <a16:creationId xmlns:a16="http://schemas.microsoft.com/office/drawing/2014/main" id="{828ACB58-FC87-DBF3-3E1E-46C061D81DF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324934" y="1510774"/>
                      <a:ext cx="58746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headEnd type="triangle"/>
                      <a:tailEnd type="non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1" name="Straight Connector 30">
                      <a:extLst>
                        <a:ext uri="{FF2B5EF4-FFF2-40B4-BE49-F238E27FC236}">
                          <a16:creationId xmlns:a16="http://schemas.microsoft.com/office/drawing/2014/main" id="{C7131944-A8CF-48FE-8A10-17C39896C29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324934" y="1607086"/>
                      <a:ext cx="58746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4" name="Group 23">
                    <a:extLst>
                      <a:ext uri="{FF2B5EF4-FFF2-40B4-BE49-F238E27FC236}">
                        <a16:creationId xmlns:a16="http://schemas.microsoft.com/office/drawing/2014/main" id="{C23C2363-187F-DDC2-440A-B243717C7AA5}"/>
                      </a:ext>
                    </a:extLst>
                  </p:cNvPr>
                  <p:cNvGrpSpPr/>
                  <p:nvPr/>
                </p:nvGrpSpPr>
                <p:grpSpPr>
                  <a:xfrm>
                    <a:off x="10349686" y="908400"/>
                    <a:ext cx="587465" cy="96312"/>
                    <a:chOff x="2324934" y="1510774"/>
                    <a:chExt cx="587465" cy="96312"/>
                  </a:xfrm>
                </p:grpSpPr>
                <p:cxnSp>
                  <p:nvCxnSpPr>
                    <p:cNvPr id="28" name="Straight Connector 27">
                      <a:extLst>
                        <a:ext uri="{FF2B5EF4-FFF2-40B4-BE49-F238E27FC236}">
                          <a16:creationId xmlns:a16="http://schemas.microsoft.com/office/drawing/2014/main" id="{B6D81A74-30BB-5E2C-3BBC-10BB1C9B4DD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324934" y="1510774"/>
                      <a:ext cx="58746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headEnd type="triangle"/>
                      <a:tailEnd type="non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9" name="Straight Connector 28">
                      <a:extLst>
                        <a:ext uri="{FF2B5EF4-FFF2-40B4-BE49-F238E27FC236}">
                          <a16:creationId xmlns:a16="http://schemas.microsoft.com/office/drawing/2014/main" id="{A219A022-7E49-80CF-FEDF-189CD5A7C77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324934" y="1607086"/>
                      <a:ext cx="58746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EA29F5B7-9BC7-CECC-D57F-786A48F6E09D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7954913" y="807520"/>
                    <a:ext cx="833557" cy="215444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800" dirty="0" err="1"/>
                      <a:t>d_gpu_lanes</a:t>
                    </a:r>
                    <a:r>
                      <a:rPr lang="en-US" sz="800" dirty="0"/>
                      <a:t>[2]</a:t>
                    </a:r>
                  </a:p>
                </p:txBody>
              </p:sp>
              <p:sp>
                <p:nvSpPr>
                  <p:cNvPr id="26" name="Rectangle 25">
                    <a:extLst>
                      <a:ext uri="{FF2B5EF4-FFF2-40B4-BE49-F238E27FC236}">
                        <a16:creationId xmlns:a16="http://schemas.microsoft.com/office/drawing/2014/main" id="{AFFCA0B3-3247-975B-64D1-2A324CDF21DF}"/>
                      </a:ext>
                    </a:extLst>
                  </p:cNvPr>
                  <p:cNvSpPr/>
                  <p:nvPr/>
                </p:nvSpPr>
                <p:spPr>
                  <a:xfrm>
                    <a:off x="6209812" y="543370"/>
                    <a:ext cx="4253189" cy="1123484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1333BCDC-5DD7-77B8-AD26-FA94D10374FC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9052256" y="870380"/>
                    <a:ext cx="833557" cy="215444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800" dirty="0" err="1"/>
                      <a:t>d_eth_lanes</a:t>
                    </a:r>
                    <a:r>
                      <a:rPr lang="en-US" sz="800" dirty="0"/>
                      <a:t>[2]</a:t>
                    </a:r>
                  </a:p>
                </p:txBody>
              </p:sp>
            </p:grp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0DFE4581-F568-D824-FC88-20A1FCE5B861}"/>
                    </a:ext>
                  </a:extLst>
                </p:cNvPr>
                <p:cNvSpPr txBox="1"/>
                <p:nvPr/>
              </p:nvSpPr>
              <p:spPr>
                <a:xfrm rot="16200000">
                  <a:off x="5558127" y="1289833"/>
                  <a:ext cx="833557" cy="21544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800" dirty="0" err="1"/>
                    <a:t>d_ib_cables</a:t>
                  </a:r>
                  <a:r>
                    <a:rPr lang="en-US" sz="800" dirty="0"/>
                    <a:t>[2]</a:t>
                  </a:r>
                </a:p>
              </p:txBody>
            </p:sp>
          </p:grpSp>
          <p:sp>
            <p:nvSpPr>
              <p:cNvPr id="1096" name="TextBox 1095">
                <a:extLst>
                  <a:ext uri="{FF2B5EF4-FFF2-40B4-BE49-F238E27FC236}">
                    <a16:creationId xmlns:a16="http://schemas.microsoft.com/office/drawing/2014/main" id="{E4DA6D4E-E898-9DA8-D0A5-FDB34F9A58BB}"/>
                  </a:ext>
                </a:extLst>
              </p:cNvPr>
              <p:cNvSpPr txBox="1"/>
              <p:nvPr/>
            </p:nvSpPr>
            <p:spPr>
              <a:xfrm rot="16200000">
                <a:off x="10203885" y="2372141"/>
                <a:ext cx="953726" cy="2154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 err="1"/>
                  <a:t>d_eth_cables</a:t>
                </a:r>
                <a:r>
                  <a:rPr lang="en-US" sz="800" dirty="0"/>
                  <a:t>[2]</a:t>
                </a:r>
              </a:p>
            </p:txBody>
          </p:sp>
        </p:grpSp>
        <p:sp>
          <p:nvSpPr>
            <p:cNvPr id="1105" name="TextBox 1104">
              <a:extLst>
                <a:ext uri="{FF2B5EF4-FFF2-40B4-BE49-F238E27FC236}">
                  <a16:creationId xmlns:a16="http://schemas.microsoft.com/office/drawing/2014/main" id="{D9F573C3-E290-ECB8-B0D7-1388243A2CF7}"/>
                </a:ext>
              </a:extLst>
            </p:cNvPr>
            <p:cNvSpPr txBox="1"/>
            <p:nvPr/>
          </p:nvSpPr>
          <p:spPr>
            <a:xfrm rot="16200000">
              <a:off x="6927883" y="2671653"/>
              <a:ext cx="763270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 err="1"/>
                <a:t>d_ib_lanes</a:t>
              </a:r>
              <a:r>
                <a:rPr lang="en-US" sz="800" dirty="0"/>
                <a:t>[2]</a:t>
              </a:r>
            </a:p>
          </p:txBody>
        </p:sp>
      </p:grpSp>
      <p:grpSp>
        <p:nvGrpSpPr>
          <p:cNvPr id="1107" name="Group 1106">
            <a:extLst>
              <a:ext uri="{FF2B5EF4-FFF2-40B4-BE49-F238E27FC236}">
                <a16:creationId xmlns:a16="http://schemas.microsoft.com/office/drawing/2014/main" id="{2CC44CC2-13BA-B3CC-0C27-11A7CD209C97}"/>
              </a:ext>
            </a:extLst>
          </p:cNvPr>
          <p:cNvGrpSpPr/>
          <p:nvPr/>
        </p:nvGrpSpPr>
        <p:grpSpPr>
          <a:xfrm>
            <a:off x="5694194" y="475633"/>
            <a:ext cx="5242957" cy="1338700"/>
            <a:chOff x="5694194" y="475633"/>
            <a:chExt cx="5242957" cy="1338700"/>
          </a:xfrm>
        </p:grpSpPr>
        <p:grpSp>
          <p:nvGrpSpPr>
            <p:cNvPr id="1099" name="Group 1098">
              <a:extLst>
                <a:ext uri="{FF2B5EF4-FFF2-40B4-BE49-F238E27FC236}">
                  <a16:creationId xmlns:a16="http://schemas.microsoft.com/office/drawing/2014/main" id="{A36D6E16-3785-9BE2-D127-FFF4981DAA12}"/>
                </a:ext>
              </a:extLst>
            </p:cNvPr>
            <p:cNvGrpSpPr/>
            <p:nvPr/>
          </p:nvGrpSpPr>
          <p:grpSpPr>
            <a:xfrm>
              <a:off x="5694194" y="475633"/>
              <a:ext cx="5242957" cy="1338700"/>
              <a:chOff x="5694194" y="475633"/>
              <a:chExt cx="5242957" cy="1338700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A739A60C-FDE7-D839-E05F-4F3204CAB682}"/>
                  </a:ext>
                </a:extLst>
              </p:cNvPr>
              <p:cNvGrpSpPr/>
              <p:nvPr/>
            </p:nvGrpSpPr>
            <p:grpSpPr>
              <a:xfrm>
                <a:off x="5694194" y="498463"/>
                <a:ext cx="5242957" cy="1315870"/>
                <a:chOff x="5694194" y="498463"/>
                <a:chExt cx="5242957" cy="1315870"/>
              </a:xfrm>
            </p:grpSpPr>
            <p:grpSp>
              <p:nvGrpSpPr>
                <p:cNvPr id="1720" name="Group 1719">
                  <a:extLst>
                    <a:ext uri="{FF2B5EF4-FFF2-40B4-BE49-F238E27FC236}">
                      <a16:creationId xmlns:a16="http://schemas.microsoft.com/office/drawing/2014/main" id="{22CD8994-8345-35C4-33D6-720030C17277}"/>
                    </a:ext>
                  </a:extLst>
                </p:cNvPr>
                <p:cNvGrpSpPr/>
                <p:nvPr/>
              </p:nvGrpSpPr>
              <p:grpSpPr>
                <a:xfrm>
                  <a:off x="5694194" y="1346309"/>
                  <a:ext cx="587465" cy="96312"/>
                  <a:chOff x="2324934" y="1510774"/>
                  <a:chExt cx="587465" cy="96312"/>
                </a:xfrm>
              </p:grpSpPr>
              <p:cxnSp>
                <p:nvCxnSpPr>
                  <p:cNvPr id="1721" name="Straight Connector 1720">
                    <a:extLst>
                      <a:ext uri="{FF2B5EF4-FFF2-40B4-BE49-F238E27FC236}">
                        <a16:creationId xmlns:a16="http://schemas.microsoft.com/office/drawing/2014/main" id="{025A9E8A-63A9-D45D-7F82-76BBEF91756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324934" y="1510774"/>
                    <a:ext cx="587465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headEnd type="triangle"/>
                    <a:tailEnd type="non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22" name="Straight Connector 1721">
                    <a:extLst>
                      <a:ext uri="{FF2B5EF4-FFF2-40B4-BE49-F238E27FC236}">
                        <a16:creationId xmlns:a16="http://schemas.microsoft.com/office/drawing/2014/main" id="{8A44C9C9-7C13-9FEA-D8A3-F80782B943D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324934" y="1607086"/>
                    <a:ext cx="587465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0" name="Group 9">
                  <a:extLst>
                    <a:ext uri="{FF2B5EF4-FFF2-40B4-BE49-F238E27FC236}">
                      <a16:creationId xmlns:a16="http://schemas.microsoft.com/office/drawing/2014/main" id="{0B3AFA94-45E1-9234-B75C-62AB400BE563}"/>
                    </a:ext>
                  </a:extLst>
                </p:cNvPr>
                <p:cNvGrpSpPr/>
                <p:nvPr/>
              </p:nvGrpSpPr>
              <p:grpSpPr>
                <a:xfrm>
                  <a:off x="6205098" y="498463"/>
                  <a:ext cx="4732053" cy="1168391"/>
                  <a:chOff x="6205098" y="498463"/>
                  <a:chExt cx="4732053" cy="1168391"/>
                </a:xfrm>
              </p:grpSpPr>
              <p:sp>
                <p:nvSpPr>
                  <p:cNvPr id="1371" name="TextBox 1370">
                    <a:extLst>
                      <a:ext uri="{FF2B5EF4-FFF2-40B4-BE49-F238E27FC236}">
                        <a16:creationId xmlns:a16="http://schemas.microsoft.com/office/drawing/2014/main" id="{B55CBA31-9857-0554-25B9-BCFBB1E1F564}"/>
                      </a:ext>
                    </a:extLst>
                  </p:cNvPr>
                  <p:cNvSpPr txBox="1"/>
                  <p:nvPr/>
                </p:nvSpPr>
                <p:spPr>
                  <a:xfrm>
                    <a:off x="7535418" y="500979"/>
                    <a:ext cx="601448" cy="25391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1050" b="1" dirty="0">
                        <a:solidFill>
                          <a:srgbClr val="0070C0"/>
                        </a:solidFill>
                      </a:rPr>
                      <a:t>Decode</a:t>
                    </a:r>
                  </a:p>
                </p:txBody>
              </p:sp>
              <p:grpSp>
                <p:nvGrpSpPr>
                  <p:cNvPr id="1441" name="Group 1440">
                    <a:extLst>
                      <a:ext uri="{FF2B5EF4-FFF2-40B4-BE49-F238E27FC236}">
                        <a16:creationId xmlns:a16="http://schemas.microsoft.com/office/drawing/2014/main" id="{27053F19-CAB1-A224-39F6-5D4F3B96C642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7635912" y="792402"/>
                    <a:ext cx="411851" cy="351150"/>
                    <a:chOff x="3251348" y="1795096"/>
                    <a:chExt cx="3827633" cy="3263516"/>
                  </a:xfrm>
                </p:grpSpPr>
                <p:sp>
                  <p:nvSpPr>
                    <p:cNvPr id="1442" name="Rectangle 1441">
                      <a:extLst>
                        <a:ext uri="{FF2B5EF4-FFF2-40B4-BE49-F238E27FC236}">
                          <a16:creationId xmlns:a16="http://schemas.microsoft.com/office/drawing/2014/main" id="{8D8E469E-4408-DF88-4450-085D8A0C21E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51348" y="1795096"/>
                      <a:ext cx="3824019" cy="325990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grpSp>
                  <p:nvGrpSpPr>
                    <p:cNvPr id="1443" name="Group 1442">
                      <a:extLst>
                        <a:ext uri="{FF2B5EF4-FFF2-40B4-BE49-F238E27FC236}">
                          <a16:creationId xmlns:a16="http://schemas.microsoft.com/office/drawing/2014/main" id="{EBC24D5D-FD06-931D-2F7B-85B2F493BB02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>
                    <a:xfrm>
                      <a:off x="3251348" y="1795096"/>
                      <a:ext cx="3827633" cy="3263516"/>
                      <a:chOff x="3251348" y="1795096"/>
                      <a:chExt cx="3827633" cy="3263516"/>
                    </a:xfrm>
                  </p:grpSpPr>
                  <p:sp>
                    <p:nvSpPr>
                      <p:cNvPr id="1444" name="Freeform: Shape 1443">
                        <a:extLst>
                          <a:ext uri="{FF2B5EF4-FFF2-40B4-BE49-F238E27FC236}">
                            <a16:creationId xmlns:a16="http://schemas.microsoft.com/office/drawing/2014/main" id="{1292D67C-836C-8EA8-31F7-D513661625B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855720" y="2377440"/>
                        <a:ext cx="2606040" cy="2072640"/>
                      </a:xfrm>
                      <a:custGeom>
                        <a:avLst/>
                        <a:gdLst>
                          <a:gd name="csX0" fmla="*/ 387364 w 2606040"/>
                          <a:gd name="csY0" fmla="*/ 152400 h 2072640"/>
                          <a:gd name="csX1" fmla="*/ 152400 w 2606040"/>
                          <a:gd name="csY1" fmla="*/ 387364 h 2072640"/>
                          <a:gd name="csX2" fmla="*/ 152400 w 2606040"/>
                          <a:gd name="csY2" fmla="*/ 1692896 h 2072640"/>
                          <a:gd name="csX3" fmla="*/ 387364 w 2606040"/>
                          <a:gd name="csY3" fmla="*/ 1927860 h 2072640"/>
                          <a:gd name="csX4" fmla="*/ 2218676 w 2606040"/>
                          <a:gd name="csY4" fmla="*/ 1927860 h 2072640"/>
                          <a:gd name="csX5" fmla="*/ 2453640 w 2606040"/>
                          <a:gd name="csY5" fmla="*/ 1692896 h 2072640"/>
                          <a:gd name="csX6" fmla="*/ 2453640 w 2606040"/>
                          <a:gd name="csY6" fmla="*/ 387364 h 2072640"/>
                          <a:gd name="csX7" fmla="*/ 2218676 w 2606040"/>
                          <a:gd name="csY7" fmla="*/ 152400 h 2072640"/>
                          <a:gd name="csX8" fmla="*/ 345447 w 2606040"/>
                          <a:gd name="csY8" fmla="*/ 0 h 2072640"/>
                          <a:gd name="csX9" fmla="*/ 2260593 w 2606040"/>
                          <a:gd name="csY9" fmla="*/ 0 h 2072640"/>
                          <a:gd name="csX10" fmla="*/ 2606040 w 2606040"/>
                          <a:gd name="csY10" fmla="*/ 345447 h 2072640"/>
                          <a:gd name="csX11" fmla="*/ 2606040 w 2606040"/>
                          <a:gd name="csY11" fmla="*/ 1727193 h 2072640"/>
                          <a:gd name="csX12" fmla="*/ 2260593 w 2606040"/>
                          <a:gd name="csY12" fmla="*/ 2072640 h 2072640"/>
                          <a:gd name="csX13" fmla="*/ 345447 w 2606040"/>
                          <a:gd name="csY13" fmla="*/ 2072640 h 2072640"/>
                          <a:gd name="csX14" fmla="*/ 0 w 2606040"/>
                          <a:gd name="csY14" fmla="*/ 1727193 h 2072640"/>
                          <a:gd name="csX15" fmla="*/ 0 w 2606040"/>
                          <a:gd name="csY15" fmla="*/ 345447 h 2072640"/>
                          <a:gd name="csX16" fmla="*/ 345447 w 2606040"/>
                          <a:gd name="csY16" fmla="*/ 0 h 2072640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  <a:cxn ang="0">
                            <a:pos x="csX5" y="csY5"/>
                          </a:cxn>
                          <a:cxn ang="0">
                            <a:pos x="csX6" y="csY6"/>
                          </a:cxn>
                          <a:cxn ang="0">
                            <a:pos x="csX7" y="csY7"/>
                          </a:cxn>
                          <a:cxn ang="0">
                            <a:pos x="csX8" y="csY8"/>
                          </a:cxn>
                          <a:cxn ang="0">
                            <a:pos x="csX9" y="csY9"/>
                          </a:cxn>
                          <a:cxn ang="0">
                            <a:pos x="csX10" y="csY10"/>
                          </a:cxn>
                          <a:cxn ang="0">
                            <a:pos x="csX11" y="csY11"/>
                          </a:cxn>
                          <a:cxn ang="0">
                            <a:pos x="csX12" y="csY12"/>
                          </a:cxn>
                          <a:cxn ang="0">
                            <a:pos x="csX13" y="csY13"/>
                          </a:cxn>
                          <a:cxn ang="0">
                            <a:pos x="csX14" y="csY14"/>
                          </a:cxn>
                          <a:cxn ang="0">
                            <a:pos x="csX15" y="csY15"/>
                          </a:cxn>
                          <a:cxn ang="0">
                            <a:pos x="csX16" y="csY16"/>
                          </a:cxn>
                        </a:cxnLst>
                        <a:rect l="l" t="t" r="r" b="b"/>
                        <a:pathLst>
                          <a:path w="2606040" h="2072640">
                            <a:moveTo>
                              <a:pt x="387364" y="152400"/>
                            </a:moveTo>
                            <a:cubicBezTo>
                              <a:pt x="257597" y="152400"/>
                              <a:pt x="152400" y="257597"/>
                              <a:pt x="152400" y="387364"/>
                            </a:cubicBezTo>
                            <a:lnTo>
                              <a:pt x="152400" y="1692896"/>
                            </a:lnTo>
                            <a:cubicBezTo>
                              <a:pt x="152400" y="1822663"/>
                              <a:pt x="257597" y="1927860"/>
                              <a:pt x="387364" y="1927860"/>
                            </a:cubicBezTo>
                            <a:lnTo>
                              <a:pt x="2218676" y="1927860"/>
                            </a:lnTo>
                            <a:cubicBezTo>
                              <a:pt x="2348443" y="1927860"/>
                              <a:pt x="2453640" y="1822663"/>
                              <a:pt x="2453640" y="1692896"/>
                            </a:cubicBezTo>
                            <a:lnTo>
                              <a:pt x="2453640" y="387364"/>
                            </a:lnTo>
                            <a:cubicBezTo>
                              <a:pt x="2453640" y="257597"/>
                              <a:pt x="2348443" y="152400"/>
                              <a:pt x="2218676" y="152400"/>
                            </a:cubicBezTo>
                            <a:close/>
                            <a:moveTo>
                              <a:pt x="345447" y="0"/>
                            </a:moveTo>
                            <a:lnTo>
                              <a:pt x="2260593" y="0"/>
                            </a:lnTo>
                            <a:cubicBezTo>
                              <a:pt x="2451378" y="0"/>
                              <a:pt x="2606040" y="154662"/>
                              <a:pt x="2606040" y="345447"/>
                            </a:cubicBezTo>
                            <a:lnTo>
                              <a:pt x="2606040" y="1727193"/>
                            </a:lnTo>
                            <a:cubicBezTo>
                              <a:pt x="2606040" y="1917978"/>
                              <a:pt x="2451378" y="2072640"/>
                              <a:pt x="2260593" y="2072640"/>
                            </a:cubicBezTo>
                            <a:lnTo>
                              <a:pt x="345447" y="2072640"/>
                            </a:lnTo>
                            <a:cubicBezTo>
                              <a:pt x="154662" y="2072640"/>
                              <a:pt x="0" y="1917978"/>
                              <a:pt x="0" y="1727193"/>
                            </a:cubicBezTo>
                            <a:lnTo>
                              <a:pt x="0" y="345447"/>
                            </a:lnTo>
                            <a:cubicBezTo>
                              <a:pt x="0" y="154662"/>
                              <a:pt x="154662" y="0"/>
                              <a:pt x="345447" y="0"/>
                            </a:cubicBezTo>
                            <a:close/>
                          </a:path>
                        </a:pathLst>
                      </a:custGeom>
                      <a:solidFill>
                        <a:srgbClr val="0070C0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wrap="square" rtlCol="0" anchor="ctr">
                        <a:noAutofit/>
                      </a:bodyPr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445" name="Freeform: Shape 1444">
                        <a:extLst>
                          <a:ext uri="{FF2B5EF4-FFF2-40B4-BE49-F238E27FC236}">
                            <a16:creationId xmlns:a16="http://schemas.microsoft.com/office/drawing/2014/main" id="{F9D29A88-0FF3-4F90-5DD3-427D1469524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32427" y="3116580"/>
                        <a:ext cx="1652626" cy="629848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176486" h="448382">
                            <a:moveTo>
                              <a:pt x="548990" y="75344"/>
                            </a:moveTo>
                            <a:lnTo>
                              <a:pt x="548990" y="222349"/>
                            </a:lnTo>
                            <a:lnTo>
                              <a:pt x="588503" y="222349"/>
                            </a:lnTo>
                            <a:cubicBezTo>
                              <a:pt x="602568" y="222349"/>
                              <a:pt x="614344" y="220452"/>
                              <a:pt x="623831" y="216657"/>
                            </a:cubicBezTo>
                            <a:cubicBezTo>
                              <a:pt x="633319" y="212861"/>
                              <a:pt x="641077" y="207559"/>
                              <a:pt x="647104" y="200750"/>
                            </a:cubicBezTo>
                            <a:cubicBezTo>
                              <a:pt x="653132" y="193942"/>
                              <a:pt x="657708" y="185793"/>
                              <a:pt x="660834" y="176305"/>
                            </a:cubicBezTo>
                            <a:cubicBezTo>
                              <a:pt x="663959" y="166818"/>
                              <a:pt x="665522" y="156493"/>
                              <a:pt x="665522" y="145331"/>
                            </a:cubicBezTo>
                            <a:cubicBezTo>
                              <a:pt x="665522" y="130150"/>
                              <a:pt x="662843" y="117649"/>
                              <a:pt x="657485" y="107826"/>
                            </a:cubicBezTo>
                            <a:cubicBezTo>
                              <a:pt x="652127" y="98003"/>
                              <a:pt x="645542" y="90748"/>
                              <a:pt x="637728" y="86060"/>
                            </a:cubicBezTo>
                            <a:cubicBezTo>
                              <a:pt x="629915" y="81372"/>
                              <a:pt x="621711" y="78414"/>
                              <a:pt x="613116" y="77186"/>
                            </a:cubicBezTo>
                            <a:cubicBezTo>
                              <a:pt x="604521" y="75958"/>
                              <a:pt x="595647" y="75344"/>
                              <a:pt x="586494" y="75344"/>
                            </a:cubicBezTo>
                            <a:close/>
                            <a:moveTo>
                              <a:pt x="490723" y="7367"/>
                            </a:moveTo>
                            <a:lnTo>
                              <a:pt x="592857" y="7367"/>
                            </a:lnTo>
                            <a:cubicBezTo>
                              <a:pt x="603126" y="7367"/>
                              <a:pt x="612893" y="7758"/>
                              <a:pt x="622157" y="8539"/>
                            </a:cubicBezTo>
                            <a:cubicBezTo>
                              <a:pt x="631422" y="9320"/>
                              <a:pt x="642528" y="10995"/>
                              <a:pt x="655476" y="13562"/>
                            </a:cubicBezTo>
                            <a:cubicBezTo>
                              <a:pt x="668424" y="16129"/>
                              <a:pt x="681540" y="20873"/>
                              <a:pt x="694822" y="27794"/>
                            </a:cubicBezTo>
                            <a:cubicBezTo>
                              <a:pt x="708105" y="34714"/>
                              <a:pt x="719435" y="43476"/>
                              <a:pt x="728811" y="54080"/>
                            </a:cubicBezTo>
                            <a:cubicBezTo>
                              <a:pt x="738187" y="64684"/>
                              <a:pt x="745331" y="77074"/>
                              <a:pt x="750242" y="91250"/>
                            </a:cubicBezTo>
                            <a:cubicBezTo>
                              <a:pt x="755154" y="105426"/>
                              <a:pt x="757609" y="121332"/>
                              <a:pt x="757609" y="138968"/>
                            </a:cubicBezTo>
                            <a:cubicBezTo>
                              <a:pt x="757609" y="163302"/>
                              <a:pt x="753814" y="184844"/>
                              <a:pt x="746224" y="203597"/>
                            </a:cubicBezTo>
                            <a:cubicBezTo>
                              <a:pt x="738634" y="222349"/>
                              <a:pt x="727583" y="238144"/>
                              <a:pt x="713072" y="250980"/>
                            </a:cubicBezTo>
                            <a:cubicBezTo>
                              <a:pt x="698562" y="263816"/>
                              <a:pt x="680758" y="273583"/>
                              <a:pt x="659662" y="280281"/>
                            </a:cubicBezTo>
                            <a:cubicBezTo>
                              <a:pt x="638565" y="286978"/>
                              <a:pt x="613730" y="290326"/>
                              <a:pt x="585155" y="290326"/>
                            </a:cubicBezTo>
                            <a:lnTo>
                              <a:pt x="548990" y="290326"/>
                            </a:lnTo>
                            <a:lnTo>
                              <a:pt x="548990" y="428625"/>
                            </a:lnTo>
                            <a:cubicBezTo>
                              <a:pt x="548990" y="430857"/>
                              <a:pt x="548264" y="432867"/>
                              <a:pt x="546813" y="434653"/>
                            </a:cubicBezTo>
                            <a:cubicBezTo>
                              <a:pt x="545362" y="436439"/>
                              <a:pt x="542962" y="437890"/>
                              <a:pt x="539613" y="439006"/>
                            </a:cubicBezTo>
                            <a:cubicBezTo>
                              <a:pt x="536265" y="440122"/>
                              <a:pt x="531800" y="441015"/>
                              <a:pt x="526219" y="441685"/>
                            </a:cubicBezTo>
                            <a:cubicBezTo>
                              <a:pt x="520638" y="442354"/>
                              <a:pt x="513494" y="442689"/>
                              <a:pt x="504788" y="442689"/>
                            </a:cubicBezTo>
                            <a:cubicBezTo>
                              <a:pt x="496304" y="442689"/>
                              <a:pt x="489216" y="442354"/>
                              <a:pt x="483524" y="441685"/>
                            </a:cubicBezTo>
                            <a:cubicBezTo>
                              <a:pt x="477831" y="441015"/>
                              <a:pt x="473310" y="440122"/>
                              <a:pt x="469962" y="439006"/>
                            </a:cubicBezTo>
                            <a:cubicBezTo>
                              <a:pt x="466613" y="437890"/>
                              <a:pt x="464269" y="436439"/>
                              <a:pt x="462930" y="434653"/>
                            </a:cubicBezTo>
                            <a:cubicBezTo>
                              <a:pt x="461590" y="432867"/>
                              <a:pt x="460920" y="430857"/>
                              <a:pt x="460920" y="428625"/>
                            </a:cubicBezTo>
                            <a:lnTo>
                              <a:pt x="460920" y="38844"/>
                            </a:lnTo>
                            <a:cubicBezTo>
                              <a:pt x="460920" y="28352"/>
                              <a:pt x="463655" y="20482"/>
                              <a:pt x="469125" y="15236"/>
                            </a:cubicBezTo>
                            <a:cubicBezTo>
                              <a:pt x="474594" y="9990"/>
                              <a:pt x="481794" y="7367"/>
                              <a:pt x="490723" y="7367"/>
                            </a:cubicBezTo>
                            <a:close/>
                            <a:moveTo>
                              <a:pt x="866738" y="5358"/>
                            </a:moveTo>
                            <a:cubicBezTo>
                              <a:pt x="875221" y="5358"/>
                              <a:pt x="882253" y="5693"/>
                              <a:pt x="887834" y="6362"/>
                            </a:cubicBezTo>
                            <a:cubicBezTo>
                              <a:pt x="893415" y="7032"/>
                              <a:pt x="897880" y="7925"/>
                              <a:pt x="901228" y="9041"/>
                            </a:cubicBezTo>
                            <a:cubicBezTo>
                              <a:pt x="904577" y="10158"/>
                              <a:pt x="906977" y="11609"/>
                              <a:pt x="908428" y="13394"/>
                            </a:cubicBezTo>
                            <a:cubicBezTo>
                              <a:pt x="909879" y="15180"/>
                              <a:pt x="910605" y="17190"/>
                              <a:pt x="910605" y="19422"/>
                            </a:cubicBezTo>
                            <a:lnTo>
                              <a:pt x="910605" y="275258"/>
                            </a:lnTo>
                            <a:cubicBezTo>
                              <a:pt x="910605" y="292447"/>
                              <a:pt x="912725" y="307349"/>
                              <a:pt x="916967" y="319962"/>
                            </a:cubicBezTo>
                            <a:cubicBezTo>
                              <a:pt x="921209" y="332575"/>
                              <a:pt x="927292" y="343012"/>
                              <a:pt x="935217" y="351272"/>
                            </a:cubicBezTo>
                            <a:cubicBezTo>
                              <a:pt x="943142" y="359532"/>
                              <a:pt x="952630" y="365727"/>
                              <a:pt x="963680" y="369857"/>
                            </a:cubicBezTo>
                            <a:cubicBezTo>
                              <a:pt x="974731" y="373987"/>
                              <a:pt x="987065" y="376052"/>
                              <a:pt x="1000683" y="376052"/>
                            </a:cubicBezTo>
                            <a:cubicBezTo>
                              <a:pt x="1014524" y="376052"/>
                              <a:pt x="1026914" y="373931"/>
                              <a:pt x="1037853" y="369689"/>
                            </a:cubicBezTo>
                            <a:cubicBezTo>
                              <a:pt x="1048791" y="365447"/>
                              <a:pt x="1058056" y="359252"/>
                              <a:pt x="1065646" y="351104"/>
                            </a:cubicBezTo>
                            <a:cubicBezTo>
                              <a:pt x="1073237" y="342956"/>
                              <a:pt x="1079097" y="332910"/>
                              <a:pt x="1083227" y="320966"/>
                            </a:cubicBezTo>
                            <a:cubicBezTo>
                              <a:pt x="1087357" y="309023"/>
                              <a:pt x="1089422" y="295461"/>
                              <a:pt x="1089422" y="280281"/>
                            </a:cubicBezTo>
                            <a:lnTo>
                              <a:pt x="1089422" y="19422"/>
                            </a:lnTo>
                            <a:cubicBezTo>
                              <a:pt x="1089422" y="17190"/>
                              <a:pt x="1090091" y="15180"/>
                              <a:pt x="1091431" y="13394"/>
                            </a:cubicBezTo>
                            <a:cubicBezTo>
                              <a:pt x="1092770" y="11609"/>
                              <a:pt x="1095114" y="10158"/>
                              <a:pt x="1098463" y="9041"/>
                            </a:cubicBezTo>
                            <a:cubicBezTo>
                              <a:pt x="1101812" y="7925"/>
                              <a:pt x="1106332" y="7032"/>
                              <a:pt x="1112025" y="6362"/>
                            </a:cubicBezTo>
                            <a:cubicBezTo>
                              <a:pt x="1117718" y="5693"/>
                              <a:pt x="1124805" y="5358"/>
                              <a:pt x="1133289" y="5358"/>
                            </a:cubicBezTo>
                            <a:cubicBezTo>
                              <a:pt x="1141772" y="5358"/>
                              <a:pt x="1148748" y="5693"/>
                              <a:pt x="1154218" y="6362"/>
                            </a:cubicBezTo>
                            <a:cubicBezTo>
                              <a:pt x="1159687" y="7032"/>
                              <a:pt x="1164096" y="7925"/>
                              <a:pt x="1167445" y="9041"/>
                            </a:cubicBezTo>
                            <a:cubicBezTo>
                              <a:pt x="1170793" y="10158"/>
                              <a:pt x="1173137" y="11609"/>
                              <a:pt x="1174477" y="13394"/>
                            </a:cubicBezTo>
                            <a:cubicBezTo>
                              <a:pt x="1175816" y="15180"/>
                              <a:pt x="1176486" y="17190"/>
                              <a:pt x="1176486" y="19422"/>
                            </a:cubicBezTo>
                            <a:lnTo>
                              <a:pt x="1176486" y="279276"/>
                            </a:lnTo>
                            <a:cubicBezTo>
                              <a:pt x="1176486" y="305842"/>
                              <a:pt x="1172579" y="329617"/>
                              <a:pt x="1164766" y="350602"/>
                            </a:cubicBezTo>
                            <a:cubicBezTo>
                              <a:pt x="1156952" y="371587"/>
                              <a:pt x="1145455" y="389334"/>
                              <a:pt x="1130275" y="403845"/>
                            </a:cubicBezTo>
                            <a:cubicBezTo>
                              <a:pt x="1115094" y="418356"/>
                              <a:pt x="1096342" y="429406"/>
                              <a:pt x="1074018" y="436997"/>
                            </a:cubicBezTo>
                            <a:cubicBezTo>
                              <a:pt x="1051694" y="444587"/>
                              <a:pt x="1026021" y="448382"/>
                              <a:pt x="996999" y="448382"/>
                            </a:cubicBezTo>
                            <a:cubicBezTo>
                              <a:pt x="969764" y="448382"/>
                              <a:pt x="945319" y="444978"/>
                              <a:pt x="923664" y="438169"/>
                            </a:cubicBezTo>
                            <a:cubicBezTo>
                              <a:pt x="902010" y="431360"/>
                              <a:pt x="883704" y="421035"/>
                              <a:pt x="868747" y="407194"/>
                            </a:cubicBezTo>
                            <a:cubicBezTo>
                              <a:pt x="853789" y="393353"/>
                              <a:pt x="842348" y="376107"/>
                              <a:pt x="834423" y="355457"/>
                            </a:cubicBezTo>
                            <a:cubicBezTo>
                              <a:pt x="826498" y="334807"/>
                              <a:pt x="822536" y="310642"/>
                              <a:pt x="822536" y="282959"/>
                            </a:cubicBezTo>
                            <a:lnTo>
                              <a:pt x="822536" y="19422"/>
                            </a:lnTo>
                            <a:cubicBezTo>
                              <a:pt x="822536" y="17190"/>
                              <a:pt x="823205" y="15180"/>
                              <a:pt x="824545" y="13394"/>
                            </a:cubicBezTo>
                            <a:cubicBezTo>
                              <a:pt x="825884" y="11609"/>
                              <a:pt x="828284" y="10158"/>
                              <a:pt x="831744" y="9041"/>
                            </a:cubicBezTo>
                            <a:cubicBezTo>
                              <a:pt x="835205" y="7925"/>
                              <a:pt x="839725" y="7032"/>
                              <a:pt x="845306" y="6362"/>
                            </a:cubicBezTo>
                            <a:cubicBezTo>
                              <a:pt x="850887" y="5693"/>
                              <a:pt x="858031" y="5358"/>
                              <a:pt x="866738" y="5358"/>
                            </a:cubicBezTo>
                            <a:close/>
                            <a:moveTo>
                              <a:pt x="225698" y="0"/>
                            </a:moveTo>
                            <a:cubicBezTo>
                              <a:pt x="244450" y="0"/>
                              <a:pt x="261528" y="1284"/>
                              <a:pt x="276932" y="3851"/>
                            </a:cubicBezTo>
                            <a:cubicBezTo>
                              <a:pt x="292335" y="6418"/>
                              <a:pt x="305786" y="9544"/>
                              <a:pt x="317283" y="13227"/>
                            </a:cubicBezTo>
                            <a:cubicBezTo>
                              <a:pt x="328780" y="16911"/>
                              <a:pt x="338323" y="20873"/>
                              <a:pt x="345914" y="25115"/>
                            </a:cubicBezTo>
                            <a:cubicBezTo>
                              <a:pt x="353504" y="29356"/>
                              <a:pt x="358806" y="33040"/>
                              <a:pt x="361820" y="36165"/>
                            </a:cubicBezTo>
                            <a:cubicBezTo>
                              <a:pt x="364833" y="39291"/>
                              <a:pt x="367010" y="43700"/>
                              <a:pt x="368349" y="49392"/>
                            </a:cubicBezTo>
                            <a:cubicBezTo>
                              <a:pt x="369689" y="55085"/>
                              <a:pt x="370359" y="63512"/>
                              <a:pt x="370359" y="74675"/>
                            </a:cubicBezTo>
                            <a:cubicBezTo>
                              <a:pt x="370359" y="81148"/>
                              <a:pt x="370080" y="86730"/>
                              <a:pt x="369521" y="91418"/>
                            </a:cubicBezTo>
                            <a:cubicBezTo>
                              <a:pt x="368963" y="96106"/>
                              <a:pt x="368182" y="99845"/>
                              <a:pt x="367177" y="102636"/>
                            </a:cubicBezTo>
                            <a:cubicBezTo>
                              <a:pt x="366173" y="105426"/>
                              <a:pt x="364945" y="107379"/>
                              <a:pt x="363494" y="108496"/>
                            </a:cubicBezTo>
                            <a:cubicBezTo>
                              <a:pt x="362043" y="109612"/>
                              <a:pt x="360313" y="110170"/>
                              <a:pt x="358304" y="110170"/>
                            </a:cubicBezTo>
                            <a:cubicBezTo>
                              <a:pt x="355401" y="110170"/>
                              <a:pt x="350713" y="108161"/>
                              <a:pt x="344239" y="104142"/>
                            </a:cubicBezTo>
                            <a:cubicBezTo>
                              <a:pt x="337765" y="100124"/>
                              <a:pt x="329170" y="95771"/>
                              <a:pt x="318455" y="91083"/>
                            </a:cubicBezTo>
                            <a:cubicBezTo>
                              <a:pt x="307739" y="86395"/>
                              <a:pt x="294959" y="82041"/>
                              <a:pt x="280113" y="78023"/>
                            </a:cubicBezTo>
                            <a:cubicBezTo>
                              <a:pt x="265267" y="74005"/>
                              <a:pt x="248022" y="71996"/>
                              <a:pt x="228377" y="71996"/>
                            </a:cubicBezTo>
                            <a:cubicBezTo>
                              <a:pt x="207392" y="71996"/>
                              <a:pt x="188416" y="75623"/>
                              <a:pt x="171450" y="82879"/>
                            </a:cubicBezTo>
                            <a:cubicBezTo>
                              <a:pt x="154483" y="90134"/>
                              <a:pt x="139973" y="100403"/>
                              <a:pt x="127918" y="113686"/>
                            </a:cubicBezTo>
                            <a:cubicBezTo>
                              <a:pt x="115862" y="126969"/>
                              <a:pt x="106598" y="142931"/>
                              <a:pt x="100124" y="161571"/>
                            </a:cubicBezTo>
                            <a:cubicBezTo>
                              <a:pt x="93650" y="180212"/>
                              <a:pt x="90413" y="200806"/>
                              <a:pt x="90413" y="223354"/>
                            </a:cubicBezTo>
                            <a:cubicBezTo>
                              <a:pt x="90413" y="248134"/>
                              <a:pt x="93706" y="269956"/>
                              <a:pt x="100291" y="288820"/>
                            </a:cubicBezTo>
                            <a:cubicBezTo>
                              <a:pt x="106877" y="307684"/>
                              <a:pt x="116086" y="323478"/>
                              <a:pt x="127918" y="336203"/>
                            </a:cubicBezTo>
                            <a:cubicBezTo>
                              <a:pt x="139749" y="348928"/>
                              <a:pt x="153981" y="358527"/>
                              <a:pt x="170613" y="365001"/>
                            </a:cubicBezTo>
                            <a:cubicBezTo>
                              <a:pt x="187244" y="371475"/>
                              <a:pt x="205606" y="374712"/>
                              <a:pt x="225698" y="374712"/>
                            </a:cubicBezTo>
                            <a:cubicBezTo>
                              <a:pt x="235520" y="374712"/>
                              <a:pt x="245231" y="373596"/>
                              <a:pt x="254831" y="371363"/>
                            </a:cubicBezTo>
                            <a:cubicBezTo>
                              <a:pt x="264430" y="369131"/>
                              <a:pt x="273360" y="365782"/>
                              <a:pt x="281620" y="361317"/>
                            </a:cubicBezTo>
                            <a:lnTo>
                              <a:pt x="281620" y="260858"/>
                            </a:lnTo>
                            <a:lnTo>
                              <a:pt x="199578" y="260858"/>
                            </a:lnTo>
                            <a:cubicBezTo>
                              <a:pt x="195560" y="260858"/>
                              <a:pt x="192435" y="258347"/>
                              <a:pt x="190202" y="253324"/>
                            </a:cubicBezTo>
                            <a:cubicBezTo>
                              <a:pt x="187970" y="248301"/>
                              <a:pt x="186853" y="239762"/>
                              <a:pt x="186853" y="227707"/>
                            </a:cubicBezTo>
                            <a:cubicBezTo>
                              <a:pt x="186853" y="221456"/>
                              <a:pt x="187133" y="216210"/>
                              <a:pt x="187691" y="211968"/>
                            </a:cubicBezTo>
                            <a:cubicBezTo>
                              <a:pt x="188249" y="207727"/>
                              <a:pt x="189086" y="204322"/>
                              <a:pt x="190202" y="201755"/>
                            </a:cubicBezTo>
                            <a:cubicBezTo>
                              <a:pt x="191318" y="199188"/>
                              <a:pt x="192658" y="197290"/>
                              <a:pt x="194220" y="196062"/>
                            </a:cubicBezTo>
                            <a:cubicBezTo>
                              <a:pt x="195783" y="194835"/>
                              <a:pt x="197569" y="194221"/>
                              <a:pt x="199578" y="194221"/>
                            </a:cubicBezTo>
                            <a:lnTo>
                              <a:pt x="345914" y="194221"/>
                            </a:lnTo>
                            <a:cubicBezTo>
                              <a:pt x="349485" y="194221"/>
                              <a:pt x="352667" y="194835"/>
                              <a:pt x="355457" y="196062"/>
                            </a:cubicBezTo>
                            <a:cubicBezTo>
                              <a:pt x="358248" y="197290"/>
                              <a:pt x="360703" y="199132"/>
                              <a:pt x="362824" y="201588"/>
                            </a:cubicBezTo>
                            <a:cubicBezTo>
                              <a:pt x="364945" y="204043"/>
                              <a:pt x="366563" y="207001"/>
                              <a:pt x="367680" y="210462"/>
                            </a:cubicBezTo>
                            <a:cubicBezTo>
                              <a:pt x="368796" y="213922"/>
                              <a:pt x="369354" y="217884"/>
                              <a:pt x="369354" y="222349"/>
                            </a:cubicBezTo>
                            <a:lnTo>
                              <a:pt x="369354" y="394804"/>
                            </a:lnTo>
                            <a:cubicBezTo>
                              <a:pt x="369354" y="401501"/>
                              <a:pt x="368182" y="407361"/>
                              <a:pt x="365838" y="412384"/>
                            </a:cubicBezTo>
                            <a:cubicBezTo>
                              <a:pt x="363494" y="417407"/>
                              <a:pt x="358694" y="421370"/>
                              <a:pt x="351439" y="424272"/>
                            </a:cubicBezTo>
                            <a:cubicBezTo>
                              <a:pt x="344183" y="427174"/>
                              <a:pt x="335198" y="430188"/>
                              <a:pt x="324482" y="433313"/>
                            </a:cubicBezTo>
                            <a:cubicBezTo>
                              <a:pt x="313767" y="436439"/>
                              <a:pt x="302660" y="439117"/>
                              <a:pt x="291163" y="441350"/>
                            </a:cubicBezTo>
                            <a:cubicBezTo>
                              <a:pt x="279666" y="443582"/>
                              <a:pt x="268058" y="445257"/>
                              <a:pt x="256338" y="446373"/>
                            </a:cubicBezTo>
                            <a:cubicBezTo>
                              <a:pt x="244617" y="447489"/>
                              <a:pt x="232841" y="448047"/>
                              <a:pt x="221010" y="448047"/>
                            </a:cubicBezTo>
                            <a:cubicBezTo>
                              <a:pt x="186407" y="448047"/>
                              <a:pt x="155432" y="443080"/>
                              <a:pt x="128085" y="433146"/>
                            </a:cubicBezTo>
                            <a:cubicBezTo>
                              <a:pt x="100738" y="423211"/>
                              <a:pt x="77576" y="408812"/>
                              <a:pt x="58601" y="389948"/>
                            </a:cubicBezTo>
                            <a:cubicBezTo>
                              <a:pt x="39625" y="371084"/>
                              <a:pt x="25115" y="348090"/>
                              <a:pt x="15069" y="320966"/>
                            </a:cubicBezTo>
                            <a:cubicBezTo>
                              <a:pt x="5023" y="293842"/>
                              <a:pt x="0" y="263091"/>
                              <a:pt x="0" y="228712"/>
                            </a:cubicBezTo>
                            <a:cubicBezTo>
                              <a:pt x="0" y="193216"/>
                              <a:pt x="5358" y="161348"/>
                              <a:pt x="16073" y="133108"/>
                            </a:cubicBezTo>
                            <a:cubicBezTo>
                              <a:pt x="26789" y="104868"/>
                              <a:pt x="41969" y="80869"/>
                              <a:pt x="61615" y="61113"/>
                            </a:cubicBezTo>
                            <a:cubicBezTo>
                              <a:pt x="81260" y="41356"/>
                              <a:pt x="104979" y="26231"/>
                              <a:pt x="132773" y="15739"/>
                            </a:cubicBezTo>
                            <a:cubicBezTo>
                              <a:pt x="160567" y="5246"/>
                              <a:pt x="191542" y="0"/>
                              <a:pt x="225698" y="0"/>
                            </a:cubicBezTo>
                            <a:close/>
                          </a:path>
                        </a:pathLst>
                      </a:custGeom>
                      <a:solidFill>
                        <a:srgbClr val="0070C0"/>
                      </a:solidFill>
                      <a:ln w="0">
                        <a:noFill/>
                      </a:ln>
                      <a:effectLst/>
                    </p:spPr>
                    <p:txBody>
      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algn="ctr"/>
                        <a:endParaRPr lang="en-US" sz="5400" b="1" dirty="0">
                          <a:ln w="0"/>
                        </a:endParaRPr>
                      </a:p>
                    </p:txBody>
                  </p:sp>
                  <p:sp>
                    <p:nvSpPr>
                      <p:cNvPr id="1446" name="Rectangle: Rounded Corners 1445">
                        <a:extLst>
                          <a:ext uri="{FF2B5EF4-FFF2-40B4-BE49-F238E27FC236}">
                            <a16:creationId xmlns:a16="http://schemas.microsoft.com/office/drawing/2014/main" id="{4B5F72A2-DB34-2616-20AA-2B771BF2987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24350" y="1795096"/>
                        <a:ext cx="266700" cy="388229"/>
                      </a:xfrm>
                      <a:prstGeom prst="roundRect">
                        <a:avLst/>
                      </a:prstGeom>
                      <a:solidFill>
                        <a:srgbClr val="0070C0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447" name="Rectangle: Rounded Corners 1446">
                        <a:extLst>
                          <a:ext uri="{FF2B5EF4-FFF2-40B4-BE49-F238E27FC236}">
                            <a16:creationId xmlns:a16="http://schemas.microsoft.com/office/drawing/2014/main" id="{5110A846-8301-E8FC-D24D-344DA5D2F68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08220" y="1798711"/>
                        <a:ext cx="266700" cy="388229"/>
                      </a:xfrm>
                      <a:prstGeom prst="roundRect">
                        <a:avLst/>
                      </a:prstGeom>
                      <a:solidFill>
                        <a:srgbClr val="0070C0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448" name="Rectangle: Rounded Corners 1447">
                        <a:extLst>
                          <a:ext uri="{FF2B5EF4-FFF2-40B4-BE49-F238E27FC236}">
                            <a16:creationId xmlns:a16="http://schemas.microsoft.com/office/drawing/2014/main" id="{DF286421-0DBF-9222-10F5-54B95ED28B7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292090" y="1798710"/>
                        <a:ext cx="266700" cy="388229"/>
                      </a:xfrm>
                      <a:prstGeom prst="roundRect">
                        <a:avLst/>
                      </a:prstGeom>
                      <a:solidFill>
                        <a:srgbClr val="0070C0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449" name="Rectangle: Rounded Corners 1448">
                        <a:extLst>
                          <a:ext uri="{FF2B5EF4-FFF2-40B4-BE49-F238E27FC236}">
                            <a16:creationId xmlns:a16="http://schemas.microsoft.com/office/drawing/2014/main" id="{8D85494A-AE95-F2D4-36A5-D7D9E4C85A7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75960" y="1795096"/>
                        <a:ext cx="266700" cy="388229"/>
                      </a:xfrm>
                      <a:prstGeom prst="roundRect">
                        <a:avLst/>
                      </a:prstGeom>
                      <a:solidFill>
                        <a:srgbClr val="0070C0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450" name="Rectangle: Rounded Corners 1449">
                        <a:extLst>
                          <a:ext uri="{FF2B5EF4-FFF2-40B4-BE49-F238E27FC236}">
                            <a16:creationId xmlns:a16="http://schemas.microsoft.com/office/drawing/2014/main" id="{42189117-E644-C62F-4FD7-B7BE9E85152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24350" y="4666768"/>
                        <a:ext cx="266700" cy="388229"/>
                      </a:xfrm>
                      <a:prstGeom prst="roundRect">
                        <a:avLst/>
                      </a:prstGeom>
                      <a:solidFill>
                        <a:srgbClr val="0070C0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451" name="Rectangle: Rounded Corners 1450">
                        <a:extLst>
                          <a:ext uri="{FF2B5EF4-FFF2-40B4-BE49-F238E27FC236}">
                            <a16:creationId xmlns:a16="http://schemas.microsoft.com/office/drawing/2014/main" id="{0F24649E-7437-FDB8-4BF8-F31A1B0A46F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08220" y="4670383"/>
                        <a:ext cx="266700" cy="388229"/>
                      </a:xfrm>
                      <a:prstGeom prst="roundRect">
                        <a:avLst/>
                      </a:prstGeom>
                      <a:solidFill>
                        <a:srgbClr val="0070C0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452" name="Rectangle: Rounded Corners 1451">
                        <a:extLst>
                          <a:ext uri="{FF2B5EF4-FFF2-40B4-BE49-F238E27FC236}">
                            <a16:creationId xmlns:a16="http://schemas.microsoft.com/office/drawing/2014/main" id="{E8EF33EE-798D-1BF6-4AC5-06374037638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292090" y="4670382"/>
                        <a:ext cx="266700" cy="388229"/>
                      </a:xfrm>
                      <a:prstGeom prst="roundRect">
                        <a:avLst/>
                      </a:prstGeom>
                      <a:solidFill>
                        <a:srgbClr val="0070C0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453" name="Rectangle: Rounded Corners 1452">
                        <a:extLst>
                          <a:ext uri="{FF2B5EF4-FFF2-40B4-BE49-F238E27FC236}">
                            <a16:creationId xmlns:a16="http://schemas.microsoft.com/office/drawing/2014/main" id="{78D34E2B-125D-84A5-24AB-B3A6145978B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75960" y="4666768"/>
                        <a:ext cx="266700" cy="388229"/>
                      </a:xfrm>
                      <a:prstGeom prst="roundRect">
                        <a:avLst/>
                      </a:prstGeom>
                      <a:solidFill>
                        <a:srgbClr val="0070C0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grpSp>
                    <p:nvGrpSpPr>
                      <p:cNvPr id="1454" name="Group 1453">
                        <a:extLst>
                          <a:ext uri="{FF2B5EF4-FFF2-40B4-BE49-F238E27FC236}">
                            <a16:creationId xmlns:a16="http://schemas.microsoft.com/office/drawing/2014/main" id="{37FE6A9C-7F3F-8924-9909-3ABC76A6CA32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5400000">
                        <a:off x="2588115" y="3217838"/>
                        <a:ext cx="1718310" cy="391844"/>
                        <a:chOff x="4476750" y="1947496"/>
                        <a:chExt cx="1718310" cy="391844"/>
                      </a:xfrm>
                    </p:grpSpPr>
                    <p:sp>
                      <p:nvSpPr>
                        <p:cNvPr id="1460" name="Rectangle: Rounded Corners 1459">
                          <a:extLst>
                            <a:ext uri="{FF2B5EF4-FFF2-40B4-BE49-F238E27FC236}">
                              <a16:creationId xmlns:a16="http://schemas.microsoft.com/office/drawing/2014/main" id="{293FBE1A-E51F-A7CD-AF6D-27CAFF49DCD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476750" y="1947496"/>
                          <a:ext cx="266700" cy="388229"/>
                        </a:xfrm>
                        <a:prstGeom prst="roundRect">
                          <a:avLst/>
                        </a:prstGeom>
                        <a:solidFill>
                          <a:srgbClr val="0070C0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61" name="Rectangle: Rounded Corners 1460">
                          <a:extLst>
                            <a:ext uri="{FF2B5EF4-FFF2-40B4-BE49-F238E27FC236}">
                              <a16:creationId xmlns:a16="http://schemas.microsoft.com/office/drawing/2014/main" id="{DF703B0D-935C-B10F-0DF2-CBE8EEB6080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960620" y="1951111"/>
                          <a:ext cx="266700" cy="388229"/>
                        </a:xfrm>
                        <a:prstGeom prst="roundRect">
                          <a:avLst/>
                        </a:prstGeom>
                        <a:solidFill>
                          <a:srgbClr val="0070C0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62" name="Rectangle: Rounded Corners 1461">
                          <a:extLst>
                            <a:ext uri="{FF2B5EF4-FFF2-40B4-BE49-F238E27FC236}">
                              <a16:creationId xmlns:a16="http://schemas.microsoft.com/office/drawing/2014/main" id="{76B8CD67-D784-00D8-8DB2-7161AF1D83D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444490" y="1951110"/>
                          <a:ext cx="266700" cy="388229"/>
                        </a:xfrm>
                        <a:prstGeom prst="roundRect">
                          <a:avLst/>
                        </a:prstGeom>
                        <a:solidFill>
                          <a:srgbClr val="0070C0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63" name="Rectangle: Rounded Corners 1462">
                          <a:extLst>
                            <a:ext uri="{FF2B5EF4-FFF2-40B4-BE49-F238E27FC236}">
                              <a16:creationId xmlns:a16="http://schemas.microsoft.com/office/drawing/2014/main" id="{546F737C-E3F4-5F43-93BA-B3A20EA2C1D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928360" y="1947496"/>
                          <a:ext cx="266700" cy="388229"/>
                        </a:xfrm>
                        <a:prstGeom prst="roundRect">
                          <a:avLst/>
                        </a:prstGeom>
                        <a:solidFill>
                          <a:srgbClr val="0070C0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455" name="Group 1454">
                        <a:extLst>
                          <a:ext uri="{FF2B5EF4-FFF2-40B4-BE49-F238E27FC236}">
                            <a16:creationId xmlns:a16="http://schemas.microsoft.com/office/drawing/2014/main" id="{7800A27B-DA84-53C5-D1ED-33429274B31A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5400000">
                        <a:off x="6023904" y="3217839"/>
                        <a:ext cx="1718310" cy="391844"/>
                        <a:chOff x="4476750" y="1947496"/>
                        <a:chExt cx="1718310" cy="391844"/>
                      </a:xfrm>
                    </p:grpSpPr>
                    <p:sp>
                      <p:nvSpPr>
                        <p:cNvPr id="1456" name="Rectangle: Rounded Corners 1455">
                          <a:extLst>
                            <a:ext uri="{FF2B5EF4-FFF2-40B4-BE49-F238E27FC236}">
                              <a16:creationId xmlns:a16="http://schemas.microsoft.com/office/drawing/2014/main" id="{34383890-AE48-F010-9B04-85FFA841097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476750" y="1947496"/>
                          <a:ext cx="266700" cy="388229"/>
                        </a:xfrm>
                        <a:prstGeom prst="roundRect">
                          <a:avLst/>
                        </a:prstGeom>
                        <a:solidFill>
                          <a:srgbClr val="0070C0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57" name="Rectangle: Rounded Corners 1456">
                          <a:extLst>
                            <a:ext uri="{FF2B5EF4-FFF2-40B4-BE49-F238E27FC236}">
                              <a16:creationId xmlns:a16="http://schemas.microsoft.com/office/drawing/2014/main" id="{58394BAF-C1FB-7726-951A-CDECB0AE689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960620" y="1951111"/>
                          <a:ext cx="266700" cy="388229"/>
                        </a:xfrm>
                        <a:prstGeom prst="roundRect">
                          <a:avLst/>
                        </a:prstGeom>
                        <a:solidFill>
                          <a:srgbClr val="0070C0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58" name="Rectangle: Rounded Corners 1457">
                          <a:extLst>
                            <a:ext uri="{FF2B5EF4-FFF2-40B4-BE49-F238E27FC236}">
                              <a16:creationId xmlns:a16="http://schemas.microsoft.com/office/drawing/2014/main" id="{3934CB0F-44EA-8C75-47BF-F289A1DC6C6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444490" y="1951110"/>
                          <a:ext cx="266700" cy="388229"/>
                        </a:xfrm>
                        <a:prstGeom prst="roundRect">
                          <a:avLst/>
                        </a:prstGeom>
                        <a:solidFill>
                          <a:srgbClr val="0070C0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59" name="Rectangle: Rounded Corners 1458">
                          <a:extLst>
                            <a:ext uri="{FF2B5EF4-FFF2-40B4-BE49-F238E27FC236}">
                              <a16:creationId xmlns:a16="http://schemas.microsoft.com/office/drawing/2014/main" id="{1689E1D3-7797-F0D9-CD79-F0901885506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928360" y="1947496"/>
                          <a:ext cx="266700" cy="388229"/>
                        </a:xfrm>
                        <a:prstGeom prst="roundRect">
                          <a:avLst/>
                        </a:prstGeom>
                        <a:solidFill>
                          <a:srgbClr val="0070C0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674" name="Group 1673">
                    <a:extLst>
                      <a:ext uri="{FF2B5EF4-FFF2-40B4-BE49-F238E27FC236}">
                        <a16:creationId xmlns:a16="http://schemas.microsoft.com/office/drawing/2014/main" id="{0CEE7401-40E2-10EE-660C-6E43C04B8F52}"/>
                      </a:ext>
                    </a:extLst>
                  </p:cNvPr>
                  <p:cNvGrpSpPr/>
                  <p:nvPr/>
                </p:nvGrpSpPr>
                <p:grpSpPr>
                  <a:xfrm>
                    <a:off x="6205098" y="1041211"/>
                    <a:ext cx="894797" cy="572294"/>
                    <a:chOff x="3617019" y="3013602"/>
                    <a:chExt cx="894797" cy="572294"/>
                  </a:xfrm>
                </p:grpSpPr>
                <p:pic>
                  <p:nvPicPr>
                    <p:cNvPr id="1675" name="Picture 1674">
                      <a:extLst>
                        <a:ext uri="{FF2B5EF4-FFF2-40B4-BE49-F238E27FC236}">
                          <a16:creationId xmlns:a16="http://schemas.microsoft.com/office/drawing/2014/main" id="{F0A1D89F-C3FE-F1E1-0A48-107723184CCF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/>
                    <a:stretch>
                      <a:fillRect/>
                    </a:stretch>
                  </p:blipFill>
                  <p:spPr>
                    <a:xfrm>
                      <a:off x="3679291" y="3071002"/>
                      <a:ext cx="757950" cy="514894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1676" name="TextBox 1675">
                      <a:extLst>
                        <a:ext uri="{FF2B5EF4-FFF2-40B4-BE49-F238E27FC236}">
                          <a16:creationId xmlns:a16="http://schemas.microsoft.com/office/drawing/2014/main" id="{A7E2DEC8-C9B5-347E-28B1-F80E327F3CD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617019" y="3013602"/>
                      <a:ext cx="894797" cy="2308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900" dirty="0">
                          <a:solidFill>
                            <a:srgbClr val="00B050"/>
                          </a:solidFill>
                        </a:rPr>
                        <a:t>Infiniband NDR</a:t>
                      </a:r>
                    </a:p>
                  </p:txBody>
                </p:sp>
              </p:grpSp>
              <p:grpSp>
                <p:nvGrpSpPr>
                  <p:cNvPr id="1717" name="Group 1716">
                    <a:extLst>
                      <a:ext uri="{FF2B5EF4-FFF2-40B4-BE49-F238E27FC236}">
                        <a16:creationId xmlns:a16="http://schemas.microsoft.com/office/drawing/2014/main" id="{EC9D260D-DE72-9EE5-4104-25EEAEF24669}"/>
                      </a:ext>
                    </a:extLst>
                  </p:cNvPr>
                  <p:cNvGrpSpPr/>
                  <p:nvPr/>
                </p:nvGrpSpPr>
                <p:grpSpPr>
                  <a:xfrm>
                    <a:off x="7027727" y="1346309"/>
                    <a:ext cx="1617400" cy="96312"/>
                    <a:chOff x="2324934" y="1510774"/>
                    <a:chExt cx="587465" cy="96312"/>
                  </a:xfrm>
                </p:grpSpPr>
                <p:cxnSp>
                  <p:nvCxnSpPr>
                    <p:cNvPr id="1718" name="Straight Connector 1717">
                      <a:extLst>
                        <a:ext uri="{FF2B5EF4-FFF2-40B4-BE49-F238E27FC236}">
                          <a16:creationId xmlns:a16="http://schemas.microsoft.com/office/drawing/2014/main" id="{EFFC0F8A-0111-6B13-FB96-33A08DCC3F5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324934" y="1510774"/>
                      <a:ext cx="58746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headEnd type="triangle"/>
                      <a:tailEnd type="non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19" name="Straight Connector 1718">
                      <a:extLst>
                        <a:ext uri="{FF2B5EF4-FFF2-40B4-BE49-F238E27FC236}">
                          <a16:creationId xmlns:a16="http://schemas.microsoft.com/office/drawing/2014/main" id="{669C2B2A-EEBE-24AB-3804-7F1F64AC761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324934" y="1607086"/>
                      <a:ext cx="58746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746" name="Rectangle: Rounded Corners 1745">
                    <a:extLst>
                      <a:ext uri="{FF2B5EF4-FFF2-40B4-BE49-F238E27FC236}">
                        <a16:creationId xmlns:a16="http://schemas.microsoft.com/office/drawing/2014/main" id="{56026FF8-5D14-A40D-6D76-C5C068CEC427}"/>
                      </a:ext>
                    </a:extLst>
                  </p:cNvPr>
                  <p:cNvSpPr/>
                  <p:nvPr/>
                </p:nvSpPr>
                <p:spPr>
                  <a:xfrm rot="5400000" flipH="1">
                    <a:off x="8476552" y="885618"/>
                    <a:ext cx="833557" cy="480312"/>
                  </a:xfrm>
                  <a:prstGeom prst="roundRect">
                    <a:avLst/>
                  </a:prstGeom>
                  <a:solidFill>
                    <a:schemeClr val="accent2">
                      <a:lumMod val="20000"/>
                      <a:lumOff val="80000"/>
                      <a:alpha val="78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100" dirty="0">
                        <a:solidFill>
                          <a:srgbClr val="FF0000"/>
                        </a:solidFill>
                      </a:rPr>
                      <a:t>PLX</a:t>
                    </a:r>
                  </a:p>
                </p:txBody>
              </p:sp>
              <p:grpSp>
                <p:nvGrpSpPr>
                  <p:cNvPr id="1747" name="Group 1746">
                    <a:extLst>
                      <a:ext uri="{FF2B5EF4-FFF2-40B4-BE49-F238E27FC236}">
                        <a16:creationId xmlns:a16="http://schemas.microsoft.com/office/drawing/2014/main" id="{46731ABC-1761-3F21-B677-98791740486F}"/>
                      </a:ext>
                    </a:extLst>
                  </p:cNvPr>
                  <p:cNvGrpSpPr/>
                  <p:nvPr/>
                </p:nvGrpSpPr>
                <p:grpSpPr>
                  <a:xfrm>
                    <a:off x="8056343" y="914750"/>
                    <a:ext cx="587465" cy="96312"/>
                    <a:chOff x="2324934" y="1510774"/>
                    <a:chExt cx="587465" cy="96312"/>
                  </a:xfrm>
                </p:grpSpPr>
                <p:cxnSp>
                  <p:nvCxnSpPr>
                    <p:cNvPr id="1748" name="Straight Connector 1747">
                      <a:extLst>
                        <a:ext uri="{FF2B5EF4-FFF2-40B4-BE49-F238E27FC236}">
                          <a16:creationId xmlns:a16="http://schemas.microsoft.com/office/drawing/2014/main" id="{DBAF0911-ECB7-8813-D5A9-5FAF0D8FA6E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324934" y="1510774"/>
                      <a:ext cx="58746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headEnd type="triangle"/>
                      <a:tailEnd type="non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49" name="Straight Connector 1748">
                      <a:extLst>
                        <a:ext uri="{FF2B5EF4-FFF2-40B4-BE49-F238E27FC236}">
                          <a16:creationId xmlns:a16="http://schemas.microsoft.com/office/drawing/2014/main" id="{B61C7C8C-BA39-BFF8-BECA-0808EBD4476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324934" y="1607086"/>
                      <a:ext cx="58746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pic>
                <p:nvPicPr>
                  <p:cNvPr id="1764" name="Picture 1763">
                    <a:extLst>
                      <a:ext uri="{FF2B5EF4-FFF2-40B4-BE49-F238E27FC236}">
                        <a16:creationId xmlns:a16="http://schemas.microsoft.com/office/drawing/2014/main" id="{402C4B79-5CBA-D117-8476-81E415A47C0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9696452" y="668167"/>
                    <a:ext cx="649040" cy="519232"/>
                  </a:xfrm>
                  <a:prstGeom prst="rect">
                    <a:avLst/>
                  </a:prstGeom>
                </p:spPr>
              </p:pic>
              <p:grpSp>
                <p:nvGrpSpPr>
                  <p:cNvPr id="1765" name="Group 1764">
                    <a:extLst>
                      <a:ext uri="{FF2B5EF4-FFF2-40B4-BE49-F238E27FC236}">
                        <a16:creationId xmlns:a16="http://schemas.microsoft.com/office/drawing/2014/main" id="{BE53FA4F-BB25-55EB-ABD9-341F460B2625}"/>
                      </a:ext>
                    </a:extLst>
                  </p:cNvPr>
                  <p:cNvGrpSpPr/>
                  <p:nvPr/>
                </p:nvGrpSpPr>
                <p:grpSpPr>
                  <a:xfrm>
                    <a:off x="9139794" y="908400"/>
                    <a:ext cx="587465" cy="96312"/>
                    <a:chOff x="2324934" y="1510774"/>
                    <a:chExt cx="587465" cy="96312"/>
                  </a:xfrm>
                </p:grpSpPr>
                <p:cxnSp>
                  <p:nvCxnSpPr>
                    <p:cNvPr id="1766" name="Straight Connector 1765">
                      <a:extLst>
                        <a:ext uri="{FF2B5EF4-FFF2-40B4-BE49-F238E27FC236}">
                          <a16:creationId xmlns:a16="http://schemas.microsoft.com/office/drawing/2014/main" id="{E67C5028-873B-9A12-6A3A-3485E18DE4B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324934" y="1510774"/>
                      <a:ext cx="58746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headEnd type="triangle"/>
                      <a:tailEnd type="non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67" name="Straight Connector 1766">
                      <a:extLst>
                        <a:ext uri="{FF2B5EF4-FFF2-40B4-BE49-F238E27FC236}">
                          <a16:creationId xmlns:a16="http://schemas.microsoft.com/office/drawing/2014/main" id="{D1341CFF-8439-3540-A8C2-61982472851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324934" y="1607086"/>
                      <a:ext cx="58746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780" name="Group 1779">
                    <a:extLst>
                      <a:ext uri="{FF2B5EF4-FFF2-40B4-BE49-F238E27FC236}">
                        <a16:creationId xmlns:a16="http://schemas.microsoft.com/office/drawing/2014/main" id="{F0E306B0-9E38-3007-8F5F-8DCDDA9D7337}"/>
                      </a:ext>
                    </a:extLst>
                  </p:cNvPr>
                  <p:cNvGrpSpPr/>
                  <p:nvPr/>
                </p:nvGrpSpPr>
                <p:grpSpPr>
                  <a:xfrm>
                    <a:off x="10349686" y="908400"/>
                    <a:ext cx="587465" cy="96312"/>
                    <a:chOff x="2324934" y="1510774"/>
                    <a:chExt cx="587465" cy="96312"/>
                  </a:xfrm>
                </p:grpSpPr>
                <p:cxnSp>
                  <p:nvCxnSpPr>
                    <p:cNvPr id="1781" name="Straight Connector 1780">
                      <a:extLst>
                        <a:ext uri="{FF2B5EF4-FFF2-40B4-BE49-F238E27FC236}">
                          <a16:creationId xmlns:a16="http://schemas.microsoft.com/office/drawing/2014/main" id="{0CEA2A5A-9630-FFBF-8FA7-3604F4F06D1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324934" y="1510774"/>
                      <a:ext cx="58746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headEnd type="triangle"/>
                      <a:tailEnd type="non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82" name="Straight Connector 1781">
                      <a:extLst>
                        <a:ext uri="{FF2B5EF4-FFF2-40B4-BE49-F238E27FC236}">
                          <a16:creationId xmlns:a16="http://schemas.microsoft.com/office/drawing/2014/main" id="{00F1D6AE-219B-1724-45E4-6984D68FFDA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324934" y="1607086"/>
                      <a:ext cx="58746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799" name="TextBox 1798">
                    <a:extLst>
                      <a:ext uri="{FF2B5EF4-FFF2-40B4-BE49-F238E27FC236}">
                        <a16:creationId xmlns:a16="http://schemas.microsoft.com/office/drawing/2014/main" id="{83B8FB3D-7768-1CCB-6AF8-4896BF30AB6C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7954913" y="807520"/>
                    <a:ext cx="833557" cy="215444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800" dirty="0" err="1"/>
                      <a:t>d_gpu_lanes</a:t>
                    </a:r>
                    <a:r>
                      <a:rPr lang="en-US" sz="800" dirty="0"/>
                      <a:t>[3]</a:t>
                    </a:r>
                  </a:p>
                </p:txBody>
              </p:sp>
              <p:sp>
                <p:nvSpPr>
                  <p:cNvPr id="1273" name="Rectangle 1272">
                    <a:extLst>
                      <a:ext uri="{FF2B5EF4-FFF2-40B4-BE49-F238E27FC236}">
                        <a16:creationId xmlns:a16="http://schemas.microsoft.com/office/drawing/2014/main" id="{95DABEF3-6EF0-EEB1-3B10-3955DAD29954}"/>
                      </a:ext>
                    </a:extLst>
                  </p:cNvPr>
                  <p:cNvSpPr/>
                  <p:nvPr/>
                </p:nvSpPr>
                <p:spPr>
                  <a:xfrm>
                    <a:off x="6209812" y="543370"/>
                    <a:ext cx="4253189" cy="1123484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" name="TextBox 1">
                    <a:extLst>
                      <a:ext uri="{FF2B5EF4-FFF2-40B4-BE49-F238E27FC236}">
                        <a16:creationId xmlns:a16="http://schemas.microsoft.com/office/drawing/2014/main" id="{B08BE73F-8A37-DCC9-E5EB-7140DD0E4810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9052256" y="870380"/>
                    <a:ext cx="833557" cy="215444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800" dirty="0" err="1"/>
                      <a:t>d_eth_lanes</a:t>
                    </a:r>
                    <a:r>
                      <a:rPr lang="en-US" sz="800" dirty="0"/>
                      <a:t>[3]</a:t>
                    </a:r>
                  </a:p>
                </p:txBody>
              </p:sp>
            </p:grpSp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0E7F0F34-DF9E-1D32-E755-1ED4FB49ED0D}"/>
                    </a:ext>
                  </a:extLst>
                </p:cNvPr>
                <p:cNvSpPr txBox="1"/>
                <p:nvPr/>
              </p:nvSpPr>
              <p:spPr>
                <a:xfrm rot="16200000">
                  <a:off x="5558127" y="1289833"/>
                  <a:ext cx="833557" cy="21544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800" dirty="0" err="1"/>
                    <a:t>d_ib_cables</a:t>
                  </a:r>
                  <a:r>
                    <a:rPr lang="en-US" sz="800" dirty="0"/>
                    <a:t>[3]</a:t>
                  </a:r>
                </a:p>
              </p:txBody>
            </p:sp>
          </p:grpSp>
          <p:sp>
            <p:nvSpPr>
              <p:cNvPr id="1095" name="TextBox 1094">
                <a:extLst>
                  <a:ext uri="{FF2B5EF4-FFF2-40B4-BE49-F238E27FC236}">
                    <a16:creationId xmlns:a16="http://schemas.microsoft.com/office/drawing/2014/main" id="{4D2A98B6-1E17-08A6-F070-668FE2FBCB14}"/>
                  </a:ext>
                </a:extLst>
              </p:cNvPr>
              <p:cNvSpPr txBox="1"/>
              <p:nvPr/>
            </p:nvSpPr>
            <p:spPr>
              <a:xfrm rot="16200000">
                <a:off x="10203885" y="844774"/>
                <a:ext cx="953726" cy="2154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 err="1"/>
                  <a:t>d_eth_cables</a:t>
                </a:r>
                <a:r>
                  <a:rPr lang="en-US" sz="800" dirty="0"/>
                  <a:t>[3]</a:t>
                </a:r>
              </a:p>
            </p:txBody>
          </p:sp>
        </p:grpSp>
        <p:sp>
          <p:nvSpPr>
            <p:cNvPr id="1106" name="TextBox 1105">
              <a:extLst>
                <a:ext uri="{FF2B5EF4-FFF2-40B4-BE49-F238E27FC236}">
                  <a16:creationId xmlns:a16="http://schemas.microsoft.com/office/drawing/2014/main" id="{E790A741-CDB3-C38F-E119-FCCA07D062C4}"/>
                </a:ext>
              </a:extLst>
            </p:cNvPr>
            <p:cNvSpPr txBox="1"/>
            <p:nvPr/>
          </p:nvSpPr>
          <p:spPr>
            <a:xfrm rot="16200000">
              <a:off x="6927883" y="1140023"/>
              <a:ext cx="763270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 err="1"/>
                <a:t>d_ib_lanes</a:t>
              </a:r>
              <a:r>
                <a:rPr lang="en-US" sz="800" dirty="0"/>
                <a:t>[3]</a:t>
              </a:r>
            </a:p>
          </p:txBody>
        </p:sp>
      </p:grpSp>
      <p:sp>
        <p:nvSpPr>
          <p:cNvPr id="1111" name="Freeform: Shape 1110">
            <a:extLst>
              <a:ext uri="{FF2B5EF4-FFF2-40B4-BE49-F238E27FC236}">
                <a16:creationId xmlns:a16="http://schemas.microsoft.com/office/drawing/2014/main" id="{EED0CE49-88A1-DF58-B74E-5A92FA601CA2}"/>
              </a:ext>
            </a:extLst>
          </p:cNvPr>
          <p:cNvSpPr/>
          <p:nvPr/>
        </p:nvSpPr>
        <p:spPr>
          <a:xfrm>
            <a:off x="2366935" y="4298896"/>
            <a:ext cx="759831" cy="1381180"/>
          </a:xfrm>
          <a:custGeom>
            <a:avLst/>
            <a:gdLst>
              <a:gd name="csX0" fmla="*/ 15902 w 987965"/>
              <a:gd name="csY0" fmla="*/ 1440717 h 1440717"/>
              <a:gd name="csX1" fmla="*/ 866692 w 987965"/>
              <a:gd name="csY1" fmla="*/ 1416864 h 1440717"/>
              <a:gd name="csX2" fmla="*/ 954156 w 987965"/>
              <a:gd name="csY2" fmla="*/ 1297594 h 1440717"/>
              <a:gd name="csX3" fmla="*/ 962108 w 987965"/>
              <a:gd name="csY3" fmla="*/ 128752 h 1440717"/>
              <a:gd name="csX4" fmla="*/ 898497 w 987965"/>
              <a:gd name="csY4" fmla="*/ 17434 h 1440717"/>
              <a:gd name="csX5" fmla="*/ 0 w 987965"/>
              <a:gd name="csY5" fmla="*/ 17434 h 1440717"/>
              <a:gd name="csX0" fmla="*/ 15902 w 967898"/>
              <a:gd name="csY0" fmla="*/ 1433995 h 1433995"/>
              <a:gd name="csX1" fmla="*/ 866692 w 967898"/>
              <a:gd name="csY1" fmla="*/ 1410142 h 1433995"/>
              <a:gd name="csX2" fmla="*/ 954156 w 967898"/>
              <a:gd name="csY2" fmla="*/ 1290872 h 1433995"/>
              <a:gd name="csX3" fmla="*/ 962108 w 967898"/>
              <a:gd name="csY3" fmla="*/ 122030 h 1433995"/>
              <a:gd name="csX4" fmla="*/ 898497 w 967898"/>
              <a:gd name="csY4" fmla="*/ 10712 h 1433995"/>
              <a:gd name="csX5" fmla="*/ 0 w 967898"/>
              <a:gd name="csY5" fmla="*/ 10712 h 1433995"/>
              <a:gd name="csX0" fmla="*/ 15902 w 976246"/>
              <a:gd name="csY0" fmla="*/ 1433995 h 1433995"/>
              <a:gd name="csX1" fmla="*/ 866692 w 976246"/>
              <a:gd name="csY1" fmla="*/ 1410142 h 1433995"/>
              <a:gd name="csX2" fmla="*/ 954156 w 976246"/>
              <a:gd name="csY2" fmla="*/ 1290872 h 1433995"/>
              <a:gd name="csX3" fmla="*/ 962108 w 976246"/>
              <a:gd name="csY3" fmla="*/ 122030 h 1433995"/>
              <a:gd name="csX4" fmla="*/ 898497 w 976246"/>
              <a:gd name="csY4" fmla="*/ 10712 h 1433995"/>
              <a:gd name="csX5" fmla="*/ 0 w 976246"/>
              <a:gd name="csY5" fmla="*/ 10712 h 1433995"/>
              <a:gd name="csX0" fmla="*/ 15902 w 976246"/>
              <a:gd name="csY0" fmla="*/ 1433995 h 1437127"/>
              <a:gd name="csX1" fmla="*/ 866692 w 976246"/>
              <a:gd name="csY1" fmla="*/ 1410142 h 1437127"/>
              <a:gd name="csX2" fmla="*/ 954156 w 976246"/>
              <a:gd name="csY2" fmla="*/ 1290872 h 1437127"/>
              <a:gd name="csX3" fmla="*/ 962108 w 976246"/>
              <a:gd name="csY3" fmla="*/ 122030 h 1437127"/>
              <a:gd name="csX4" fmla="*/ 898497 w 976246"/>
              <a:gd name="csY4" fmla="*/ 10712 h 1437127"/>
              <a:gd name="csX5" fmla="*/ 0 w 976246"/>
              <a:gd name="csY5" fmla="*/ 10712 h 1437127"/>
              <a:gd name="csX0" fmla="*/ 15902 w 987865"/>
              <a:gd name="csY0" fmla="*/ 1433995 h 1437127"/>
              <a:gd name="csX1" fmla="*/ 866692 w 987865"/>
              <a:gd name="csY1" fmla="*/ 1410142 h 1437127"/>
              <a:gd name="csX2" fmla="*/ 954156 w 987865"/>
              <a:gd name="csY2" fmla="*/ 1290872 h 1437127"/>
              <a:gd name="csX3" fmla="*/ 962108 w 987865"/>
              <a:gd name="csY3" fmla="*/ 122030 h 1437127"/>
              <a:gd name="csX4" fmla="*/ 898497 w 987865"/>
              <a:gd name="csY4" fmla="*/ 10712 h 1437127"/>
              <a:gd name="csX5" fmla="*/ 0 w 987865"/>
              <a:gd name="csY5" fmla="*/ 10712 h 14371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987865" h="1437127">
                <a:moveTo>
                  <a:pt x="15902" y="1433995"/>
                </a:moveTo>
                <a:cubicBezTo>
                  <a:pt x="363109" y="1433995"/>
                  <a:pt x="818266" y="1449871"/>
                  <a:pt x="866692" y="1410142"/>
                </a:cubicBezTo>
                <a:cubicBezTo>
                  <a:pt x="915118" y="1370413"/>
                  <a:pt x="903328" y="1375382"/>
                  <a:pt x="954156" y="1290872"/>
                </a:cubicBezTo>
                <a:cubicBezTo>
                  <a:pt x="1004984" y="1206362"/>
                  <a:pt x="990434" y="208390"/>
                  <a:pt x="962108" y="122030"/>
                </a:cubicBezTo>
                <a:cubicBezTo>
                  <a:pt x="933782" y="35670"/>
                  <a:pt x="944548" y="57840"/>
                  <a:pt x="898497" y="10712"/>
                </a:cubicBezTo>
                <a:cubicBezTo>
                  <a:pt x="738146" y="-7841"/>
                  <a:pt x="369073" y="1435"/>
                  <a:pt x="0" y="10712"/>
                </a:cubicBezTo>
              </a:path>
            </a:pathLst>
          </a:custGeom>
          <a:noFill/>
          <a:ln>
            <a:solidFill>
              <a:srgbClr val="FF0000"/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2" name="Freeform: Shape 1111">
            <a:extLst>
              <a:ext uri="{FF2B5EF4-FFF2-40B4-BE49-F238E27FC236}">
                <a16:creationId xmlns:a16="http://schemas.microsoft.com/office/drawing/2014/main" id="{4CB12C5F-605A-1EB9-FF64-4294DE38F348}"/>
              </a:ext>
            </a:extLst>
          </p:cNvPr>
          <p:cNvSpPr/>
          <p:nvPr/>
        </p:nvSpPr>
        <p:spPr>
          <a:xfrm>
            <a:off x="2387600" y="3575976"/>
            <a:ext cx="6566784" cy="2412057"/>
          </a:xfrm>
          <a:custGeom>
            <a:avLst/>
            <a:gdLst>
              <a:gd name="csX0" fmla="*/ 0 w 3879850"/>
              <a:gd name="csY0" fmla="*/ 2225670 h 2645186"/>
              <a:gd name="csX1" fmla="*/ 711200 w 3879850"/>
              <a:gd name="csY1" fmla="*/ 2212970 h 2645186"/>
              <a:gd name="csX2" fmla="*/ 806450 w 3879850"/>
              <a:gd name="csY2" fmla="*/ 2149470 h 2645186"/>
              <a:gd name="csX3" fmla="*/ 806450 w 3879850"/>
              <a:gd name="csY3" fmla="*/ 295270 h 2645186"/>
              <a:gd name="csX4" fmla="*/ 901700 w 3879850"/>
              <a:gd name="csY4" fmla="*/ 174620 h 2645186"/>
              <a:gd name="csX5" fmla="*/ 2914650 w 3879850"/>
              <a:gd name="csY5" fmla="*/ 130170 h 2645186"/>
              <a:gd name="csX6" fmla="*/ 3048000 w 3879850"/>
              <a:gd name="csY6" fmla="*/ 187320 h 2645186"/>
              <a:gd name="csX7" fmla="*/ 3067050 w 3879850"/>
              <a:gd name="csY7" fmla="*/ 2447920 h 2645186"/>
              <a:gd name="csX8" fmla="*/ 3149600 w 3879850"/>
              <a:gd name="csY8" fmla="*/ 2536820 h 2645186"/>
              <a:gd name="csX9" fmla="*/ 3879850 w 3879850"/>
              <a:gd name="csY9" fmla="*/ 2517770 h 2645186"/>
              <a:gd name="csX0" fmla="*/ 0 w 3879850"/>
              <a:gd name="csY0" fmla="*/ 2225670 h 2645186"/>
              <a:gd name="csX1" fmla="*/ 711200 w 3879850"/>
              <a:gd name="csY1" fmla="*/ 2212970 h 2645186"/>
              <a:gd name="csX2" fmla="*/ 806450 w 3879850"/>
              <a:gd name="csY2" fmla="*/ 2149470 h 2645186"/>
              <a:gd name="csX3" fmla="*/ 806450 w 3879850"/>
              <a:gd name="csY3" fmla="*/ 295270 h 2645186"/>
              <a:gd name="csX4" fmla="*/ 901700 w 3879850"/>
              <a:gd name="csY4" fmla="*/ 174620 h 2645186"/>
              <a:gd name="csX5" fmla="*/ 2914650 w 3879850"/>
              <a:gd name="csY5" fmla="*/ 130170 h 2645186"/>
              <a:gd name="csX6" fmla="*/ 3048000 w 3879850"/>
              <a:gd name="csY6" fmla="*/ 187320 h 2645186"/>
              <a:gd name="csX7" fmla="*/ 3067050 w 3879850"/>
              <a:gd name="csY7" fmla="*/ 2447920 h 2645186"/>
              <a:gd name="csX8" fmla="*/ 3149600 w 3879850"/>
              <a:gd name="csY8" fmla="*/ 2536820 h 2645186"/>
              <a:gd name="csX9" fmla="*/ 3879850 w 3879850"/>
              <a:gd name="csY9" fmla="*/ 2517770 h 2645186"/>
              <a:gd name="csX0" fmla="*/ 0 w 3879850"/>
              <a:gd name="csY0" fmla="*/ 2225670 h 2645186"/>
              <a:gd name="csX1" fmla="*/ 711200 w 3879850"/>
              <a:gd name="csY1" fmla="*/ 2212970 h 2645186"/>
              <a:gd name="csX2" fmla="*/ 806450 w 3879850"/>
              <a:gd name="csY2" fmla="*/ 2149470 h 2645186"/>
              <a:gd name="csX3" fmla="*/ 806450 w 3879850"/>
              <a:gd name="csY3" fmla="*/ 295270 h 2645186"/>
              <a:gd name="csX4" fmla="*/ 901700 w 3879850"/>
              <a:gd name="csY4" fmla="*/ 174620 h 2645186"/>
              <a:gd name="csX5" fmla="*/ 2914650 w 3879850"/>
              <a:gd name="csY5" fmla="*/ 130170 h 2645186"/>
              <a:gd name="csX6" fmla="*/ 3048000 w 3879850"/>
              <a:gd name="csY6" fmla="*/ 187320 h 2645186"/>
              <a:gd name="csX7" fmla="*/ 3067050 w 3879850"/>
              <a:gd name="csY7" fmla="*/ 2447920 h 2645186"/>
              <a:gd name="csX8" fmla="*/ 3149600 w 3879850"/>
              <a:gd name="csY8" fmla="*/ 2536820 h 2645186"/>
              <a:gd name="csX9" fmla="*/ 3879850 w 3879850"/>
              <a:gd name="csY9" fmla="*/ 2517770 h 2645186"/>
              <a:gd name="csX0" fmla="*/ 0 w 3879850"/>
              <a:gd name="csY0" fmla="*/ 2225670 h 2645186"/>
              <a:gd name="csX1" fmla="*/ 711200 w 3879850"/>
              <a:gd name="csY1" fmla="*/ 2212970 h 2645186"/>
              <a:gd name="csX2" fmla="*/ 806450 w 3879850"/>
              <a:gd name="csY2" fmla="*/ 2149470 h 2645186"/>
              <a:gd name="csX3" fmla="*/ 806450 w 3879850"/>
              <a:gd name="csY3" fmla="*/ 295270 h 2645186"/>
              <a:gd name="csX4" fmla="*/ 901700 w 3879850"/>
              <a:gd name="csY4" fmla="*/ 174620 h 2645186"/>
              <a:gd name="csX5" fmla="*/ 2914650 w 3879850"/>
              <a:gd name="csY5" fmla="*/ 130170 h 2645186"/>
              <a:gd name="csX6" fmla="*/ 3048000 w 3879850"/>
              <a:gd name="csY6" fmla="*/ 187320 h 2645186"/>
              <a:gd name="csX7" fmla="*/ 3067050 w 3879850"/>
              <a:gd name="csY7" fmla="*/ 2447920 h 2645186"/>
              <a:gd name="csX8" fmla="*/ 3149600 w 3879850"/>
              <a:gd name="csY8" fmla="*/ 2536820 h 2645186"/>
              <a:gd name="csX9" fmla="*/ 3879850 w 3879850"/>
              <a:gd name="csY9" fmla="*/ 2517770 h 2645186"/>
              <a:gd name="csX0" fmla="*/ 0 w 3879850"/>
              <a:gd name="csY0" fmla="*/ 2225670 h 2645186"/>
              <a:gd name="csX1" fmla="*/ 711200 w 3879850"/>
              <a:gd name="csY1" fmla="*/ 2212970 h 2645186"/>
              <a:gd name="csX2" fmla="*/ 806450 w 3879850"/>
              <a:gd name="csY2" fmla="*/ 2149470 h 2645186"/>
              <a:gd name="csX3" fmla="*/ 806450 w 3879850"/>
              <a:gd name="csY3" fmla="*/ 295270 h 2645186"/>
              <a:gd name="csX4" fmla="*/ 901700 w 3879850"/>
              <a:gd name="csY4" fmla="*/ 174620 h 2645186"/>
              <a:gd name="csX5" fmla="*/ 2914650 w 3879850"/>
              <a:gd name="csY5" fmla="*/ 130170 h 2645186"/>
              <a:gd name="csX6" fmla="*/ 3048000 w 3879850"/>
              <a:gd name="csY6" fmla="*/ 187320 h 2645186"/>
              <a:gd name="csX7" fmla="*/ 3067050 w 3879850"/>
              <a:gd name="csY7" fmla="*/ 2447920 h 2645186"/>
              <a:gd name="csX8" fmla="*/ 3149600 w 3879850"/>
              <a:gd name="csY8" fmla="*/ 2536820 h 2645186"/>
              <a:gd name="csX9" fmla="*/ 3879850 w 3879850"/>
              <a:gd name="csY9" fmla="*/ 2517770 h 2645186"/>
              <a:gd name="csX0" fmla="*/ 0 w 3879850"/>
              <a:gd name="csY0" fmla="*/ 2218513 h 2638029"/>
              <a:gd name="csX1" fmla="*/ 711200 w 3879850"/>
              <a:gd name="csY1" fmla="*/ 2205813 h 2638029"/>
              <a:gd name="csX2" fmla="*/ 806450 w 3879850"/>
              <a:gd name="csY2" fmla="*/ 2142313 h 2638029"/>
              <a:gd name="csX3" fmla="*/ 806450 w 3879850"/>
              <a:gd name="csY3" fmla="*/ 288113 h 2638029"/>
              <a:gd name="csX4" fmla="*/ 901700 w 3879850"/>
              <a:gd name="csY4" fmla="*/ 167463 h 2638029"/>
              <a:gd name="csX5" fmla="*/ 2914650 w 3879850"/>
              <a:gd name="csY5" fmla="*/ 123013 h 2638029"/>
              <a:gd name="csX6" fmla="*/ 3048000 w 3879850"/>
              <a:gd name="csY6" fmla="*/ 180163 h 2638029"/>
              <a:gd name="csX7" fmla="*/ 3067050 w 3879850"/>
              <a:gd name="csY7" fmla="*/ 2440763 h 2638029"/>
              <a:gd name="csX8" fmla="*/ 3149600 w 3879850"/>
              <a:gd name="csY8" fmla="*/ 2529663 h 2638029"/>
              <a:gd name="csX9" fmla="*/ 3879850 w 3879850"/>
              <a:gd name="csY9" fmla="*/ 2510613 h 2638029"/>
              <a:gd name="csX0" fmla="*/ 0 w 3879850"/>
              <a:gd name="csY0" fmla="*/ 2191590 h 2607644"/>
              <a:gd name="csX1" fmla="*/ 711200 w 3879850"/>
              <a:gd name="csY1" fmla="*/ 2178890 h 2607644"/>
              <a:gd name="csX2" fmla="*/ 806450 w 3879850"/>
              <a:gd name="csY2" fmla="*/ 2115390 h 2607644"/>
              <a:gd name="csX3" fmla="*/ 806450 w 3879850"/>
              <a:gd name="csY3" fmla="*/ 261190 h 2607644"/>
              <a:gd name="csX4" fmla="*/ 901700 w 3879850"/>
              <a:gd name="csY4" fmla="*/ 140540 h 2607644"/>
              <a:gd name="csX5" fmla="*/ 2914650 w 3879850"/>
              <a:gd name="csY5" fmla="*/ 96090 h 2607644"/>
              <a:gd name="csX6" fmla="*/ 3054350 w 3879850"/>
              <a:gd name="csY6" fmla="*/ 200865 h 2607644"/>
              <a:gd name="csX7" fmla="*/ 3067050 w 3879850"/>
              <a:gd name="csY7" fmla="*/ 2413840 h 2607644"/>
              <a:gd name="csX8" fmla="*/ 3149600 w 3879850"/>
              <a:gd name="csY8" fmla="*/ 2502740 h 2607644"/>
              <a:gd name="csX9" fmla="*/ 3879850 w 3879850"/>
              <a:gd name="csY9" fmla="*/ 2483690 h 2607644"/>
              <a:gd name="csX0" fmla="*/ 0 w 3879850"/>
              <a:gd name="csY0" fmla="*/ 2102354 h 2518408"/>
              <a:gd name="csX1" fmla="*/ 711200 w 3879850"/>
              <a:gd name="csY1" fmla="*/ 2089654 h 2518408"/>
              <a:gd name="csX2" fmla="*/ 806450 w 3879850"/>
              <a:gd name="csY2" fmla="*/ 2026154 h 2518408"/>
              <a:gd name="csX3" fmla="*/ 806450 w 3879850"/>
              <a:gd name="csY3" fmla="*/ 171954 h 2518408"/>
              <a:gd name="csX4" fmla="*/ 901700 w 3879850"/>
              <a:gd name="csY4" fmla="*/ 51304 h 2518408"/>
              <a:gd name="csX5" fmla="*/ 2914650 w 3879850"/>
              <a:gd name="csY5" fmla="*/ 6854 h 2518408"/>
              <a:gd name="csX6" fmla="*/ 3054350 w 3879850"/>
              <a:gd name="csY6" fmla="*/ 111629 h 2518408"/>
              <a:gd name="csX7" fmla="*/ 3067050 w 3879850"/>
              <a:gd name="csY7" fmla="*/ 2324604 h 2518408"/>
              <a:gd name="csX8" fmla="*/ 3149600 w 3879850"/>
              <a:gd name="csY8" fmla="*/ 2413504 h 2518408"/>
              <a:gd name="csX9" fmla="*/ 3879850 w 3879850"/>
              <a:gd name="csY9" fmla="*/ 2394454 h 2518408"/>
              <a:gd name="csX0" fmla="*/ 0 w 3879850"/>
              <a:gd name="csY0" fmla="*/ 2131962 h 2548016"/>
              <a:gd name="csX1" fmla="*/ 711200 w 3879850"/>
              <a:gd name="csY1" fmla="*/ 2119262 h 2548016"/>
              <a:gd name="csX2" fmla="*/ 806450 w 3879850"/>
              <a:gd name="csY2" fmla="*/ 2055762 h 2548016"/>
              <a:gd name="csX3" fmla="*/ 806450 w 3879850"/>
              <a:gd name="csY3" fmla="*/ 201562 h 2548016"/>
              <a:gd name="csX4" fmla="*/ 901700 w 3879850"/>
              <a:gd name="csY4" fmla="*/ 80912 h 2548016"/>
              <a:gd name="csX5" fmla="*/ 2914650 w 3879850"/>
              <a:gd name="csY5" fmla="*/ 36462 h 2548016"/>
              <a:gd name="csX6" fmla="*/ 3054350 w 3879850"/>
              <a:gd name="csY6" fmla="*/ 141237 h 2548016"/>
              <a:gd name="csX7" fmla="*/ 3067050 w 3879850"/>
              <a:gd name="csY7" fmla="*/ 2354212 h 2548016"/>
              <a:gd name="csX8" fmla="*/ 3149600 w 3879850"/>
              <a:gd name="csY8" fmla="*/ 2443112 h 2548016"/>
              <a:gd name="csX9" fmla="*/ 3879850 w 3879850"/>
              <a:gd name="csY9" fmla="*/ 2424062 h 2548016"/>
              <a:gd name="csX0" fmla="*/ 0 w 3879850"/>
              <a:gd name="csY0" fmla="*/ 2131962 h 2543696"/>
              <a:gd name="csX1" fmla="*/ 711200 w 3879850"/>
              <a:gd name="csY1" fmla="*/ 2119262 h 2543696"/>
              <a:gd name="csX2" fmla="*/ 806450 w 3879850"/>
              <a:gd name="csY2" fmla="*/ 2055762 h 2543696"/>
              <a:gd name="csX3" fmla="*/ 806450 w 3879850"/>
              <a:gd name="csY3" fmla="*/ 201562 h 2543696"/>
              <a:gd name="csX4" fmla="*/ 901700 w 3879850"/>
              <a:gd name="csY4" fmla="*/ 80912 h 2543696"/>
              <a:gd name="csX5" fmla="*/ 2914650 w 3879850"/>
              <a:gd name="csY5" fmla="*/ 36462 h 2543696"/>
              <a:gd name="csX6" fmla="*/ 3054350 w 3879850"/>
              <a:gd name="csY6" fmla="*/ 141237 h 2543696"/>
              <a:gd name="csX7" fmla="*/ 3067050 w 3879850"/>
              <a:gd name="csY7" fmla="*/ 2354212 h 2543696"/>
              <a:gd name="csX8" fmla="*/ 3149600 w 3879850"/>
              <a:gd name="csY8" fmla="*/ 2443112 h 2543696"/>
              <a:gd name="csX9" fmla="*/ 3879850 w 3879850"/>
              <a:gd name="csY9" fmla="*/ 2424062 h 2543696"/>
              <a:gd name="csX0" fmla="*/ 0 w 3879850"/>
              <a:gd name="csY0" fmla="*/ 2131962 h 2447205"/>
              <a:gd name="csX1" fmla="*/ 711200 w 3879850"/>
              <a:gd name="csY1" fmla="*/ 2119262 h 2447205"/>
              <a:gd name="csX2" fmla="*/ 806450 w 3879850"/>
              <a:gd name="csY2" fmla="*/ 2055762 h 2447205"/>
              <a:gd name="csX3" fmla="*/ 806450 w 3879850"/>
              <a:gd name="csY3" fmla="*/ 201562 h 2447205"/>
              <a:gd name="csX4" fmla="*/ 901700 w 3879850"/>
              <a:gd name="csY4" fmla="*/ 80912 h 2447205"/>
              <a:gd name="csX5" fmla="*/ 2914650 w 3879850"/>
              <a:gd name="csY5" fmla="*/ 36462 h 2447205"/>
              <a:gd name="csX6" fmla="*/ 3054350 w 3879850"/>
              <a:gd name="csY6" fmla="*/ 141237 h 2447205"/>
              <a:gd name="csX7" fmla="*/ 3067050 w 3879850"/>
              <a:gd name="csY7" fmla="*/ 2354212 h 2447205"/>
              <a:gd name="csX8" fmla="*/ 3149600 w 3879850"/>
              <a:gd name="csY8" fmla="*/ 2443112 h 2447205"/>
              <a:gd name="csX9" fmla="*/ 3879850 w 3879850"/>
              <a:gd name="csY9" fmla="*/ 2424062 h 2447205"/>
              <a:gd name="csX0" fmla="*/ 0 w 3879850"/>
              <a:gd name="csY0" fmla="*/ 2131962 h 2447205"/>
              <a:gd name="csX1" fmla="*/ 711200 w 3879850"/>
              <a:gd name="csY1" fmla="*/ 2119262 h 2447205"/>
              <a:gd name="csX2" fmla="*/ 806450 w 3879850"/>
              <a:gd name="csY2" fmla="*/ 2055762 h 2447205"/>
              <a:gd name="csX3" fmla="*/ 806450 w 3879850"/>
              <a:gd name="csY3" fmla="*/ 201562 h 2447205"/>
              <a:gd name="csX4" fmla="*/ 901700 w 3879850"/>
              <a:gd name="csY4" fmla="*/ 80912 h 2447205"/>
              <a:gd name="csX5" fmla="*/ 2914650 w 3879850"/>
              <a:gd name="csY5" fmla="*/ 36462 h 2447205"/>
              <a:gd name="csX6" fmla="*/ 3054350 w 3879850"/>
              <a:gd name="csY6" fmla="*/ 141237 h 2447205"/>
              <a:gd name="csX7" fmla="*/ 3067050 w 3879850"/>
              <a:gd name="csY7" fmla="*/ 2354212 h 2447205"/>
              <a:gd name="csX8" fmla="*/ 3149600 w 3879850"/>
              <a:gd name="csY8" fmla="*/ 2443112 h 2447205"/>
              <a:gd name="csX9" fmla="*/ 3879850 w 3879850"/>
              <a:gd name="csY9" fmla="*/ 2424062 h 2447205"/>
              <a:gd name="csX0" fmla="*/ 0 w 3879850"/>
              <a:gd name="csY0" fmla="*/ 2113626 h 2428869"/>
              <a:gd name="csX1" fmla="*/ 711200 w 3879850"/>
              <a:gd name="csY1" fmla="*/ 2100926 h 2428869"/>
              <a:gd name="csX2" fmla="*/ 806450 w 3879850"/>
              <a:gd name="csY2" fmla="*/ 2037426 h 2428869"/>
              <a:gd name="csX3" fmla="*/ 806450 w 3879850"/>
              <a:gd name="csY3" fmla="*/ 183226 h 2428869"/>
              <a:gd name="csX4" fmla="*/ 901700 w 3879850"/>
              <a:gd name="csY4" fmla="*/ 62576 h 2428869"/>
              <a:gd name="csX5" fmla="*/ 2914650 w 3879850"/>
              <a:gd name="csY5" fmla="*/ 18126 h 2428869"/>
              <a:gd name="csX6" fmla="*/ 3054350 w 3879850"/>
              <a:gd name="csY6" fmla="*/ 122901 h 2428869"/>
              <a:gd name="csX7" fmla="*/ 3067050 w 3879850"/>
              <a:gd name="csY7" fmla="*/ 2335876 h 2428869"/>
              <a:gd name="csX8" fmla="*/ 3149600 w 3879850"/>
              <a:gd name="csY8" fmla="*/ 2424776 h 2428869"/>
              <a:gd name="csX9" fmla="*/ 3879850 w 3879850"/>
              <a:gd name="csY9" fmla="*/ 2405726 h 2428869"/>
              <a:gd name="csX0" fmla="*/ 0 w 6584950"/>
              <a:gd name="csY0" fmla="*/ 2113626 h 2427953"/>
              <a:gd name="csX1" fmla="*/ 711200 w 6584950"/>
              <a:gd name="csY1" fmla="*/ 2100926 h 2427953"/>
              <a:gd name="csX2" fmla="*/ 806450 w 6584950"/>
              <a:gd name="csY2" fmla="*/ 2037426 h 2427953"/>
              <a:gd name="csX3" fmla="*/ 806450 w 6584950"/>
              <a:gd name="csY3" fmla="*/ 183226 h 2427953"/>
              <a:gd name="csX4" fmla="*/ 901700 w 6584950"/>
              <a:gd name="csY4" fmla="*/ 62576 h 2427953"/>
              <a:gd name="csX5" fmla="*/ 2914650 w 6584950"/>
              <a:gd name="csY5" fmla="*/ 18126 h 2427953"/>
              <a:gd name="csX6" fmla="*/ 3054350 w 6584950"/>
              <a:gd name="csY6" fmla="*/ 122901 h 2427953"/>
              <a:gd name="csX7" fmla="*/ 3067050 w 6584950"/>
              <a:gd name="csY7" fmla="*/ 2335876 h 2427953"/>
              <a:gd name="csX8" fmla="*/ 3149600 w 6584950"/>
              <a:gd name="csY8" fmla="*/ 2424776 h 2427953"/>
              <a:gd name="csX9" fmla="*/ 6584950 w 6584950"/>
              <a:gd name="csY9" fmla="*/ 2398106 h 2427953"/>
              <a:gd name="csX0" fmla="*/ 0 w 6745175"/>
              <a:gd name="csY0" fmla="*/ 2113626 h 2459574"/>
              <a:gd name="csX1" fmla="*/ 711200 w 6745175"/>
              <a:gd name="csY1" fmla="*/ 2100926 h 2459574"/>
              <a:gd name="csX2" fmla="*/ 806450 w 6745175"/>
              <a:gd name="csY2" fmla="*/ 2037426 h 2459574"/>
              <a:gd name="csX3" fmla="*/ 806450 w 6745175"/>
              <a:gd name="csY3" fmla="*/ 183226 h 2459574"/>
              <a:gd name="csX4" fmla="*/ 901700 w 6745175"/>
              <a:gd name="csY4" fmla="*/ 62576 h 2459574"/>
              <a:gd name="csX5" fmla="*/ 2914650 w 6745175"/>
              <a:gd name="csY5" fmla="*/ 18126 h 2459574"/>
              <a:gd name="csX6" fmla="*/ 3054350 w 6745175"/>
              <a:gd name="csY6" fmla="*/ 122901 h 2459574"/>
              <a:gd name="csX7" fmla="*/ 3067050 w 6745175"/>
              <a:gd name="csY7" fmla="*/ 2335876 h 2459574"/>
              <a:gd name="csX8" fmla="*/ 3149600 w 6745175"/>
              <a:gd name="csY8" fmla="*/ 2424776 h 2459574"/>
              <a:gd name="csX9" fmla="*/ 6459220 w 6745175"/>
              <a:gd name="csY9" fmla="*/ 2459066 h 2459574"/>
              <a:gd name="csX10" fmla="*/ 6584950 w 6745175"/>
              <a:gd name="csY10" fmla="*/ 2398106 h 2459574"/>
              <a:gd name="csX0" fmla="*/ 0 w 6587094"/>
              <a:gd name="csY0" fmla="*/ 2113626 h 2459574"/>
              <a:gd name="csX1" fmla="*/ 711200 w 6587094"/>
              <a:gd name="csY1" fmla="*/ 2100926 h 2459574"/>
              <a:gd name="csX2" fmla="*/ 806450 w 6587094"/>
              <a:gd name="csY2" fmla="*/ 2037426 h 2459574"/>
              <a:gd name="csX3" fmla="*/ 806450 w 6587094"/>
              <a:gd name="csY3" fmla="*/ 183226 h 2459574"/>
              <a:gd name="csX4" fmla="*/ 901700 w 6587094"/>
              <a:gd name="csY4" fmla="*/ 62576 h 2459574"/>
              <a:gd name="csX5" fmla="*/ 2914650 w 6587094"/>
              <a:gd name="csY5" fmla="*/ 18126 h 2459574"/>
              <a:gd name="csX6" fmla="*/ 3054350 w 6587094"/>
              <a:gd name="csY6" fmla="*/ 122901 h 2459574"/>
              <a:gd name="csX7" fmla="*/ 3067050 w 6587094"/>
              <a:gd name="csY7" fmla="*/ 2335876 h 2459574"/>
              <a:gd name="csX8" fmla="*/ 3149600 w 6587094"/>
              <a:gd name="csY8" fmla="*/ 2424776 h 2459574"/>
              <a:gd name="csX9" fmla="*/ 6459220 w 6587094"/>
              <a:gd name="csY9" fmla="*/ 2459066 h 2459574"/>
              <a:gd name="csX10" fmla="*/ 5515769 w 6587094"/>
              <a:gd name="csY10" fmla="*/ 1955194 h 2459574"/>
              <a:gd name="csX0" fmla="*/ 0 w 6678521"/>
              <a:gd name="csY0" fmla="*/ 2113626 h 2482561"/>
              <a:gd name="csX1" fmla="*/ 711200 w 6678521"/>
              <a:gd name="csY1" fmla="*/ 2100926 h 2482561"/>
              <a:gd name="csX2" fmla="*/ 806450 w 6678521"/>
              <a:gd name="csY2" fmla="*/ 2037426 h 2482561"/>
              <a:gd name="csX3" fmla="*/ 806450 w 6678521"/>
              <a:gd name="csY3" fmla="*/ 183226 h 2482561"/>
              <a:gd name="csX4" fmla="*/ 901700 w 6678521"/>
              <a:gd name="csY4" fmla="*/ 62576 h 2482561"/>
              <a:gd name="csX5" fmla="*/ 2914650 w 6678521"/>
              <a:gd name="csY5" fmla="*/ 18126 h 2482561"/>
              <a:gd name="csX6" fmla="*/ 3054350 w 6678521"/>
              <a:gd name="csY6" fmla="*/ 122901 h 2482561"/>
              <a:gd name="csX7" fmla="*/ 3067050 w 6678521"/>
              <a:gd name="csY7" fmla="*/ 2335876 h 2482561"/>
              <a:gd name="csX8" fmla="*/ 3149600 w 6678521"/>
              <a:gd name="csY8" fmla="*/ 2424776 h 2482561"/>
              <a:gd name="csX9" fmla="*/ 6459220 w 6678521"/>
              <a:gd name="csY9" fmla="*/ 2459066 h 2482561"/>
              <a:gd name="csX10" fmla="*/ 6420644 w 6678521"/>
              <a:gd name="csY10" fmla="*/ 1958050 h 2482561"/>
              <a:gd name="csX11" fmla="*/ 5515769 w 6678521"/>
              <a:gd name="csY11" fmla="*/ 1955194 h 2482561"/>
              <a:gd name="csX0" fmla="*/ 0 w 6731460"/>
              <a:gd name="csY0" fmla="*/ 2113626 h 2482903"/>
              <a:gd name="csX1" fmla="*/ 711200 w 6731460"/>
              <a:gd name="csY1" fmla="*/ 2100926 h 2482903"/>
              <a:gd name="csX2" fmla="*/ 806450 w 6731460"/>
              <a:gd name="csY2" fmla="*/ 2037426 h 2482903"/>
              <a:gd name="csX3" fmla="*/ 806450 w 6731460"/>
              <a:gd name="csY3" fmla="*/ 183226 h 2482903"/>
              <a:gd name="csX4" fmla="*/ 901700 w 6731460"/>
              <a:gd name="csY4" fmla="*/ 62576 h 2482903"/>
              <a:gd name="csX5" fmla="*/ 2914650 w 6731460"/>
              <a:gd name="csY5" fmla="*/ 18126 h 2482903"/>
              <a:gd name="csX6" fmla="*/ 3054350 w 6731460"/>
              <a:gd name="csY6" fmla="*/ 122901 h 2482903"/>
              <a:gd name="csX7" fmla="*/ 3067050 w 6731460"/>
              <a:gd name="csY7" fmla="*/ 2335876 h 2482903"/>
              <a:gd name="csX8" fmla="*/ 3149600 w 6731460"/>
              <a:gd name="csY8" fmla="*/ 2424776 h 2482903"/>
              <a:gd name="csX9" fmla="*/ 6459220 w 6731460"/>
              <a:gd name="csY9" fmla="*/ 2459066 h 2482903"/>
              <a:gd name="csX10" fmla="*/ 6532563 w 6731460"/>
              <a:gd name="csY10" fmla="*/ 2017581 h 2482903"/>
              <a:gd name="csX11" fmla="*/ 6420644 w 6731460"/>
              <a:gd name="csY11" fmla="*/ 1958050 h 2482903"/>
              <a:gd name="csX12" fmla="*/ 5515769 w 6731460"/>
              <a:gd name="csY12" fmla="*/ 1955194 h 2482903"/>
              <a:gd name="csX0" fmla="*/ 0 w 6733953"/>
              <a:gd name="csY0" fmla="*/ 2113626 h 2461477"/>
              <a:gd name="csX1" fmla="*/ 711200 w 6733953"/>
              <a:gd name="csY1" fmla="*/ 2100926 h 2461477"/>
              <a:gd name="csX2" fmla="*/ 806450 w 6733953"/>
              <a:gd name="csY2" fmla="*/ 2037426 h 2461477"/>
              <a:gd name="csX3" fmla="*/ 806450 w 6733953"/>
              <a:gd name="csY3" fmla="*/ 183226 h 2461477"/>
              <a:gd name="csX4" fmla="*/ 901700 w 6733953"/>
              <a:gd name="csY4" fmla="*/ 62576 h 2461477"/>
              <a:gd name="csX5" fmla="*/ 2914650 w 6733953"/>
              <a:gd name="csY5" fmla="*/ 18126 h 2461477"/>
              <a:gd name="csX6" fmla="*/ 3054350 w 6733953"/>
              <a:gd name="csY6" fmla="*/ 122901 h 2461477"/>
              <a:gd name="csX7" fmla="*/ 3067050 w 6733953"/>
              <a:gd name="csY7" fmla="*/ 2335876 h 2461477"/>
              <a:gd name="csX8" fmla="*/ 3149600 w 6733953"/>
              <a:gd name="csY8" fmla="*/ 2424776 h 2461477"/>
              <a:gd name="csX9" fmla="*/ 6459220 w 6733953"/>
              <a:gd name="csY9" fmla="*/ 2459066 h 2461477"/>
              <a:gd name="csX10" fmla="*/ 6525418 w 6733953"/>
              <a:gd name="csY10" fmla="*/ 2408106 h 2461477"/>
              <a:gd name="csX11" fmla="*/ 6532563 w 6733953"/>
              <a:gd name="csY11" fmla="*/ 2017581 h 2461477"/>
              <a:gd name="csX12" fmla="*/ 6420644 w 6733953"/>
              <a:gd name="csY12" fmla="*/ 1958050 h 2461477"/>
              <a:gd name="csX13" fmla="*/ 5515769 w 6733953"/>
              <a:gd name="csY13" fmla="*/ 1955194 h 2461477"/>
              <a:gd name="csX0" fmla="*/ 0 w 6733953"/>
              <a:gd name="csY0" fmla="*/ 2113626 h 2461477"/>
              <a:gd name="csX1" fmla="*/ 711200 w 6733953"/>
              <a:gd name="csY1" fmla="*/ 2100926 h 2461477"/>
              <a:gd name="csX2" fmla="*/ 806450 w 6733953"/>
              <a:gd name="csY2" fmla="*/ 2037426 h 2461477"/>
              <a:gd name="csX3" fmla="*/ 806450 w 6733953"/>
              <a:gd name="csY3" fmla="*/ 183226 h 2461477"/>
              <a:gd name="csX4" fmla="*/ 901700 w 6733953"/>
              <a:gd name="csY4" fmla="*/ 62576 h 2461477"/>
              <a:gd name="csX5" fmla="*/ 2914650 w 6733953"/>
              <a:gd name="csY5" fmla="*/ 18126 h 2461477"/>
              <a:gd name="csX6" fmla="*/ 3054350 w 6733953"/>
              <a:gd name="csY6" fmla="*/ 122901 h 2461477"/>
              <a:gd name="csX7" fmla="*/ 3067050 w 6733953"/>
              <a:gd name="csY7" fmla="*/ 2335876 h 2461477"/>
              <a:gd name="csX8" fmla="*/ 3149600 w 6733953"/>
              <a:gd name="csY8" fmla="*/ 2424776 h 2461477"/>
              <a:gd name="csX9" fmla="*/ 6459220 w 6733953"/>
              <a:gd name="csY9" fmla="*/ 2459066 h 2461477"/>
              <a:gd name="csX10" fmla="*/ 6525418 w 6733953"/>
              <a:gd name="csY10" fmla="*/ 2408106 h 2461477"/>
              <a:gd name="csX11" fmla="*/ 6532563 w 6733953"/>
              <a:gd name="csY11" fmla="*/ 2017581 h 2461477"/>
              <a:gd name="csX12" fmla="*/ 6420644 w 6733953"/>
              <a:gd name="csY12" fmla="*/ 1958050 h 2461477"/>
              <a:gd name="csX13" fmla="*/ 5515769 w 6733953"/>
              <a:gd name="csY13" fmla="*/ 1955194 h 2461477"/>
              <a:gd name="csX0" fmla="*/ 0 w 6733953"/>
              <a:gd name="csY0" fmla="*/ 2113626 h 2461477"/>
              <a:gd name="csX1" fmla="*/ 711200 w 6733953"/>
              <a:gd name="csY1" fmla="*/ 2100926 h 2461477"/>
              <a:gd name="csX2" fmla="*/ 806450 w 6733953"/>
              <a:gd name="csY2" fmla="*/ 2037426 h 2461477"/>
              <a:gd name="csX3" fmla="*/ 806450 w 6733953"/>
              <a:gd name="csY3" fmla="*/ 183226 h 2461477"/>
              <a:gd name="csX4" fmla="*/ 901700 w 6733953"/>
              <a:gd name="csY4" fmla="*/ 62576 h 2461477"/>
              <a:gd name="csX5" fmla="*/ 2914650 w 6733953"/>
              <a:gd name="csY5" fmla="*/ 18126 h 2461477"/>
              <a:gd name="csX6" fmla="*/ 3054350 w 6733953"/>
              <a:gd name="csY6" fmla="*/ 122901 h 2461477"/>
              <a:gd name="csX7" fmla="*/ 3067050 w 6733953"/>
              <a:gd name="csY7" fmla="*/ 2335876 h 2461477"/>
              <a:gd name="csX8" fmla="*/ 3149600 w 6733953"/>
              <a:gd name="csY8" fmla="*/ 2424776 h 2461477"/>
              <a:gd name="csX9" fmla="*/ 6459220 w 6733953"/>
              <a:gd name="csY9" fmla="*/ 2459066 h 2461477"/>
              <a:gd name="csX10" fmla="*/ 6525418 w 6733953"/>
              <a:gd name="csY10" fmla="*/ 2408106 h 2461477"/>
              <a:gd name="csX11" fmla="*/ 6532563 w 6733953"/>
              <a:gd name="csY11" fmla="*/ 2017581 h 2461477"/>
              <a:gd name="csX12" fmla="*/ 6420644 w 6733953"/>
              <a:gd name="csY12" fmla="*/ 1958050 h 2461477"/>
              <a:gd name="csX13" fmla="*/ 5515769 w 6733953"/>
              <a:gd name="csY13" fmla="*/ 1955194 h 2461477"/>
              <a:gd name="csX0" fmla="*/ 0 w 6733953"/>
              <a:gd name="csY0" fmla="*/ 2113626 h 2461477"/>
              <a:gd name="csX1" fmla="*/ 711200 w 6733953"/>
              <a:gd name="csY1" fmla="*/ 2100926 h 2461477"/>
              <a:gd name="csX2" fmla="*/ 806450 w 6733953"/>
              <a:gd name="csY2" fmla="*/ 2037426 h 2461477"/>
              <a:gd name="csX3" fmla="*/ 806450 w 6733953"/>
              <a:gd name="csY3" fmla="*/ 183226 h 2461477"/>
              <a:gd name="csX4" fmla="*/ 901700 w 6733953"/>
              <a:gd name="csY4" fmla="*/ 62576 h 2461477"/>
              <a:gd name="csX5" fmla="*/ 2914650 w 6733953"/>
              <a:gd name="csY5" fmla="*/ 18126 h 2461477"/>
              <a:gd name="csX6" fmla="*/ 3054350 w 6733953"/>
              <a:gd name="csY6" fmla="*/ 122901 h 2461477"/>
              <a:gd name="csX7" fmla="*/ 3067050 w 6733953"/>
              <a:gd name="csY7" fmla="*/ 2335876 h 2461477"/>
              <a:gd name="csX8" fmla="*/ 3149600 w 6733953"/>
              <a:gd name="csY8" fmla="*/ 2424776 h 2461477"/>
              <a:gd name="csX9" fmla="*/ 6459220 w 6733953"/>
              <a:gd name="csY9" fmla="*/ 2459066 h 2461477"/>
              <a:gd name="csX10" fmla="*/ 6525418 w 6733953"/>
              <a:gd name="csY10" fmla="*/ 2408106 h 2461477"/>
              <a:gd name="csX11" fmla="*/ 6532563 w 6733953"/>
              <a:gd name="csY11" fmla="*/ 2017581 h 2461477"/>
              <a:gd name="csX12" fmla="*/ 6420644 w 6733953"/>
              <a:gd name="csY12" fmla="*/ 1958050 h 2461477"/>
              <a:gd name="csX13" fmla="*/ 5515769 w 6733953"/>
              <a:gd name="csY13" fmla="*/ 1955194 h 2461477"/>
              <a:gd name="csX0" fmla="*/ 0 w 6733953"/>
              <a:gd name="csY0" fmla="*/ 2113626 h 2461477"/>
              <a:gd name="csX1" fmla="*/ 711200 w 6733953"/>
              <a:gd name="csY1" fmla="*/ 2100926 h 2461477"/>
              <a:gd name="csX2" fmla="*/ 806450 w 6733953"/>
              <a:gd name="csY2" fmla="*/ 2037426 h 2461477"/>
              <a:gd name="csX3" fmla="*/ 806450 w 6733953"/>
              <a:gd name="csY3" fmla="*/ 183226 h 2461477"/>
              <a:gd name="csX4" fmla="*/ 901700 w 6733953"/>
              <a:gd name="csY4" fmla="*/ 62576 h 2461477"/>
              <a:gd name="csX5" fmla="*/ 2914650 w 6733953"/>
              <a:gd name="csY5" fmla="*/ 18126 h 2461477"/>
              <a:gd name="csX6" fmla="*/ 3054350 w 6733953"/>
              <a:gd name="csY6" fmla="*/ 122901 h 2461477"/>
              <a:gd name="csX7" fmla="*/ 3067050 w 6733953"/>
              <a:gd name="csY7" fmla="*/ 2335876 h 2461477"/>
              <a:gd name="csX8" fmla="*/ 3149600 w 6733953"/>
              <a:gd name="csY8" fmla="*/ 2424776 h 2461477"/>
              <a:gd name="csX9" fmla="*/ 6459220 w 6733953"/>
              <a:gd name="csY9" fmla="*/ 2459066 h 2461477"/>
              <a:gd name="csX10" fmla="*/ 6525418 w 6733953"/>
              <a:gd name="csY10" fmla="*/ 2408106 h 2461477"/>
              <a:gd name="csX11" fmla="*/ 6532563 w 6733953"/>
              <a:gd name="csY11" fmla="*/ 2017581 h 2461477"/>
              <a:gd name="csX12" fmla="*/ 6420644 w 6733953"/>
              <a:gd name="csY12" fmla="*/ 1958050 h 2461477"/>
              <a:gd name="csX13" fmla="*/ 5515769 w 6733953"/>
              <a:gd name="csY13" fmla="*/ 1955194 h 2461477"/>
              <a:gd name="csX0" fmla="*/ 0 w 6733953"/>
              <a:gd name="csY0" fmla="*/ 2113626 h 2461477"/>
              <a:gd name="csX1" fmla="*/ 711200 w 6733953"/>
              <a:gd name="csY1" fmla="*/ 2100926 h 2461477"/>
              <a:gd name="csX2" fmla="*/ 806450 w 6733953"/>
              <a:gd name="csY2" fmla="*/ 2037426 h 2461477"/>
              <a:gd name="csX3" fmla="*/ 806450 w 6733953"/>
              <a:gd name="csY3" fmla="*/ 183226 h 2461477"/>
              <a:gd name="csX4" fmla="*/ 901700 w 6733953"/>
              <a:gd name="csY4" fmla="*/ 62576 h 2461477"/>
              <a:gd name="csX5" fmla="*/ 2914650 w 6733953"/>
              <a:gd name="csY5" fmla="*/ 18126 h 2461477"/>
              <a:gd name="csX6" fmla="*/ 3054350 w 6733953"/>
              <a:gd name="csY6" fmla="*/ 122901 h 2461477"/>
              <a:gd name="csX7" fmla="*/ 3067050 w 6733953"/>
              <a:gd name="csY7" fmla="*/ 2335876 h 2461477"/>
              <a:gd name="csX8" fmla="*/ 3149600 w 6733953"/>
              <a:gd name="csY8" fmla="*/ 2424776 h 2461477"/>
              <a:gd name="csX9" fmla="*/ 6459220 w 6733953"/>
              <a:gd name="csY9" fmla="*/ 2459066 h 2461477"/>
              <a:gd name="csX10" fmla="*/ 6525418 w 6733953"/>
              <a:gd name="csY10" fmla="*/ 2408106 h 2461477"/>
              <a:gd name="csX11" fmla="*/ 6532563 w 6733953"/>
              <a:gd name="csY11" fmla="*/ 2017581 h 2461477"/>
              <a:gd name="csX12" fmla="*/ 6420644 w 6733953"/>
              <a:gd name="csY12" fmla="*/ 1958050 h 2461477"/>
              <a:gd name="csX13" fmla="*/ 5515769 w 6733953"/>
              <a:gd name="csY13" fmla="*/ 1955194 h 2461477"/>
              <a:gd name="csX0" fmla="*/ 0 w 6733953"/>
              <a:gd name="csY0" fmla="*/ 2113626 h 2461477"/>
              <a:gd name="csX1" fmla="*/ 711200 w 6733953"/>
              <a:gd name="csY1" fmla="*/ 2100926 h 2461477"/>
              <a:gd name="csX2" fmla="*/ 806450 w 6733953"/>
              <a:gd name="csY2" fmla="*/ 2037426 h 2461477"/>
              <a:gd name="csX3" fmla="*/ 806450 w 6733953"/>
              <a:gd name="csY3" fmla="*/ 183226 h 2461477"/>
              <a:gd name="csX4" fmla="*/ 901700 w 6733953"/>
              <a:gd name="csY4" fmla="*/ 62576 h 2461477"/>
              <a:gd name="csX5" fmla="*/ 2914650 w 6733953"/>
              <a:gd name="csY5" fmla="*/ 18126 h 2461477"/>
              <a:gd name="csX6" fmla="*/ 3054350 w 6733953"/>
              <a:gd name="csY6" fmla="*/ 122901 h 2461477"/>
              <a:gd name="csX7" fmla="*/ 3067050 w 6733953"/>
              <a:gd name="csY7" fmla="*/ 2335876 h 2461477"/>
              <a:gd name="csX8" fmla="*/ 3149600 w 6733953"/>
              <a:gd name="csY8" fmla="*/ 2424776 h 2461477"/>
              <a:gd name="csX9" fmla="*/ 6459220 w 6733953"/>
              <a:gd name="csY9" fmla="*/ 2459066 h 2461477"/>
              <a:gd name="csX10" fmla="*/ 6525418 w 6733953"/>
              <a:gd name="csY10" fmla="*/ 2408106 h 2461477"/>
              <a:gd name="csX11" fmla="*/ 6532563 w 6733953"/>
              <a:gd name="csY11" fmla="*/ 2017581 h 2461477"/>
              <a:gd name="csX12" fmla="*/ 6420644 w 6733953"/>
              <a:gd name="csY12" fmla="*/ 1958050 h 2461477"/>
              <a:gd name="csX13" fmla="*/ 5515769 w 6733953"/>
              <a:gd name="csY13" fmla="*/ 1955194 h 2461477"/>
              <a:gd name="csX0" fmla="*/ 0 w 6730826"/>
              <a:gd name="csY0" fmla="*/ 2113626 h 2460197"/>
              <a:gd name="csX1" fmla="*/ 711200 w 6730826"/>
              <a:gd name="csY1" fmla="*/ 2100926 h 2460197"/>
              <a:gd name="csX2" fmla="*/ 806450 w 6730826"/>
              <a:gd name="csY2" fmla="*/ 2037426 h 2460197"/>
              <a:gd name="csX3" fmla="*/ 806450 w 6730826"/>
              <a:gd name="csY3" fmla="*/ 183226 h 2460197"/>
              <a:gd name="csX4" fmla="*/ 901700 w 6730826"/>
              <a:gd name="csY4" fmla="*/ 62576 h 2460197"/>
              <a:gd name="csX5" fmla="*/ 2914650 w 6730826"/>
              <a:gd name="csY5" fmla="*/ 18126 h 2460197"/>
              <a:gd name="csX6" fmla="*/ 3054350 w 6730826"/>
              <a:gd name="csY6" fmla="*/ 122901 h 2460197"/>
              <a:gd name="csX7" fmla="*/ 3067050 w 6730826"/>
              <a:gd name="csY7" fmla="*/ 2335876 h 2460197"/>
              <a:gd name="csX8" fmla="*/ 3149600 w 6730826"/>
              <a:gd name="csY8" fmla="*/ 2424776 h 2460197"/>
              <a:gd name="csX9" fmla="*/ 6459220 w 6730826"/>
              <a:gd name="csY9" fmla="*/ 2459066 h 2460197"/>
              <a:gd name="csX10" fmla="*/ 6542087 w 6730826"/>
              <a:gd name="csY10" fmla="*/ 2381912 h 2460197"/>
              <a:gd name="csX11" fmla="*/ 6532563 w 6730826"/>
              <a:gd name="csY11" fmla="*/ 2017581 h 2460197"/>
              <a:gd name="csX12" fmla="*/ 6420644 w 6730826"/>
              <a:gd name="csY12" fmla="*/ 1958050 h 2460197"/>
              <a:gd name="csX13" fmla="*/ 5515769 w 6730826"/>
              <a:gd name="csY13" fmla="*/ 1955194 h 2460197"/>
              <a:gd name="csX0" fmla="*/ 0 w 6730826"/>
              <a:gd name="csY0" fmla="*/ 2113626 h 2460197"/>
              <a:gd name="csX1" fmla="*/ 711200 w 6730826"/>
              <a:gd name="csY1" fmla="*/ 2100926 h 2460197"/>
              <a:gd name="csX2" fmla="*/ 806450 w 6730826"/>
              <a:gd name="csY2" fmla="*/ 2037426 h 2460197"/>
              <a:gd name="csX3" fmla="*/ 806450 w 6730826"/>
              <a:gd name="csY3" fmla="*/ 183226 h 2460197"/>
              <a:gd name="csX4" fmla="*/ 901700 w 6730826"/>
              <a:gd name="csY4" fmla="*/ 62576 h 2460197"/>
              <a:gd name="csX5" fmla="*/ 2914650 w 6730826"/>
              <a:gd name="csY5" fmla="*/ 18126 h 2460197"/>
              <a:gd name="csX6" fmla="*/ 3054350 w 6730826"/>
              <a:gd name="csY6" fmla="*/ 122901 h 2460197"/>
              <a:gd name="csX7" fmla="*/ 3067050 w 6730826"/>
              <a:gd name="csY7" fmla="*/ 2335876 h 2460197"/>
              <a:gd name="csX8" fmla="*/ 3149600 w 6730826"/>
              <a:gd name="csY8" fmla="*/ 2424776 h 2460197"/>
              <a:gd name="csX9" fmla="*/ 6459220 w 6730826"/>
              <a:gd name="csY9" fmla="*/ 2459066 h 2460197"/>
              <a:gd name="csX10" fmla="*/ 6542087 w 6730826"/>
              <a:gd name="csY10" fmla="*/ 2381912 h 2460197"/>
              <a:gd name="csX11" fmla="*/ 6532563 w 6730826"/>
              <a:gd name="csY11" fmla="*/ 2017581 h 2460197"/>
              <a:gd name="csX12" fmla="*/ 6420644 w 6730826"/>
              <a:gd name="csY12" fmla="*/ 1958050 h 2460197"/>
              <a:gd name="csX13" fmla="*/ 5515769 w 6730826"/>
              <a:gd name="csY13" fmla="*/ 1955194 h 2460197"/>
              <a:gd name="csX0" fmla="*/ 0 w 6549853"/>
              <a:gd name="csY0" fmla="*/ 2113626 h 2464082"/>
              <a:gd name="csX1" fmla="*/ 711200 w 6549853"/>
              <a:gd name="csY1" fmla="*/ 2100926 h 2464082"/>
              <a:gd name="csX2" fmla="*/ 806450 w 6549853"/>
              <a:gd name="csY2" fmla="*/ 2037426 h 2464082"/>
              <a:gd name="csX3" fmla="*/ 806450 w 6549853"/>
              <a:gd name="csY3" fmla="*/ 183226 h 2464082"/>
              <a:gd name="csX4" fmla="*/ 901700 w 6549853"/>
              <a:gd name="csY4" fmla="*/ 62576 h 2464082"/>
              <a:gd name="csX5" fmla="*/ 2914650 w 6549853"/>
              <a:gd name="csY5" fmla="*/ 18126 h 2464082"/>
              <a:gd name="csX6" fmla="*/ 3054350 w 6549853"/>
              <a:gd name="csY6" fmla="*/ 122901 h 2464082"/>
              <a:gd name="csX7" fmla="*/ 3067050 w 6549853"/>
              <a:gd name="csY7" fmla="*/ 2335876 h 2464082"/>
              <a:gd name="csX8" fmla="*/ 3149600 w 6549853"/>
              <a:gd name="csY8" fmla="*/ 2424776 h 2464082"/>
              <a:gd name="csX9" fmla="*/ 6459220 w 6549853"/>
              <a:gd name="csY9" fmla="*/ 2459066 h 2464082"/>
              <a:gd name="csX10" fmla="*/ 6542087 w 6549853"/>
              <a:gd name="csY10" fmla="*/ 2381912 h 2464082"/>
              <a:gd name="csX11" fmla="*/ 6532563 w 6549853"/>
              <a:gd name="csY11" fmla="*/ 2017581 h 2464082"/>
              <a:gd name="csX12" fmla="*/ 6420644 w 6549853"/>
              <a:gd name="csY12" fmla="*/ 1958050 h 2464082"/>
              <a:gd name="csX13" fmla="*/ 5515769 w 6549853"/>
              <a:gd name="csY13" fmla="*/ 1955194 h 2464082"/>
              <a:gd name="csX0" fmla="*/ 0 w 6549853"/>
              <a:gd name="csY0" fmla="*/ 2113626 h 2464082"/>
              <a:gd name="csX1" fmla="*/ 711200 w 6549853"/>
              <a:gd name="csY1" fmla="*/ 2100926 h 2464082"/>
              <a:gd name="csX2" fmla="*/ 806450 w 6549853"/>
              <a:gd name="csY2" fmla="*/ 2037426 h 2464082"/>
              <a:gd name="csX3" fmla="*/ 806450 w 6549853"/>
              <a:gd name="csY3" fmla="*/ 183226 h 2464082"/>
              <a:gd name="csX4" fmla="*/ 901700 w 6549853"/>
              <a:gd name="csY4" fmla="*/ 62576 h 2464082"/>
              <a:gd name="csX5" fmla="*/ 2914650 w 6549853"/>
              <a:gd name="csY5" fmla="*/ 18126 h 2464082"/>
              <a:gd name="csX6" fmla="*/ 3054350 w 6549853"/>
              <a:gd name="csY6" fmla="*/ 122901 h 2464082"/>
              <a:gd name="csX7" fmla="*/ 3067050 w 6549853"/>
              <a:gd name="csY7" fmla="*/ 2335876 h 2464082"/>
              <a:gd name="csX8" fmla="*/ 3149600 w 6549853"/>
              <a:gd name="csY8" fmla="*/ 2424776 h 2464082"/>
              <a:gd name="csX9" fmla="*/ 6459220 w 6549853"/>
              <a:gd name="csY9" fmla="*/ 2459066 h 2464082"/>
              <a:gd name="csX10" fmla="*/ 6542087 w 6549853"/>
              <a:gd name="csY10" fmla="*/ 2381912 h 2464082"/>
              <a:gd name="csX11" fmla="*/ 6532563 w 6549853"/>
              <a:gd name="csY11" fmla="*/ 2017581 h 2464082"/>
              <a:gd name="csX12" fmla="*/ 6420644 w 6549853"/>
              <a:gd name="csY12" fmla="*/ 1958050 h 2464082"/>
              <a:gd name="csX13" fmla="*/ 5515769 w 6549853"/>
              <a:gd name="csY13" fmla="*/ 1955194 h 2464082"/>
              <a:gd name="csX0" fmla="*/ 0 w 6549853"/>
              <a:gd name="csY0" fmla="*/ 2113626 h 2464082"/>
              <a:gd name="csX1" fmla="*/ 711200 w 6549853"/>
              <a:gd name="csY1" fmla="*/ 2100926 h 2464082"/>
              <a:gd name="csX2" fmla="*/ 806450 w 6549853"/>
              <a:gd name="csY2" fmla="*/ 2037426 h 2464082"/>
              <a:gd name="csX3" fmla="*/ 806450 w 6549853"/>
              <a:gd name="csY3" fmla="*/ 183226 h 2464082"/>
              <a:gd name="csX4" fmla="*/ 901700 w 6549853"/>
              <a:gd name="csY4" fmla="*/ 62576 h 2464082"/>
              <a:gd name="csX5" fmla="*/ 2914650 w 6549853"/>
              <a:gd name="csY5" fmla="*/ 18126 h 2464082"/>
              <a:gd name="csX6" fmla="*/ 3054350 w 6549853"/>
              <a:gd name="csY6" fmla="*/ 122901 h 2464082"/>
              <a:gd name="csX7" fmla="*/ 3067050 w 6549853"/>
              <a:gd name="csY7" fmla="*/ 2335876 h 2464082"/>
              <a:gd name="csX8" fmla="*/ 3149600 w 6549853"/>
              <a:gd name="csY8" fmla="*/ 2424776 h 2464082"/>
              <a:gd name="csX9" fmla="*/ 6459220 w 6549853"/>
              <a:gd name="csY9" fmla="*/ 2459066 h 2464082"/>
              <a:gd name="csX10" fmla="*/ 6542087 w 6549853"/>
              <a:gd name="csY10" fmla="*/ 2381912 h 2464082"/>
              <a:gd name="csX11" fmla="*/ 6532563 w 6549853"/>
              <a:gd name="csY11" fmla="*/ 2017581 h 2464082"/>
              <a:gd name="csX12" fmla="*/ 6420644 w 6549853"/>
              <a:gd name="csY12" fmla="*/ 1958050 h 2464082"/>
              <a:gd name="csX13" fmla="*/ 5544344 w 6549853"/>
              <a:gd name="csY13" fmla="*/ 1993294 h 2464082"/>
              <a:gd name="csX0" fmla="*/ 0 w 6549853"/>
              <a:gd name="csY0" fmla="*/ 2113626 h 2464082"/>
              <a:gd name="csX1" fmla="*/ 711200 w 6549853"/>
              <a:gd name="csY1" fmla="*/ 2100926 h 2464082"/>
              <a:gd name="csX2" fmla="*/ 806450 w 6549853"/>
              <a:gd name="csY2" fmla="*/ 2037426 h 2464082"/>
              <a:gd name="csX3" fmla="*/ 806450 w 6549853"/>
              <a:gd name="csY3" fmla="*/ 183226 h 2464082"/>
              <a:gd name="csX4" fmla="*/ 901700 w 6549853"/>
              <a:gd name="csY4" fmla="*/ 62576 h 2464082"/>
              <a:gd name="csX5" fmla="*/ 2914650 w 6549853"/>
              <a:gd name="csY5" fmla="*/ 18126 h 2464082"/>
              <a:gd name="csX6" fmla="*/ 3054350 w 6549853"/>
              <a:gd name="csY6" fmla="*/ 122901 h 2464082"/>
              <a:gd name="csX7" fmla="*/ 3067050 w 6549853"/>
              <a:gd name="csY7" fmla="*/ 2335876 h 2464082"/>
              <a:gd name="csX8" fmla="*/ 3149600 w 6549853"/>
              <a:gd name="csY8" fmla="*/ 2424776 h 2464082"/>
              <a:gd name="csX9" fmla="*/ 6459220 w 6549853"/>
              <a:gd name="csY9" fmla="*/ 2459066 h 2464082"/>
              <a:gd name="csX10" fmla="*/ 6542087 w 6549853"/>
              <a:gd name="csY10" fmla="*/ 2381912 h 2464082"/>
              <a:gd name="csX11" fmla="*/ 6532563 w 6549853"/>
              <a:gd name="csY11" fmla="*/ 2017581 h 2464082"/>
              <a:gd name="csX12" fmla="*/ 6420644 w 6549853"/>
              <a:gd name="csY12" fmla="*/ 1958050 h 2464082"/>
              <a:gd name="csX13" fmla="*/ 5474494 w 6549853"/>
              <a:gd name="csY13" fmla="*/ 1974244 h 2464082"/>
              <a:gd name="csX0" fmla="*/ 0 w 6549540"/>
              <a:gd name="csY0" fmla="*/ 2113626 h 2464082"/>
              <a:gd name="csX1" fmla="*/ 711200 w 6549540"/>
              <a:gd name="csY1" fmla="*/ 2100926 h 2464082"/>
              <a:gd name="csX2" fmla="*/ 806450 w 6549540"/>
              <a:gd name="csY2" fmla="*/ 2037426 h 2464082"/>
              <a:gd name="csX3" fmla="*/ 806450 w 6549540"/>
              <a:gd name="csY3" fmla="*/ 183226 h 2464082"/>
              <a:gd name="csX4" fmla="*/ 901700 w 6549540"/>
              <a:gd name="csY4" fmla="*/ 62576 h 2464082"/>
              <a:gd name="csX5" fmla="*/ 2914650 w 6549540"/>
              <a:gd name="csY5" fmla="*/ 18126 h 2464082"/>
              <a:gd name="csX6" fmla="*/ 3054350 w 6549540"/>
              <a:gd name="csY6" fmla="*/ 122901 h 2464082"/>
              <a:gd name="csX7" fmla="*/ 3067050 w 6549540"/>
              <a:gd name="csY7" fmla="*/ 2335876 h 2464082"/>
              <a:gd name="csX8" fmla="*/ 3149600 w 6549540"/>
              <a:gd name="csY8" fmla="*/ 2424776 h 2464082"/>
              <a:gd name="csX9" fmla="*/ 6459220 w 6549540"/>
              <a:gd name="csY9" fmla="*/ 2459066 h 2464082"/>
              <a:gd name="csX10" fmla="*/ 6542087 w 6549540"/>
              <a:gd name="csY10" fmla="*/ 2381912 h 2464082"/>
              <a:gd name="csX11" fmla="*/ 6532563 w 6549540"/>
              <a:gd name="csY11" fmla="*/ 2017581 h 2464082"/>
              <a:gd name="csX12" fmla="*/ 6426994 w 6549540"/>
              <a:gd name="csY12" fmla="*/ 1977100 h 2464082"/>
              <a:gd name="csX13" fmla="*/ 5474494 w 6549540"/>
              <a:gd name="csY13" fmla="*/ 1974244 h 2464082"/>
              <a:gd name="csX0" fmla="*/ 0 w 6549540"/>
              <a:gd name="csY0" fmla="*/ 2113626 h 2464082"/>
              <a:gd name="csX1" fmla="*/ 711200 w 6549540"/>
              <a:gd name="csY1" fmla="*/ 2100926 h 2464082"/>
              <a:gd name="csX2" fmla="*/ 806450 w 6549540"/>
              <a:gd name="csY2" fmla="*/ 2037426 h 2464082"/>
              <a:gd name="csX3" fmla="*/ 806450 w 6549540"/>
              <a:gd name="csY3" fmla="*/ 183226 h 2464082"/>
              <a:gd name="csX4" fmla="*/ 901700 w 6549540"/>
              <a:gd name="csY4" fmla="*/ 62576 h 2464082"/>
              <a:gd name="csX5" fmla="*/ 2914650 w 6549540"/>
              <a:gd name="csY5" fmla="*/ 18126 h 2464082"/>
              <a:gd name="csX6" fmla="*/ 3054350 w 6549540"/>
              <a:gd name="csY6" fmla="*/ 122901 h 2464082"/>
              <a:gd name="csX7" fmla="*/ 3067050 w 6549540"/>
              <a:gd name="csY7" fmla="*/ 2335876 h 2464082"/>
              <a:gd name="csX8" fmla="*/ 3149600 w 6549540"/>
              <a:gd name="csY8" fmla="*/ 2424776 h 2464082"/>
              <a:gd name="csX9" fmla="*/ 6459220 w 6549540"/>
              <a:gd name="csY9" fmla="*/ 2459066 h 2464082"/>
              <a:gd name="csX10" fmla="*/ 6542087 w 6549540"/>
              <a:gd name="csY10" fmla="*/ 2381912 h 2464082"/>
              <a:gd name="csX11" fmla="*/ 6532563 w 6549540"/>
              <a:gd name="csY11" fmla="*/ 2017581 h 2464082"/>
              <a:gd name="csX12" fmla="*/ 6426994 w 6549540"/>
              <a:gd name="csY12" fmla="*/ 1977100 h 2464082"/>
              <a:gd name="csX13" fmla="*/ 5474494 w 6549540"/>
              <a:gd name="csY13" fmla="*/ 1974244 h 2464082"/>
              <a:gd name="csX0" fmla="*/ 0 w 6563563"/>
              <a:gd name="csY0" fmla="*/ 2113626 h 2464082"/>
              <a:gd name="csX1" fmla="*/ 711200 w 6563563"/>
              <a:gd name="csY1" fmla="*/ 2100926 h 2464082"/>
              <a:gd name="csX2" fmla="*/ 806450 w 6563563"/>
              <a:gd name="csY2" fmla="*/ 2037426 h 2464082"/>
              <a:gd name="csX3" fmla="*/ 806450 w 6563563"/>
              <a:gd name="csY3" fmla="*/ 183226 h 2464082"/>
              <a:gd name="csX4" fmla="*/ 901700 w 6563563"/>
              <a:gd name="csY4" fmla="*/ 62576 h 2464082"/>
              <a:gd name="csX5" fmla="*/ 2914650 w 6563563"/>
              <a:gd name="csY5" fmla="*/ 18126 h 2464082"/>
              <a:gd name="csX6" fmla="*/ 3054350 w 6563563"/>
              <a:gd name="csY6" fmla="*/ 122901 h 2464082"/>
              <a:gd name="csX7" fmla="*/ 3067050 w 6563563"/>
              <a:gd name="csY7" fmla="*/ 2335876 h 2464082"/>
              <a:gd name="csX8" fmla="*/ 3149600 w 6563563"/>
              <a:gd name="csY8" fmla="*/ 2424776 h 2464082"/>
              <a:gd name="csX9" fmla="*/ 6459220 w 6563563"/>
              <a:gd name="csY9" fmla="*/ 2459066 h 2464082"/>
              <a:gd name="csX10" fmla="*/ 6542087 w 6563563"/>
              <a:gd name="csY10" fmla="*/ 2381912 h 2464082"/>
              <a:gd name="csX11" fmla="*/ 6554788 w 6563563"/>
              <a:gd name="csY11" fmla="*/ 2068381 h 2464082"/>
              <a:gd name="csX12" fmla="*/ 6426994 w 6563563"/>
              <a:gd name="csY12" fmla="*/ 1977100 h 2464082"/>
              <a:gd name="csX13" fmla="*/ 5474494 w 6563563"/>
              <a:gd name="csY13" fmla="*/ 1974244 h 2464082"/>
              <a:gd name="csX0" fmla="*/ 0 w 6570617"/>
              <a:gd name="csY0" fmla="*/ 2113626 h 2464082"/>
              <a:gd name="csX1" fmla="*/ 711200 w 6570617"/>
              <a:gd name="csY1" fmla="*/ 2100926 h 2464082"/>
              <a:gd name="csX2" fmla="*/ 806450 w 6570617"/>
              <a:gd name="csY2" fmla="*/ 2037426 h 2464082"/>
              <a:gd name="csX3" fmla="*/ 806450 w 6570617"/>
              <a:gd name="csY3" fmla="*/ 183226 h 2464082"/>
              <a:gd name="csX4" fmla="*/ 901700 w 6570617"/>
              <a:gd name="csY4" fmla="*/ 62576 h 2464082"/>
              <a:gd name="csX5" fmla="*/ 2914650 w 6570617"/>
              <a:gd name="csY5" fmla="*/ 18126 h 2464082"/>
              <a:gd name="csX6" fmla="*/ 3054350 w 6570617"/>
              <a:gd name="csY6" fmla="*/ 122901 h 2464082"/>
              <a:gd name="csX7" fmla="*/ 3067050 w 6570617"/>
              <a:gd name="csY7" fmla="*/ 2335876 h 2464082"/>
              <a:gd name="csX8" fmla="*/ 3149600 w 6570617"/>
              <a:gd name="csY8" fmla="*/ 2424776 h 2464082"/>
              <a:gd name="csX9" fmla="*/ 6459220 w 6570617"/>
              <a:gd name="csY9" fmla="*/ 2459066 h 2464082"/>
              <a:gd name="csX10" fmla="*/ 6542087 w 6570617"/>
              <a:gd name="csY10" fmla="*/ 2381912 h 2464082"/>
              <a:gd name="csX11" fmla="*/ 6554788 w 6570617"/>
              <a:gd name="csY11" fmla="*/ 2068381 h 2464082"/>
              <a:gd name="csX12" fmla="*/ 6426994 w 6570617"/>
              <a:gd name="csY12" fmla="*/ 1977100 h 2464082"/>
              <a:gd name="csX13" fmla="*/ 5474494 w 6570617"/>
              <a:gd name="csY13" fmla="*/ 1974244 h 2464082"/>
              <a:gd name="csX0" fmla="*/ 0 w 6570617"/>
              <a:gd name="csY0" fmla="*/ 2113626 h 2464082"/>
              <a:gd name="csX1" fmla="*/ 711200 w 6570617"/>
              <a:gd name="csY1" fmla="*/ 2100926 h 2464082"/>
              <a:gd name="csX2" fmla="*/ 806450 w 6570617"/>
              <a:gd name="csY2" fmla="*/ 2037426 h 2464082"/>
              <a:gd name="csX3" fmla="*/ 806450 w 6570617"/>
              <a:gd name="csY3" fmla="*/ 183226 h 2464082"/>
              <a:gd name="csX4" fmla="*/ 901700 w 6570617"/>
              <a:gd name="csY4" fmla="*/ 62576 h 2464082"/>
              <a:gd name="csX5" fmla="*/ 2914650 w 6570617"/>
              <a:gd name="csY5" fmla="*/ 18126 h 2464082"/>
              <a:gd name="csX6" fmla="*/ 3054350 w 6570617"/>
              <a:gd name="csY6" fmla="*/ 122901 h 2464082"/>
              <a:gd name="csX7" fmla="*/ 3067050 w 6570617"/>
              <a:gd name="csY7" fmla="*/ 2335876 h 2464082"/>
              <a:gd name="csX8" fmla="*/ 3149600 w 6570617"/>
              <a:gd name="csY8" fmla="*/ 2424776 h 2464082"/>
              <a:gd name="csX9" fmla="*/ 6459220 w 6570617"/>
              <a:gd name="csY9" fmla="*/ 2459066 h 2464082"/>
              <a:gd name="csX10" fmla="*/ 6542087 w 6570617"/>
              <a:gd name="csY10" fmla="*/ 2381912 h 2464082"/>
              <a:gd name="csX11" fmla="*/ 6554788 w 6570617"/>
              <a:gd name="csY11" fmla="*/ 2068381 h 2464082"/>
              <a:gd name="csX12" fmla="*/ 6426994 w 6570617"/>
              <a:gd name="csY12" fmla="*/ 1977100 h 2464082"/>
              <a:gd name="csX13" fmla="*/ 5474494 w 6570617"/>
              <a:gd name="csY13" fmla="*/ 1974244 h 2464082"/>
              <a:gd name="csX0" fmla="*/ 0 w 6737141"/>
              <a:gd name="csY0" fmla="*/ 2113626 h 2461426"/>
              <a:gd name="csX1" fmla="*/ 711200 w 6737141"/>
              <a:gd name="csY1" fmla="*/ 2100926 h 2461426"/>
              <a:gd name="csX2" fmla="*/ 806450 w 6737141"/>
              <a:gd name="csY2" fmla="*/ 2037426 h 2461426"/>
              <a:gd name="csX3" fmla="*/ 806450 w 6737141"/>
              <a:gd name="csY3" fmla="*/ 183226 h 2461426"/>
              <a:gd name="csX4" fmla="*/ 901700 w 6737141"/>
              <a:gd name="csY4" fmla="*/ 62576 h 2461426"/>
              <a:gd name="csX5" fmla="*/ 2914650 w 6737141"/>
              <a:gd name="csY5" fmla="*/ 18126 h 2461426"/>
              <a:gd name="csX6" fmla="*/ 3054350 w 6737141"/>
              <a:gd name="csY6" fmla="*/ 122901 h 2461426"/>
              <a:gd name="csX7" fmla="*/ 3067050 w 6737141"/>
              <a:gd name="csY7" fmla="*/ 2335876 h 2461426"/>
              <a:gd name="csX8" fmla="*/ 3149600 w 6737141"/>
              <a:gd name="csY8" fmla="*/ 2424776 h 2461426"/>
              <a:gd name="csX9" fmla="*/ 6459220 w 6737141"/>
              <a:gd name="csY9" fmla="*/ 2459066 h 2461426"/>
              <a:gd name="csX10" fmla="*/ 6561137 w 6737141"/>
              <a:gd name="csY10" fmla="*/ 2356512 h 2461426"/>
              <a:gd name="csX11" fmla="*/ 6554788 w 6737141"/>
              <a:gd name="csY11" fmla="*/ 2068381 h 2461426"/>
              <a:gd name="csX12" fmla="*/ 6426994 w 6737141"/>
              <a:gd name="csY12" fmla="*/ 1977100 h 2461426"/>
              <a:gd name="csX13" fmla="*/ 5474494 w 6737141"/>
              <a:gd name="csY13" fmla="*/ 1974244 h 2461426"/>
              <a:gd name="csX0" fmla="*/ 0 w 6572416"/>
              <a:gd name="csY0" fmla="*/ 2113626 h 2471085"/>
              <a:gd name="csX1" fmla="*/ 711200 w 6572416"/>
              <a:gd name="csY1" fmla="*/ 2100926 h 2471085"/>
              <a:gd name="csX2" fmla="*/ 806450 w 6572416"/>
              <a:gd name="csY2" fmla="*/ 2037426 h 2471085"/>
              <a:gd name="csX3" fmla="*/ 806450 w 6572416"/>
              <a:gd name="csY3" fmla="*/ 183226 h 2471085"/>
              <a:gd name="csX4" fmla="*/ 901700 w 6572416"/>
              <a:gd name="csY4" fmla="*/ 62576 h 2471085"/>
              <a:gd name="csX5" fmla="*/ 2914650 w 6572416"/>
              <a:gd name="csY5" fmla="*/ 18126 h 2471085"/>
              <a:gd name="csX6" fmla="*/ 3054350 w 6572416"/>
              <a:gd name="csY6" fmla="*/ 122901 h 2471085"/>
              <a:gd name="csX7" fmla="*/ 3067050 w 6572416"/>
              <a:gd name="csY7" fmla="*/ 2335876 h 2471085"/>
              <a:gd name="csX8" fmla="*/ 3149600 w 6572416"/>
              <a:gd name="csY8" fmla="*/ 2424776 h 2471085"/>
              <a:gd name="csX9" fmla="*/ 6459220 w 6572416"/>
              <a:gd name="csY9" fmla="*/ 2459066 h 2471085"/>
              <a:gd name="csX10" fmla="*/ 6561137 w 6572416"/>
              <a:gd name="csY10" fmla="*/ 2356512 h 2471085"/>
              <a:gd name="csX11" fmla="*/ 6554788 w 6572416"/>
              <a:gd name="csY11" fmla="*/ 2068381 h 2471085"/>
              <a:gd name="csX12" fmla="*/ 6426994 w 6572416"/>
              <a:gd name="csY12" fmla="*/ 1977100 h 2471085"/>
              <a:gd name="csX13" fmla="*/ 5474494 w 6572416"/>
              <a:gd name="csY13" fmla="*/ 1974244 h 2471085"/>
              <a:gd name="csX0" fmla="*/ 0 w 6571780"/>
              <a:gd name="csY0" fmla="*/ 2113626 h 2429848"/>
              <a:gd name="csX1" fmla="*/ 711200 w 6571780"/>
              <a:gd name="csY1" fmla="*/ 2100926 h 2429848"/>
              <a:gd name="csX2" fmla="*/ 806450 w 6571780"/>
              <a:gd name="csY2" fmla="*/ 2037426 h 2429848"/>
              <a:gd name="csX3" fmla="*/ 806450 w 6571780"/>
              <a:gd name="csY3" fmla="*/ 183226 h 2429848"/>
              <a:gd name="csX4" fmla="*/ 901700 w 6571780"/>
              <a:gd name="csY4" fmla="*/ 62576 h 2429848"/>
              <a:gd name="csX5" fmla="*/ 2914650 w 6571780"/>
              <a:gd name="csY5" fmla="*/ 18126 h 2429848"/>
              <a:gd name="csX6" fmla="*/ 3054350 w 6571780"/>
              <a:gd name="csY6" fmla="*/ 122901 h 2429848"/>
              <a:gd name="csX7" fmla="*/ 3067050 w 6571780"/>
              <a:gd name="csY7" fmla="*/ 2335876 h 2429848"/>
              <a:gd name="csX8" fmla="*/ 3149600 w 6571780"/>
              <a:gd name="csY8" fmla="*/ 2424776 h 2429848"/>
              <a:gd name="csX9" fmla="*/ 6468745 w 6571780"/>
              <a:gd name="csY9" fmla="*/ 2389216 h 2429848"/>
              <a:gd name="csX10" fmla="*/ 6561137 w 6571780"/>
              <a:gd name="csY10" fmla="*/ 2356512 h 2429848"/>
              <a:gd name="csX11" fmla="*/ 6554788 w 6571780"/>
              <a:gd name="csY11" fmla="*/ 2068381 h 2429848"/>
              <a:gd name="csX12" fmla="*/ 6426994 w 6571780"/>
              <a:gd name="csY12" fmla="*/ 1977100 h 2429848"/>
              <a:gd name="csX13" fmla="*/ 5474494 w 6571780"/>
              <a:gd name="csY13" fmla="*/ 1974244 h 2429848"/>
              <a:gd name="csX0" fmla="*/ 0 w 6740515"/>
              <a:gd name="csY0" fmla="*/ 2113626 h 2428089"/>
              <a:gd name="csX1" fmla="*/ 711200 w 6740515"/>
              <a:gd name="csY1" fmla="*/ 2100926 h 2428089"/>
              <a:gd name="csX2" fmla="*/ 806450 w 6740515"/>
              <a:gd name="csY2" fmla="*/ 2037426 h 2428089"/>
              <a:gd name="csX3" fmla="*/ 806450 w 6740515"/>
              <a:gd name="csY3" fmla="*/ 183226 h 2428089"/>
              <a:gd name="csX4" fmla="*/ 901700 w 6740515"/>
              <a:gd name="csY4" fmla="*/ 62576 h 2428089"/>
              <a:gd name="csX5" fmla="*/ 2914650 w 6740515"/>
              <a:gd name="csY5" fmla="*/ 18126 h 2428089"/>
              <a:gd name="csX6" fmla="*/ 3054350 w 6740515"/>
              <a:gd name="csY6" fmla="*/ 122901 h 2428089"/>
              <a:gd name="csX7" fmla="*/ 3067050 w 6740515"/>
              <a:gd name="csY7" fmla="*/ 2335876 h 2428089"/>
              <a:gd name="csX8" fmla="*/ 3149600 w 6740515"/>
              <a:gd name="csY8" fmla="*/ 2424776 h 2428089"/>
              <a:gd name="csX9" fmla="*/ 6468745 w 6740515"/>
              <a:gd name="csY9" fmla="*/ 2389216 h 2428089"/>
              <a:gd name="csX10" fmla="*/ 6551612 w 6740515"/>
              <a:gd name="csY10" fmla="*/ 2299362 h 2428089"/>
              <a:gd name="csX11" fmla="*/ 6554788 w 6740515"/>
              <a:gd name="csY11" fmla="*/ 2068381 h 2428089"/>
              <a:gd name="csX12" fmla="*/ 6426994 w 6740515"/>
              <a:gd name="csY12" fmla="*/ 1977100 h 2428089"/>
              <a:gd name="csX13" fmla="*/ 5474494 w 6740515"/>
              <a:gd name="csY13" fmla="*/ 1974244 h 2428089"/>
              <a:gd name="csX0" fmla="*/ 0 w 6566784"/>
              <a:gd name="csY0" fmla="*/ 2113626 h 2429848"/>
              <a:gd name="csX1" fmla="*/ 711200 w 6566784"/>
              <a:gd name="csY1" fmla="*/ 2100926 h 2429848"/>
              <a:gd name="csX2" fmla="*/ 806450 w 6566784"/>
              <a:gd name="csY2" fmla="*/ 2037426 h 2429848"/>
              <a:gd name="csX3" fmla="*/ 806450 w 6566784"/>
              <a:gd name="csY3" fmla="*/ 183226 h 2429848"/>
              <a:gd name="csX4" fmla="*/ 901700 w 6566784"/>
              <a:gd name="csY4" fmla="*/ 62576 h 2429848"/>
              <a:gd name="csX5" fmla="*/ 2914650 w 6566784"/>
              <a:gd name="csY5" fmla="*/ 18126 h 2429848"/>
              <a:gd name="csX6" fmla="*/ 3054350 w 6566784"/>
              <a:gd name="csY6" fmla="*/ 122901 h 2429848"/>
              <a:gd name="csX7" fmla="*/ 3067050 w 6566784"/>
              <a:gd name="csY7" fmla="*/ 2335876 h 2429848"/>
              <a:gd name="csX8" fmla="*/ 3149600 w 6566784"/>
              <a:gd name="csY8" fmla="*/ 2424776 h 2429848"/>
              <a:gd name="csX9" fmla="*/ 6468745 w 6566784"/>
              <a:gd name="csY9" fmla="*/ 2389216 h 2429848"/>
              <a:gd name="csX10" fmla="*/ 6551612 w 6566784"/>
              <a:gd name="csY10" fmla="*/ 2299362 h 2429848"/>
              <a:gd name="csX11" fmla="*/ 6554788 w 6566784"/>
              <a:gd name="csY11" fmla="*/ 2068381 h 2429848"/>
              <a:gd name="csX12" fmla="*/ 6426994 w 6566784"/>
              <a:gd name="csY12" fmla="*/ 1977100 h 2429848"/>
              <a:gd name="csX13" fmla="*/ 5474494 w 6566784"/>
              <a:gd name="csY13" fmla="*/ 1974244 h 2429848"/>
              <a:gd name="csX0" fmla="*/ 0 w 6566784"/>
              <a:gd name="csY0" fmla="*/ 2176577 h 2492799"/>
              <a:gd name="csX1" fmla="*/ 711200 w 6566784"/>
              <a:gd name="csY1" fmla="*/ 2163877 h 2492799"/>
              <a:gd name="csX2" fmla="*/ 806450 w 6566784"/>
              <a:gd name="csY2" fmla="*/ 2100377 h 2492799"/>
              <a:gd name="csX3" fmla="*/ 806450 w 6566784"/>
              <a:gd name="csY3" fmla="*/ 246177 h 2492799"/>
              <a:gd name="csX4" fmla="*/ 901700 w 6566784"/>
              <a:gd name="csY4" fmla="*/ 125527 h 2492799"/>
              <a:gd name="csX5" fmla="*/ 2914650 w 6566784"/>
              <a:gd name="csY5" fmla="*/ 81077 h 2492799"/>
              <a:gd name="csX6" fmla="*/ 3054350 w 6566784"/>
              <a:gd name="csY6" fmla="*/ 185852 h 2492799"/>
              <a:gd name="csX7" fmla="*/ 3044825 w 6566784"/>
              <a:gd name="csY7" fmla="*/ 2290877 h 2492799"/>
              <a:gd name="csX8" fmla="*/ 3149600 w 6566784"/>
              <a:gd name="csY8" fmla="*/ 2487727 h 2492799"/>
              <a:gd name="csX9" fmla="*/ 6468745 w 6566784"/>
              <a:gd name="csY9" fmla="*/ 2452167 h 2492799"/>
              <a:gd name="csX10" fmla="*/ 6551612 w 6566784"/>
              <a:gd name="csY10" fmla="*/ 2362313 h 2492799"/>
              <a:gd name="csX11" fmla="*/ 6554788 w 6566784"/>
              <a:gd name="csY11" fmla="*/ 2131332 h 2492799"/>
              <a:gd name="csX12" fmla="*/ 6426994 w 6566784"/>
              <a:gd name="csY12" fmla="*/ 2040051 h 2492799"/>
              <a:gd name="csX13" fmla="*/ 5474494 w 6566784"/>
              <a:gd name="csY13" fmla="*/ 2037195 h 2492799"/>
              <a:gd name="csX0" fmla="*/ 0 w 6741216"/>
              <a:gd name="csY0" fmla="*/ 2176577 h 2504466"/>
              <a:gd name="csX1" fmla="*/ 711200 w 6741216"/>
              <a:gd name="csY1" fmla="*/ 2163877 h 2504466"/>
              <a:gd name="csX2" fmla="*/ 806450 w 6741216"/>
              <a:gd name="csY2" fmla="*/ 2100377 h 2504466"/>
              <a:gd name="csX3" fmla="*/ 806450 w 6741216"/>
              <a:gd name="csY3" fmla="*/ 246177 h 2504466"/>
              <a:gd name="csX4" fmla="*/ 901700 w 6741216"/>
              <a:gd name="csY4" fmla="*/ 125527 h 2504466"/>
              <a:gd name="csX5" fmla="*/ 2914650 w 6741216"/>
              <a:gd name="csY5" fmla="*/ 81077 h 2504466"/>
              <a:gd name="csX6" fmla="*/ 3054350 w 6741216"/>
              <a:gd name="csY6" fmla="*/ 185852 h 2504466"/>
              <a:gd name="csX7" fmla="*/ 3044825 w 6741216"/>
              <a:gd name="csY7" fmla="*/ 2290877 h 2504466"/>
              <a:gd name="csX8" fmla="*/ 3140075 w 6741216"/>
              <a:gd name="csY8" fmla="*/ 2446452 h 2504466"/>
              <a:gd name="csX9" fmla="*/ 6468745 w 6741216"/>
              <a:gd name="csY9" fmla="*/ 2452167 h 2504466"/>
              <a:gd name="csX10" fmla="*/ 6551612 w 6741216"/>
              <a:gd name="csY10" fmla="*/ 2362313 h 2504466"/>
              <a:gd name="csX11" fmla="*/ 6554788 w 6741216"/>
              <a:gd name="csY11" fmla="*/ 2131332 h 2504466"/>
              <a:gd name="csX12" fmla="*/ 6426994 w 6741216"/>
              <a:gd name="csY12" fmla="*/ 2040051 h 2504466"/>
              <a:gd name="csX13" fmla="*/ 5474494 w 6741216"/>
              <a:gd name="csY13" fmla="*/ 2037195 h 2504466"/>
              <a:gd name="csX0" fmla="*/ 0 w 6741216"/>
              <a:gd name="csY0" fmla="*/ 2176577 h 2506584"/>
              <a:gd name="csX1" fmla="*/ 711200 w 6741216"/>
              <a:gd name="csY1" fmla="*/ 2163877 h 2506584"/>
              <a:gd name="csX2" fmla="*/ 806450 w 6741216"/>
              <a:gd name="csY2" fmla="*/ 2100377 h 2506584"/>
              <a:gd name="csX3" fmla="*/ 806450 w 6741216"/>
              <a:gd name="csY3" fmla="*/ 246177 h 2506584"/>
              <a:gd name="csX4" fmla="*/ 901700 w 6741216"/>
              <a:gd name="csY4" fmla="*/ 125527 h 2506584"/>
              <a:gd name="csX5" fmla="*/ 2914650 w 6741216"/>
              <a:gd name="csY5" fmla="*/ 81077 h 2506584"/>
              <a:gd name="csX6" fmla="*/ 3054350 w 6741216"/>
              <a:gd name="csY6" fmla="*/ 185852 h 2506584"/>
              <a:gd name="csX7" fmla="*/ 3044825 w 6741216"/>
              <a:gd name="csY7" fmla="*/ 2290877 h 2506584"/>
              <a:gd name="csX8" fmla="*/ 3140075 w 6741216"/>
              <a:gd name="csY8" fmla="*/ 2446452 h 2506584"/>
              <a:gd name="csX9" fmla="*/ 6468745 w 6741216"/>
              <a:gd name="csY9" fmla="*/ 2452167 h 2506584"/>
              <a:gd name="csX10" fmla="*/ 6551612 w 6741216"/>
              <a:gd name="csY10" fmla="*/ 2362313 h 2506584"/>
              <a:gd name="csX11" fmla="*/ 6554788 w 6741216"/>
              <a:gd name="csY11" fmla="*/ 2131332 h 2506584"/>
              <a:gd name="csX12" fmla="*/ 6426994 w 6741216"/>
              <a:gd name="csY12" fmla="*/ 2040051 h 2506584"/>
              <a:gd name="csX13" fmla="*/ 5474494 w 6741216"/>
              <a:gd name="csY13" fmla="*/ 2037195 h 2506584"/>
              <a:gd name="csX0" fmla="*/ 0 w 6741216"/>
              <a:gd name="csY0" fmla="*/ 2176577 h 2499271"/>
              <a:gd name="csX1" fmla="*/ 711200 w 6741216"/>
              <a:gd name="csY1" fmla="*/ 2163877 h 2499271"/>
              <a:gd name="csX2" fmla="*/ 806450 w 6741216"/>
              <a:gd name="csY2" fmla="*/ 2100377 h 2499271"/>
              <a:gd name="csX3" fmla="*/ 806450 w 6741216"/>
              <a:gd name="csY3" fmla="*/ 246177 h 2499271"/>
              <a:gd name="csX4" fmla="*/ 901700 w 6741216"/>
              <a:gd name="csY4" fmla="*/ 125527 h 2499271"/>
              <a:gd name="csX5" fmla="*/ 2914650 w 6741216"/>
              <a:gd name="csY5" fmla="*/ 81077 h 2499271"/>
              <a:gd name="csX6" fmla="*/ 3054350 w 6741216"/>
              <a:gd name="csY6" fmla="*/ 185852 h 2499271"/>
              <a:gd name="csX7" fmla="*/ 3044825 w 6741216"/>
              <a:gd name="csY7" fmla="*/ 2290877 h 2499271"/>
              <a:gd name="csX8" fmla="*/ 3140075 w 6741216"/>
              <a:gd name="csY8" fmla="*/ 2446452 h 2499271"/>
              <a:gd name="csX9" fmla="*/ 6468745 w 6741216"/>
              <a:gd name="csY9" fmla="*/ 2452167 h 2499271"/>
              <a:gd name="csX10" fmla="*/ 6551612 w 6741216"/>
              <a:gd name="csY10" fmla="*/ 2362313 h 2499271"/>
              <a:gd name="csX11" fmla="*/ 6554788 w 6741216"/>
              <a:gd name="csY11" fmla="*/ 2131332 h 2499271"/>
              <a:gd name="csX12" fmla="*/ 6426994 w 6741216"/>
              <a:gd name="csY12" fmla="*/ 2040051 h 2499271"/>
              <a:gd name="csX13" fmla="*/ 5474494 w 6741216"/>
              <a:gd name="csY13" fmla="*/ 2037195 h 2499271"/>
              <a:gd name="csX0" fmla="*/ 0 w 6741216"/>
              <a:gd name="csY0" fmla="*/ 2176577 h 2467917"/>
              <a:gd name="csX1" fmla="*/ 711200 w 6741216"/>
              <a:gd name="csY1" fmla="*/ 2163877 h 2467917"/>
              <a:gd name="csX2" fmla="*/ 806450 w 6741216"/>
              <a:gd name="csY2" fmla="*/ 2100377 h 2467917"/>
              <a:gd name="csX3" fmla="*/ 806450 w 6741216"/>
              <a:gd name="csY3" fmla="*/ 246177 h 2467917"/>
              <a:gd name="csX4" fmla="*/ 901700 w 6741216"/>
              <a:gd name="csY4" fmla="*/ 125527 h 2467917"/>
              <a:gd name="csX5" fmla="*/ 2914650 w 6741216"/>
              <a:gd name="csY5" fmla="*/ 81077 h 2467917"/>
              <a:gd name="csX6" fmla="*/ 3054350 w 6741216"/>
              <a:gd name="csY6" fmla="*/ 185852 h 2467917"/>
              <a:gd name="csX7" fmla="*/ 3044825 w 6741216"/>
              <a:gd name="csY7" fmla="*/ 2290877 h 2467917"/>
              <a:gd name="csX8" fmla="*/ 3140075 w 6741216"/>
              <a:gd name="csY8" fmla="*/ 2446452 h 2467917"/>
              <a:gd name="csX9" fmla="*/ 6468745 w 6741216"/>
              <a:gd name="csY9" fmla="*/ 2452167 h 2467917"/>
              <a:gd name="csX10" fmla="*/ 6551612 w 6741216"/>
              <a:gd name="csY10" fmla="*/ 2362313 h 2467917"/>
              <a:gd name="csX11" fmla="*/ 6554788 w 6741216"/>
              <a:gd name="csY11" fmla="*/ 2131332 h 2467917"/>
              <a:gd name="csX12" fmla="*/ 6426994 w 6741216"/>
              <a:gd name="csY12" fmla="*/ 2040051 h 2467917"/>
              <a:gd name="csX13" fmla="*/ 5474494 w 6741216"/>
              <a:gd name="csY13" fmla="*/ 2037195 h 2467917"/>
              <a:gd name="csX0" fmla="*/ 0 w 6566784"/>
              <a:gd name="csY0" fmla="*/ 2176577 h 2475008"/>
              <a:gd name="csX1" fmla="*/ 711200 w 6566784"/>
              <a:gd name="csY1" fmla="*/ 2163877 h 2475008"/>
              <a:gd name="csX2" fmla="*/ 806450 w 6566784"/>
              <a:gd name="csY2" fmla="*/ 2100377 h 2475008"/>
              <a:gd name="csX3" fmla="*/ 806450 w 6566784"/>
              <a:gd name="csY3" fmla="*/ 246177 h 2475008"/>
              <a:gd name="csX4" fmla="*/ 901700 w 6566784"/>
              <a:gd name="csY4" fmla="*/ 125527 h 2475008"/>
              <a:gd name="csX5" fmla="*/ 2914650 w 6566784"/>
              <a:gd name="csY5" fmla="*/ 81077 h 2475008"/>
              <a:gd name="csX6" fmla="*/ 3054350 w 6566784"/>
              <a:gd name="csY6" fmla="*/ 185852 h 2475008"/>
              <a:gd name="csX7" fmla="*/ 3044825 w 6566784"/>
              <a:gd name="csY7" fmla="*/ 2290877 h 2475008"/>
              <a:gd name="csX8" fmla="*/ 3140075 w 6566784"/>
              <a:gd name="csY8" fmla="*/ 2446452 h 2475008"/>
              <a:gd name="csX9" fmla="*/ 6468745 w 6566784"/>
              <a:gd name="csY9" fmla="*/ 2452167 h 2475008"/>
              <a:gd name="csX10" fmla="*/ 6551612 w 6566784"/>
              <a:gd name="csY10" fmla="*/ 2362313 h 2475008"/>
              <a:gd name="csX11" fmla="*/ 6554788 w 6566784"/>
              <a:gd name="csY11" fmla="*/ 2131332 h 2475008"/>
              <a:gd name="csX12" fmla="*/ 6426994 w 6566784"/>
              <a:gd name="csY12" fmla="*/ 2040051 h 2475008"/>
              <a:gd name="csX13" fmla="*/ 5474494 w 6566784"/>
              <a:gd name="csY13" fmla="*/ 2037195 h 2475008"/>
              <a:gd name="csX0" fmla="*/ 0 w 6566784"/>
              <a:gd name="csY0" fmla="*/ 2113626 h 2412057"/>
              <a:gd name="csX1" fmla="*/ 711200 w 6566784"/>
              <a:gd name="csY1" fmla="*/ 2100926 h 2412057"/>
              <a:gd name="csX2" fmla="*/ 806450 w 6566784"/>
              <a:gd name="csY2" fmla="*/ 2037426 h 2412057"/>
              <a:gd name="csX3" fmla="*/ 806450 w 6566784"/>
              <a:gd name="csY3" fmla="*/ 183226 h 2412057"/>
              <a:gd name="csX4" fmla="*/ 901700 w 6566784"/>
              <a:gd name="csY4" fmla="*/ 62576 h 2412057"/>
              <a:gd name="csX5" fmla="*/ 2914650 w 6566784"/>
              <a:gd name="csY5" fmla="*/ 18126 h 2412057"/>
              <a:gd name="csX6" fmla="*/ 3054350 w 6566784"/>
              <a:gd name="csY6" fmla="*/ 122901 h 2412057"/>
              <a:gd name="csX7" fmla="*/ 3044825 w 6566784"/>
              <a:gd name="csY7" fmla="*/ 2227926 h 2412057"/>
              <a:gd name="csX8" fmla="*/ 3140075 w 6566784"/>
              <a:gd name="csY8" fmla="*/ 2383501 h 2412057"/>
              <a:gd name="csX9" fmla="*/ 6468745 w 6566784"/>
              <a:gd name="csY9" fmla="*/ 2389216 h 2412057"/>
              <a:gd name="csX10" fmla="*/ 6551612 w 6566784"/>
              <a:gd name="csY10" fmla="*/ 2299362 h 2412057"/>
              <a:gd name="csX11" fmla="*/ 6554788 w 6566784"/>
              <a:gd name="csY11" fmla="*/ 2068381 h 2412057"/>
              <a:gd name="csX12" fmla="*/ 6426994 w 6566784"/>
              <a:gd name="csY12" fmla="*/ 1977100 h 2412057"/>
              <a:gd name="csX13" fmla="*/ 5474494 w 6566784"/>
              <a:gd name="csY13" fmla="*/ 1974244 h 24120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6566784" h="2412057">
                <a:moveTo>
                  <a:pt x="0" y="2113626"/>
                </a:moveTo>
                <a:cubicBezTo>
                  <a:pt x="288396" y="2113626"/>
                  <a:pt x="649817" y="2126326"/>
                  <a:pt x="711200" y="2100926"/>
                </a:cubicBezTo>
                <a:cubicBezTo>
                  <a:pt x="772583" y="2075526"/>
                  <a:pt x="765175" y="2087168"/>
                  <a:pt x="806450" y="2037426"/>
                </a:cubicBezTo>
                <a:cubicBezTo>
                  <a:pt x="847725" y="1987684"/>
                  <a:pt x="765175" y="245668"/>
                  <a:pt x="806450" y="183226"/>
                </a:cubicBezTo>
                <a:cubicBezTo>
                  <a:pt x="847725" y="120784"/>
                  <a:pt x="829733" y="125018"/>
                  <a:pt x="901700" y="62576"/>
                </a:cubicBezTo>
                <a:cubicBezTo>
                  <a:pt x="973667" y="134"/>
                  <a:pt x="2841625" y="-17328"/>
                  <a:pt x="2914650" y="18126"/>
                </a:cubicBezTo>
                <a:cubicBezTo>
                  <a:pt x="2987675" y="53580"/>
                  <a:pt x="3018366" y="71308"/>
                  <a:pt x="3054350" y="122901"/>
                </a:cubicBezTo>
                <a:cubicBezTo>
                  <a:pt x="3090334" y="174494"/>
                  <a:pt x="3021012" y="2114684"/>
                  <a:pt x="3044825" y="2227926"/>
                </a:cubicBezTo>
                <a:cubicBezTo>
                  <a:pt x="3068638" y="2341168"/>
                  <a:pt x="3098588" y="2348364"/>
                  <a:pt x="3140075" y="2383501"/>
                </a:cubicBezTo>
                <a:cubicBezTo>
                  <a:pt x="3181562" y="2418638"/>
                  <a:pt x="6401806" y="2422289"/>
                  <a:pt x="6468745" y="2389216"/>
                </a:cubicBezTo>
                <a:cubicBezTo>
                  <a:pt x="6535684" y="2356143"/>
                  <a:pt x="6537272" y="2352834"/>
                  <a:pt x="6551612" y="2299362"/>
                </a:cubicBezTo>
                <a:cubicBezTo>
                  <a:pt x="6565952" y="2245890"/>
                  <a:pt x="6575558" y="2122091"/>
                  <a:pt x="6554788" y="2068381"/>
                </a:cubicBezTo>
                <a:cubicBezTo>
                  <a:pt x="6534018" y="2014671"/>
                  <a:pt x="6514968" y="2008664"/>
                  <a:pt x="6426994" y="1977100"/>
                </a:cubicBezTo>
                <a:cubicBezTo>
                  <a:pt x="6339020" y="1945536"/>
                  <a:pt x="5512594" y="1988611"/>
                  <a:pt x="5474494" y="1974244"/>
                </a:cubicBezTo>
              </a:path>
            </a:pathLst>
          </a:custGeom>
          <a:noFill/>
          <a:ln>
            <a:solidFill>
              <a:srgbClr val="00B050"/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3" name="Speech Bubble: Rectangle with Corners Rounded 1112">
                <a:extLst>
                  <a:ext uri="{FF2B5EF4-FFF2-40B4-BE49-F238E27FC236}">
                    <a16:creationId xmlns:a16="http://schemas.microsoft.com/office/drawing/2014/main" id="{66F7B1F5-BF2E-EE13-BE65-FB68CAA6B69E}"/>
                  </a:ext>
                </a:extLst>
              </p:cNvPr>
              <p:cNvSpPr/>
              <p:nvPr/>
            </p:nvSpPr>
            <p:spPr>
              <a:xfrm>
                <a:off x="1040447" y="4573770"/>
                <a:ext cx="1526058" cy="527501"/>
              </a:xfrm>
              <a:prstGeom prst="wedgeRoundRectCallout">
                <a:avLst>
                  <a:gd name="adj1" fmla="val 82424"/>
                  <a:gd name="adj2" fmla="val 32783"/>
                  <a:gd name="adj3" fmla="val 16667"/>
                </a:avLst>
              </a:prstGeom>
              <a:solidFill>
                <a:srgbClr val="FFFC8F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sz="800" b="1" dirty="0" err="1">
                    <a:solidFill>
                      <a:schemeClr val="tx1"/>
                    </a:solidFill>
                  </a:rPr>
                  <a:t>DataBatch</a:t>
                </a:r>
                <a:r>
                  <a:rPr lang="en-US" sz="800" dirty="0">
                    <a:solidFill>
                      <a:schemeClr val="tx1"/>
                    </a:solidFill>
                  </a:rPr>
                  <a:t> that transports the inter-rank prefill activations of size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𝒑𝒓𝒆𝒇𝒊𝒍𝒍</m:t>
                        </m:r>
                      </m:sub>
                    </m:sSub>
                  </m:oMath>
                </a14:m>
                <a:r>
                  <a:rPr lang="en-US" sz="800" dirty="0">
                    <a:solidFill>
                      <a:schemeClr val="tx1"/>
                    </a:solidFill>
                  </a:rPr>
                  <a:t> takes this path</a:t>
                </a:r>
              </a:p>
            </p:txBody>
          </p:sp>
        </mc:Choice>
        <mc:Fallback xmlns="">
          <p:sp>
            <p:nvSpPr>
              <p:cNvPr id="1113" name="Speech Bubble: Rectangle with Corners Rounded 1112">
                <a:extLst>
                  <a:ext uri="{FF2B5EF4-FFF2-40B4-BE49-F238E27FC236}">
                    <a16:creationId xmlns:a16="http://schemas.microsoft.com/office/drawing/2014/main" id="{66F7B1F5-BF2E-EE13-BE65-FB68CAA6B6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447" y="4573770"/>
                <a:ext cx="1526058" cy="527501"/>
              </a:xfrm>
              <a:prstGeom prst="wedgeRoundRectCallout">
                <a:avLst>
                  <a:gd name="adj1" fmla="val 82424"/>
                  <a:gd name="adj2" fmla="val 32783"/>
                  <a:gd name="adj3" fmla="val 16667"/>
                </a:avLst>
              </a:prstGeom>
              <a:blipFill>
                <a:blip r:embed="rId5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4" name="Speech Bubble: Rectangle with Corners Rounded 1113">
                <a:extLst>
                  <a:ext uri="{FF2B5EF4-FFF2-40B4-BE49-F238E27FC236}">
                    <a16:creationId xmlns:a16="http://schemas.microsoft.com/office/drawing/2014/main" id="{EBFE9DC8-6330-A2D7-A852-744C276337A4}"/>
                  </a:ext>
                </a:extLst>
              </p:cNvPr>
              <p:cNvSpPr/>
              <p:nvPr/>
            </p:nvSpPr>
            <p:spPr>
              <a:xfrm>
                <a:off x="3510446" y="4593932"/>
                <a:ext cx="1499701" cy="527501"/>
              </a:xfrm>
              <a:prstGeom prst="wedgeRoundRectCallout">
                <a:avLst>
                  <a:gd name="adj1" fmla="val -68267"/>
                  <a:gd name="adj2" fmla="val 3892"/>
                  <a:gd name="adj3" fmla="val 16667"/>
                </a:avLst>
              </a:prstGeom>
              <a:solidFill>
                <a:srgbClr val="FFFC8F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sz="800" b="1" dirty="0" err="1">
                    <a:solidFill>
                      <a:schemeClr val="tx1"/>
                    </a:solidFill>
                  </a:rPr>
                  <a:t>DataBatch</a:t>
                </a:r>
                <a:r>
                  <a:rPr lang="en-US" sz="800" dirty="0">
                    <a:solidFill>
                      <a:schemeClr val="tx1"/>
                    </a:solidFill>
                  </a:rPr>
                  <a:t> that transports the handed off prefill share of size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8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𝑲𝑽</m:t>
                        </m:r>
                      </m:e>
                      <m:sub>
                        <m:r>
                          <a:rPr lang="en-US" sz="8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𝒉𝒂𝒏𝒅𝒐𝒇𝒇</m:t>
                        </m:r>
                      </m:sub>
                    </m:sSub>
                  </m:oMath>
                </a14:m>
                <a:r>
                  <a:rPr lang="en-US" sz="800" dirty="0">
                    <a:solidFill>
                      <a:schemeClr val="tx1"/>
                    </a:solidFill>
                  </a:rPr>
                  <a:t> takes this path</a:t>
                </a:r>
              </a:p>
            </p:txBody>
          </p:sp>
        </mc:Choice>
        <mc:Fallback xmlns="">
          <p:sp>
            <p:nvSpPr>
              <p:cNvPr id="1114" name="Speech Bubble: Rectangle with Corners Rounded 1113">
                <a:extLst>
                  <a:ext uri="{FF2B5EF4-FFF2-40B4-BE49-F238E27FC236}">
                    <a16:creationId xmlns:a16="http://schemas.microsoft.com/office/drawing/2014/main" id="{EBFE9DC8-6330-A2D7-A852-744C276337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0446" y="4593932"/>
                <a:ext cx="1499701" cy="527501"/>
              </a:xfrm>
              <a:prstGeom prst="wedgeRoundRectCallout">
                <a:avLst>
                  <a:gd name="adj1" fmla="val -68267"/>
                  <a:gd name="adj2" fmla="val 3892"/>
                  <a:gd name="adj3" fmla="val 16667"/>
                </a:avLst>
              </a:prstGeom>
              <a:blipFill>
                <a:blip r:embed="rId6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15" name="Freeform: Shape 1114">
            <a:extLst>
              <a:ext uri="{FF2B5EF4-FFF2-40B4-BE49-F238E27FC236}">
                <a16:creationId xmlns:a16="http://schemas.microsoft.com/office/drawing/2014/main" id="{373BB10B-8B67-0EE8-9829-8986B3BF21AD}"/>
              </a:ext>
            </a:extLst>
          </p:cNvPr>
          <p:cNvSpPr/>
          <p:nvPr/>
        </p:nvSpPr>
        <p:spPr>
          <a:xfrm>
            <a:off x="7886699" y="4008216"/>
            <a:ext cx="3361540" cy="1519458"/>
          </a:xfrm>
          <a:custGeom>
            <a:avLst/>
            <a:gdLst>
              <a:gd name="csX0" fmla="*/ 0 w 3391167"/>
              <a:gd name="csY0" fmla="*/ 1479550 h 1578112"/>
              <a:gd name="csX1" fmla="*/ 3092450 w 3391167"/>
              <a:gd name="csY1" fmla="*/ 1543050 h 1578112"/>
              <a:gd name="csX2" fmla="*/ 3232150 w 3391167"/>
              <a:gd name="csY2" fmla="*/ 1441450 h 1578112"/>
              <a:gd name="csX3" fmla="*/ 3241675 w 3391167"/>
              <a:gd name="csY3" fmla="*/ 139700 h 1578112"/>
              <a:gd name="csX4" fmla="*/ 3121025 w 3391167"/>
              <a:gd name="csY4" fmla="*/ 41275 h 1578112"/>
              <a:gd name="csX5" fmla="*/ 9525 w 3391167"/>
              <a:gd name="csY5" fmla="*/ 0 h 1578112"/>
              <a:gd name="csX0" fmla="*/ 0 w 3391167"/>
              <a:gd name="csY0" fmla="*/ 1479550 h 1578112"/>
              <a:gd name="csX1" fmla="*/ 3092450 w 3391167"/>
              <a:gd name="csY1" fmla="*/ 1543050 h 1578112"/>
              <a:gd name="csX2" fmla="*/ 3232150 w 3391167"/>
              <a:gd name="csY2" fmla="*/ 1441450 h 1578112"/>
              <a:gd name="csX3" fmla="*/ 3241675 w 3391167"/>
              <a:gd name="csY3" fmla="*/ 139700 h 1578112"/>
              <a:gd name="csX4" fmla="*/ 3121025 w 3391167"/>
              <a:gd name="csY4" fmla="*/ 41275 h 1578112"/>
              <a:gd name="csX5" fmla="*/ 9525 w 3391167"/>
              <a:gd name="csY5" fmla="*/ 0 h 1578112"/>
              <a:gd name="csX0" fmla="*/ 0 w 3391167"/>
              <a:gd name="csY0" fmla="*/ 1479550 h 1578112"/>
              <a:gd name="csX1" fmla="*/ 3092450 w 3391167"/>
              <a:gd name="csY1" fmla="*/ 1543050 h 1578112"/>
              <a:gd name="csX2" fmla="*/ 3232150 w 3391167"/>
              <a:gd name="csY2" fmla="*/ 1441450 h 1578112"/>
              <a:gd name="csX3" fmla="*/ 3241675 w 3391167"/>
              <a:gd name="csY3" fmla="*/ 139700 h 1578112"/>
              <a:gd name="csX4" fmla="*/ 3121025 w 3391167"/>
              <a:gd name="csY4" fmla="*/ 41275 h 1578112"/>
              <a:gd name="csX5" fmla="*/ 9525 w 3391167"/>
              <a:gd name="csY5" fmla="*/ 0 h 1578112"/>
              <a:gd name="csX0" fmla="*/ 0 w 3391167"/>
              <a:gd name="csY0" fmla="*/ 1479550 h 1566641"/>
              <a:gd name="csX1" fmla="*/ 3092450 w 3391167"/>
              <a:gd name="csY1" fmla="*/ 1543050 h 1566641"/>
              <a:gd name="csX2" fmla="*/ 3232150 w 3391167"/>
              <a:gd name="csY2" fmla="*/ 1441450 h 1566641"/>
              <a:gd name="csX3" fmla="*/ 3241675 w 3391167"/>
              <a:gd name="csY3" fmla="*/ 139700 h 1566641"/>
              <a:gd name="csX4" fmla="*/ 3121025 w 3391167"/>
              <a:gd name="csY4" fmla="*/ 41275 h 1566641"/>
              <a:gd name="csX5" fmla="*/ 9525 w 3391167"/>
              <a:gd name="csY5" fmla="*/ 0 h 1566641"/>
              <a:gd name="csX0" fmla="*/ 0 w 3391167"/>
              <a:gd name="csY0" fmla="*/ 1479550 h 1554339"/>
              <a:gd name="csX1" fmla="*/ 3092450 w 3391167"/>
              <a:gd name="csY1" fmla="*/ 1543050 h 1554339"/>
              <a:gd name="csX2" fmla="*/ 3232150 w 3391167"/>
              <a:gd name="csY2" fmla="*/ 1441450 h 1554339"/>
              <a:gd name="csX3" fmla="*/ 3241675 w 3391167"/>
              <a:gd name="csY3" fmla="*/ 139700 h 1554339"/>
              <a:gd name="csX4" fmla="*/ 3121025 w 3391167"/>
              <a:gd name="csY4" fmla="*/ 41275 h 1554339"/>
              <a:gd name="csX5" fmla="*/ 9525 w 3391167"/>
              <a:gd name="csY5" fmla="*/ 0 h 1554339"/>
              <a:gd name="csX0" fmla="*/ 0 w 3384348"/>
              <a:gd name="csY0" fmla="*/ 1479550 h 1554339"/>
              <a:gd name="csX1" fmla="*/ 3092450 w 3384348"/>
              <a:gd name="csY1" fmla="*/ 1543050 h 1554339"/>
              <a:gd name="csX2" fmla="*/ 3232150 w 3384348"/>
              <a:gd name="csY2" fmla="*/ 1441450 h 1554339"/>
              <a:gd name="csX3" fmla="*/ 3241675 w 3384348"/>
              <a:gd name="csY3" fmla="*/ 139700 h 1554339"/>
              <a:gd name="csX4" fmla="*/ 3121025 w 3384348"/>
              <a:gd name="csY4" fmla="*/ 41275 h 1554339"/>
              <a:gd name="csX5" fmla="*/ 9525 w 3384348"/>
              <a:gd name="csY5" fmla="*/ 0 h 1554339"/>
              <a:gd name="csX0" fmla="*/ 0 w 3275815"/>
              <a:gd name="csY0" fmla="*/ 1479550 h 1554339"/>
              <a:gd name="csX1" fmla="*/ 3092450 w 3275815"/>
              <a:gd name="csY1" fmla="*/ 1543050 h 1554339"/>
              <a:gd name="csX2" fmla="*/ 3232150 w 3275815"/>
              <a:gd name="csY2" fmla="*/ 1441450 h 1554339"/>
              <a:gd name="csX3" fmla="*/ 3241675 w 3275815"/>
              <a:gd name="csY3" fmla="*/ 139700 h 1554339"/>
              <a:gd name="csX4" fmla="*/ 3121025 w 3275815"/>
              <a:gd name="csY4" fmla="*/ 41275 h 1554339"/>
              <a:gd name="csX5" fmla="*/ 9525 w 3275815"/>
              <a:gd name="csY5" fmla="*/ 0 h 1554339"/>
              <a:gd name="csX0" fmla="*/ 0 w 3375284"/>
              <a:gd name="csY0" fmla="*/ 1444737 h 1519526"/>
              <a:gd name="csX1" fmla="*/ 3092450 w 3375284"/>
              <a:gd name="csY1" fmla="*/ 1508237 h 1519526"/>
              <a:gd name="csX2" fmla="*/ 3232150 w 3375284"/>
              <a:gd name="csY2" fmla="*/ 1406637 h 1519526"/>
              <a:gd name="csX3" fmla="*/ 3241675 w 3375284"/>
              <a:gd name="csY3" fmla="*/ 104887 h 1519526"/>
              <a:gd name="csX4" fmla="*/ 3121025 w 3375284"/>
              <a:gd name="csY4" fmla="*/ 6462 h 1519526"/>
              <a:gd name="csX5" fmla="*/ 133350 w 3375284"/>
              <a:gd name="csY5" fmla="*/ 3287 h 1519526"/>
              <a:gd name="csX0" fmla="*/ 3175 w 3388453"/>
              <a:gd name="csY0" fmla="*/ 1445684 h 1520473"/>
              <a:gd name="csX1" fmla="*/ 3095625 w 3388453"/>
              <a:gd name="csY1" fmla="*/ 1509184 h 1520473"/>
              <a:gd name="csX2" fmla="*/ 3235325 w 3388453"/>
              <a:gd name="csY2" fmla="*/ 1407584 h 1520473"/>
              <a:gd name="csX3" fmla="*/ 3244850 w 3388453"/>
              <a:gd name="csY3" fmla="*/ 105834 h 1520473"/>
              <a:gd name="csX4" fmla="*/ 3124200 w 3388453"/>
              <a:gd name="csY4" fmla="*/ 7409 h 1520473"/>
              <a:gd name="csX5" fmla="*/ 0 w 3388453"/>
              <a:gd name="csY5" fmla="*/ 1059 h 1520473"/>
              <a:gd name="csX0" fmla="*/ 38100 w 3425937"/>
              <a:gd name="csY0" fmla="*/ 1443933 h 1518722"/>
              <a:gd name="csX1" fmla="*/ 3130550 w 3425937"/>
              <a:gd name="csY1" fmla="*/ 1507433 h 1518722"/>
              <a:gd name="csX2" fmla="*/ 3270250 w 3425937"/>
              <a:gd name="csY2" fmla="*/ 1405833 h 1518722"/>
              <a:gd name="csX3" fmla="*/ 3279775 w 3425937"/>
              <a:gd name="csY3" fmla="*/ 104083 h 1518722"/>
              <a:gd name="csX4" fmla="*/ 3159125 w 3425937"/>
              <a:gd name="csY4" fmla="*/ 5658 h 1518722"/>
              <a:gd name="csX5" fmla="*/ 0 w 3425937"/>
              <a:gd name="csY5" fmla="*/ 5658 h 1518722"/>
              <a:gd name="csX0" fmla="*/ 85725 w 3477052"/>
              <a:gd name="csY0" fmla="*/ 1444736 h 1519525"/>
              <a:gd name="csX1" fmla="*/ 3178175 w 3477052"/>
              <a:gd name="csY1" fmla="*/ 1508236 h 1519525"/>
              <a:gd name="csX2" fmla="*/ 3317875 w 3477052"/>
              <a:gd name="csY2" fmla="*/ 1406636 h 1519525"/>
              <a:gd name="csX3" fmla="*/ 3327400 w 3477052"/>
              <a:gd name="csY3" fmla="*/ 104886 h 1519525"/>
              <a:gd name="csX4" fmla="*/ 3206750 w 3477052"/>
              <a:gd name="csY4" fmla="*/ 6461 h 1519525"/>
              <a:gd name="csX5" fmla="*/ 0 w 3477052"/>
              <a:gd name="csY5" fmla="*/ 3286 h 1519525"/>
              <a:gd name="csX0" fmla="*/ 85725 w 3361540"/>
              <a:gd name="csY0" fmla="*/ 1455958 h 1530747"/>
              <a:gd name="csX1" fmla="*/ 3178175 w 3361540"/>
              <a:gd name="csY1" fmla="*/ 1519458 h 1530747"/>
              <a:gd name="csX2" fmla="*/ 3317875 w 3361540"/>
              <a:gd name="csY2" fmla="*/ 1417858 h 1530747"/>
              <a:gd name="csX3" fmla="*/ 3327400 w 3361540"/>
              <a:gd name="csY3" fmla="*/ 116108 h 1530747"/>
              <a:gd name="csX4" fmla="*/ 3206750 w 3361540"/>
              <a:gd name="csY4" fmla="*/ 17683 h 1530747"/>
              <a:gd name="csX5" fmla="*/ 0 w 3361540"/>
              <a:gd name="csY5" fmla="*/ 14508 h 1530747"/>
              <a:gd name="csX0" fmla="*/ 76200 w 3444061"/>
              <a:gd name="csY0" fmla="*/ 1468658 h 1519458"/>
              <a:gd name="csX1" fmla="*/ 3178175 w 3444061"/>
              <a:gd name="csY1" fmla="*/ 1519458 h 1519458"/>
              <a:gd name="csX2" fmla="*/ 3317875 w 3444061"/>
              <a:gd name="csY2" fmla="*/ 1417858 h 1519458"/>
              <a:gd name="csX3" fmla="*/ 3327400 w 3444061"/>
              <a:gd name="csY3" fmla="*/ 116108 h 1519458"/>
              <a:gd name="csX4" fmla="*/ 3206750 w 3444061"/>
              <a:gd name="csY4" fmla="*/ 17683 h 1519458"/>
              <a:gd name="csX5" fmla="*/ 0 w 3444061"/>
              <a:gd name="csY5" fmla="*/ 14508 h 1519458"/>
              <a:gd name="csX0" fmla="*/ 76200 w 3361540"/>
              <a:gd name="csY0" fmla="*/ 1468658 h 1519458"/>
              <a:gd name="csX1" fmla="*/ 3178175 w 3361540"/>
              <a:gd name="csY1" fmla="*/ 1519458 h 1519458"/>
              <a:gd name="csX2" fmla="*/ 3317875 w 3361540"/>
              <a:gd name="csY2" fmla="*/ 1417858 h 1519458"/>
              <a:gd name="csX3" fmla="*/ 3327400 w 3361540"/>
              <a:gd name="csY3" fmla="*/ 116108 h 1519458"/>
              <a:gd name="csX4" fmla="*/ 3206750 w 3361540"/>
              <a:gd name="csY4" fmla="*/ 17683 h 1519458"/>
              <a:gd name="csX5" fmla="*/ 0 w 3361540"/>
              <a:gd name="csY5" fmla="*/ 14508 h 1519458"/>
              <a:gd name="csX0" fmla="*/ 76200 w 3670679"/>
              <a:gd name="csY0" fmla="*/ 1468658 h 1562787"/>
              <a:gd name="csX1" fmla="*/ 3178175 w 3670679"/>
              <a:gd name="csY1" fmla="*/ 1519458 h 1562787"/>
              <a:gd name="csX2" fmla="*/ 3317875 w 3670679"/>
              <a:gd name="csY2" fmla="*/ 1417858 h 1562787"/>
              <a:gd name="csX3" fmla="*/ 3327400 w 3670679"/>
              <a:gd name="csY3" fmla="*/ 116108 h 1562787"/>
              <a:gd name="csX4" fmla="*/ 3206750 w 3670679"/>
              <a:gd name="csY4" fmla="*/ 17683 h 1562787"/>
              <a:gd name="csX5" fmla="*/ 0 w 3670679"/>
              <a:gd name="csY5" fmla="*/ 14508 h 1562787"/>
              <a:gd name="csX0" fmla="*/ 76200 w 3361540"/>
              <a:gd name="csY0" fmla="*/ 1468658 h 1546401"/>
              <a:gd name="csX1" fmla="*/ 3178175 w 3361540"/>
              <a:gd name="csY1" fmla="*/ 1519458 h 1546401"/>
              <a:gd name="csX2" fmla="*/ 3317875 w 3361540"/>
              <a:gd name="csY2" fmla="*/ 1417858 h 1546401"/>
              <a:gd name="csX3" fmla="*/ 3327400 w 3361540"/>
              <a:gd name="csY3" fmla="*/ 116108 h 1546401"/>
              <a:gd name="csX4" fmla="*/ 3206750 w 3361540"/>
              <a:gd name="csY4" fmla="*/ 17683 h 1546401"/>
              <a:gd name="csX5" fmla="*/ 0 w 3361540"/>
              <a:gd name="csY5" fmla="*/ 14508 h 1546401"/>
              <a:gd name="csX0" fmla="*/ 76200 w 3361540"/>
              <a:gd name="csY0" fmla="*/ 1468658 h 1527618"/>
              <a:gd name="csX1" fmla="*/ 3178175 w 3361540"/>
              <a:gd name="csY1" fmla="*/ 1519458 h 1527618"/>
              <a:gd name="csX2" fmla="*/ 3317875 w 3361540"/>
              <a:gd name="csY2" fmla="*/ 1417858 h 1527618"/>
              <a:gd name="csX3" fmla="*/ 3327400 w 3361540"/>
              <a:gd name="csY3" fmla="*/ 116108 h 1527618"/>
              <a:gd name="csX4" fmla="*/ 3206750 w 3361540"/>
              <a:gd name="csY4" fmla="*/ 17683 h 1527618"/>
              <a:gd name="csX5" fmla="*/ 0 w 3361540"/>
              <a:gd name="csY5" fmla="*/ 14508 h 1527618"/>
              <a:gd name="csX0" fmla="*/ 34925 w 3447077"/>
              <a:gd name="csY0" fmla="*/ 1497233 h 1519458"/>
              <a:gd name="csX1" fmla="*/ 3178175 w 3447077"/>
              <a:gd name="csY1" fmla="*/ 1519458 h 1519458"/>
              <a:gd name="csX2" fmla="*/ 3317875 w 3447077"/>
              <a:gd name="csY2" fmla="*/ 1417858 h 1519458"/>
              <a:gd name="csX3" fmla="*/ 3327400 w 3447077"/>
              <a:gd name="csY3" fmla="*/ 116108 h 1519458"/>
              <a:gd name="csX4" fmla="*/ 3206750 w 3447077"/>
              <a:gd name="csY4" fmla="*/ 17683 h 1519458"/>
              <a:gd name="csX5" fmla="*/ 0 w 3447077"/>
              <a:gd name="csY5" fmla="*/ 14508 h 1519458"/>
              <a:gd name="csX0" fmla="*/ 34925 w 3361540"/>
              <a:gd name="csY0" fmla="*/ 1497233 h 1519458"/>
              <a:gd name="csX1" fmla="*/ 3178175 w 3361540"/>
              <a:gd name="csY1" fmla="*/ 1519458 h 1519458"/>
              <a:gd name="csX2" fmla="*/ 3317875 w 3361540"/>
              <a:gd name="csY2" fmla="*/ 1417858 h 1519458"/>
              <a:gd name="csX3" fmla="*/ 3327400 w 3361540"/>
              <a:gd name="csY3" fmla="*/ 116108 h 1519458"/>
              <a:gd name="csX4" fmla="*/ 3206750 w 3361540"/>
              <a:gd name="csY4" fmla="*/ 17683 h 1519458"/>
              <a:gd name="csX5" fmla="*/ 0 w 3361540"/>
              <a:gd name="csY5" fmla="*/ 14508 h 151945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361540" h="1519458">
                <a:moveTo>
                  <a:pt x="34925" y="1497233"/>
                </a:moveTo>
                <a:lnTo>
                  <a:pt x="3178175" y="1519458"/>
                </a:lnTo>
                <a:cubicBezTo>
                  <a:pt x="3268133" y="1499879"/>
                  <a:pt x="3258079" y="1496175"/>
                  <a:pt x="3317875" y="1417858"/>
                </a:cubicBezTo>
                <a:cubicBezTo>
                  <a:pt x="3377671" y="1339541"/>
                  <a:pt x="3371321" y="174845"/>
                  <a:pt x="3327400" y="116108"/>
                </a:cubicBezTo>
                <a:cubicBezTo>
                  <a:pt x="3283479" y="57371"/>
                  <a:pt x="3291417" y="60016"/>
                  <a:pt x="3206750" y="17683"/>
                </a:cubicBezTo>
                <a:cubicBezTo>
                  <a:pt x="3122083" y="-24650"/>
                  <a:pt x="1286404" y="23504"/>
                  <a:pt x="0" y="14508"/>
                </a:cubicBezTo>
              </a:path>
            </a:pathLst>
          </a:custGeom>
          <a:noFill/>
          <a:ln>
            <a:solidFill>
              <a:srgbClr val="0070C0"/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6" name="Speech Bubble: Rectangle with Corners Rounded 1115">
                <a:extLst>
                  <a:ext uri="{FF2B5EF4-FFF2-40B4-BE49-F238E27FC236}">
                    <a16:creationId xmlns:a16="http://schemas.microsoft.com/office/drawing/2014/main" id="{3B37B11F-8A30-508B-7CAA-6435C1FC8734}"/>
                  </a:ext>
                </a:extLst>
              </p:cNvPr>
              <p:cNvSpPr/>
              <p:nvPr/>
            </p:nvSpPr>
            <p:spPr>
              <a:xfrm>
                <a:off x="9372338" y="4573769"/>
                <a:ext cx="1526058" cy="527501"/>
              </a:xfrm>
              <a:prstGeom prst="wedgeRoundRectCallout">
                <a:avLst>
                  <a:gd name="adj1" fmla="val 69442"/>
                  <a:gd name="adj2" fmla="val 22671"/>
                  <a:gd name="adj3" fmla="val 16667"/>
                </a:avLst>
              </a:prstGeom>
              <a:solidFill>
                <a:srgbClr val="FFFC8F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sz="800" b="1" dirty="0" err="1">
                    <a:solidFill>
                      <a:schemeClr val="tx1"/>
                    </a:solidFill>
                  </a:rPr>
                  <a:t>DataBatch</a:t>
                </a:r>
                <a:r>
                  <a:rPr lang="en-US" sz="800" dirty="0">
                    <a:solidFill>
                      <a:schemeClr val="tx1"/>
                    </a:solidFill>
                  </a:rPr>
                  <a:t> that transports the inter-rank decode activations of size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𝑑𝑒𝑐𝑜𝑑𝑒</m:t>
                        </m:r>
                      </m:sub>
                    </m:sSub>
                  </m:oMath>
                </a14:m>
                <a:r>
                  <a:rPr lang="en-US" sz="800" dirty="0">
                    <a:solidFill>
                      <a:schemeClr val="tx1"/>
                    </a:solidFill>
                  </a:rPr>
                  <a:t> takes this path</a:t>
                </a:r>
              </a:p>
            </p:txBody>
          </p:sp>
        </mc:Choice>
        <mc:Fallback xmlns="">
          <p:sp>
            <p:nvSpPr>
              <p:cNvPr id="1116" name="Speech Bubble: Rectangle with Corners Rounded 1115">
                <a:extLst>
                  <a:ext uri="{FF2B5EF4-FFF2-40B4-BE49-F238E27FC236}">
                    <a16:creationId xmlns:a16="http://schemas.microsoft.com/office/drawing/2014/main" id="{3B37B11F-8A30-508B-7CAA-6435C1FC87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2338" y="4573769"/>
                <a:ext cx="1526058" cy="527501"/>
              </a:xfrm>
              <a:prstGeom prst="wedgeRoundRectCallout">
                <a:avLst>
                  <a:gd name="adj1" fmla="val 69442"/>
                  <a:gd name="adj2" fmla="val 22671"/>
                  <a:gd name="adj3" fmla="val 16667"/>
                </a:avLst>
              </a:prstGeom>
              <a:blipFill>
                <a:blip r:embed="rId7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9150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2780</TotalTime>
  <Words>1221</Words>
  <Application>Microsoft Office PowerPoint</Application>
  <PresentationFormat>Widescreen</PresentationFormat>
  <Paragraphs>215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Cambria Math</vt:lpstr>
      <vt:lpstr>Office Theme</vt:lpstr>
      <vt:lpstr>Discrete-Event Simulator (DES)</vt:lpstr>
      <vt:lpstr>DataBatch      Transfer Modeling</vt:lpstr>
      <vt:lpstr>ComputeJob      Modeling</vt:lpstr>
      <vt:lpstr>UML Class Diagram</vt:lpstr>
      <vt:lpstr>Disaggregated PD with Pipeline Parallelism (logical view)</vt:lpstr>
      <vt:lpstr>Disaggregated PD with Pipeline Parallelism (physical view)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Virgil Mocanu</dc:creator>
  <cp:lastModifiedBy>Virgil Mocanu</cp:lastModifiedBy>
  <cp:revision>413</cp:revision>
  <dcterms:created xsi:type="dcterms:W3CDTF">2026-01-07T03:01:36Z</dcterms:created>
  <dcterms:modified xsi:type="dcterms:W3CDTF">2026-01-21T02:51:21Z</dcterms:modified>
</cp:coreProperties>
</file>