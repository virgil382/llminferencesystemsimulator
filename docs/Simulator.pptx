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0" r:id="rId3"/>
    <p:sldId id="264" r:id="rId4"/>
    <p:sldId id="265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C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538" autoAdjust="0"/>
  </p:normalViewPr>
  <p:slideViewPr>
    <p:cSldViewPr snapToGrid="0">
      <p:cViewPr varScale="1">
        <p:scale>
          <a:sx n="98" d="100"/>
          <a:sy n="98" d="100"/>
        </p:scale>
        <p:origin x="159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4746B9-973E-42EE-833B-2CCE415A7F55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E4984D-4A2B-49D3-A2B8-537353A371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479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87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14CDCA-67F7-B0DA-5147-717B19AB5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2BC998-16E1-5F12-CB7F-08D5E63D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4E555C-4398-A00D-12C3-77066CC7D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A265D-F9C4-3D6F-318B-BD3B076DE6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4215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FAFD-FC17-1A97-09D3-9F69DA4C6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446FAF-B8EE-B3B6-1521-A099B92990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7EEF34-9257-5671-6392-F0F456EEBA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A74B98-5A0E-545D-4DBA-B66281B02C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E4984D-4A2B-49D3-A2B8-537353A371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94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9017B-033C-889B-1F68-10744C6069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1B2449-7035-559C-A11B-67CBDC5B0C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0EA0CA-0E4E-B6C8-969F-6F9AC275F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9A0BF-3283-A359-891E-A003BF4E4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E0A263-77E2-9307-3EEF-76084A53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7543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F3B0BD-2EF9-D851-7EF5-D359F71C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59CCF-32CF-3267-057A-0255953377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1D5B3A-CC0B-C44B-1E08-71F0D678D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24E61A-E0DA-B5A1-B436-2131F96B52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C79267-AE62-DC0B-D53B-3FF4261D9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8715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BFE12C-921F-19B3-09F4-0FFF176428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107A37-57A5-A0A2-4B17-1C86210C6A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CA903-575B-03A3-0E52-C076CACDF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725957-848A-FD11-D6A7-83432C279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8F174F-DE02-44E6-6B1A-5B2E8C239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219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1DEA-CC3E-4270-4FCC-BFE3B8927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EB73-0694-C227-4D61-AE2D50EFA0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8E0B569-6DEF-0D95-74E7-E636DB9E1F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76AED7-DFF5-C60B-ADE2-865B2BAFA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CAB50A-1FF9-8351-513C-F3410F53B7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2BE812-9FAB-E971-9994-292EE307C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6477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B913-BA46-404C-7FD1-3C756B757F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F45D36-5399-BB9A-A420-0A7804CEFE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CD901D-9408-8B89-49BA-42679AB4D6B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811B1C8-1477-15F8-54DB-FF944AA5BE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B4CB4D-E393-B0C8-3C7B-1D7188A236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70C3079-4E52-1D84-729E-E5C7FB71E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4B6A14-A0A5-E370-51CF-4B3327776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E12843A-B7AB-084A-85A9-1A79CF656B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8839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661E73-396B-AF51-D7C1-471EC5D035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FCAF2D-35A2-88D0-0B94-E17155C31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17B86C-4D9C-1C49-3D6B-07F98DAFAB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EA44-85B2-C592-37BB-51E59C6B5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52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CD8A47-FA01-64D1-C2D1-5BB96DC502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8996C1-5FF4-6DBF-3A42-7AF2A4C877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8A2076-6AA0-4540-63D4-6AD226954E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04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4FB24-5F39-7BB9-3AB4-A3784ED2BF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5C80AC-EA21-9CBD-F7DE-2E04C6686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6C5C86-315E-4904-A92B-FA3D6F7A6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587E7-AEC4-63C5-342A-62F1D4D7A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27B2E13-C121-C403-3A1F-A0B1F79C63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F935FB-A9E9-5C1E-3921-D1F7646A5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4954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8CFC5-7FC9-7AE1-D69A-065B92A8F0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22B691-0D3C-7BC6-9AA2-A512B63740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8DB58-ED24-38BF-33AB-DD61E30A9A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A0044B-83D7-8BB8-DC22-17E45BB67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F38088-55D5-7394-7902-224A83D624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4A1A4C-79BE-5282-9E01-29DDAA902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820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7D12E-5271-3447-FF72-39F8662C3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2CF66F-39B3-8731-B629-790BAD21DE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17C580-2CD8-72DC-388F-304673135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6F1D-640D-4269-45C8-92E672746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06493-4DD1-9198-C366-041CFFF9D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323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5AD6FDC-3A7A-D5C1-587E-BE11015B41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A35BF6-9AC3-BB40-7CDF-AEBFDCDE41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7C086B-4A0A-933B-81A3-BDC9FACAD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1CB3A5-D919-CD88-2BC0-C60999320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1A29E8-622C-0ED4-10B9-2218E168B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15364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3F6F36-FAB2-13C4-D7AA-E459B55DC0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A89BAD-4733-22B8-C088-6EF6E5AB4D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68C975-81D1-CAC0-ADEC-7F01DCDD9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2CBEE99-EB13-440C-B182-3BC3988FEC29}" type="datetimeFigureOut">
              <a:rPr lang="en-US" smtClean="0"/>
              <a:t>1/17/2026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42E29-7346-04B0-654C-8FC185D760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B416E6-1B1F-FC0E-5179-C3979D1418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D302E2-632A-4EB4-B76C-5F94BE43E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318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78EF94-C843-577B-4C92-521EDDB8EDD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5400" dirty="0"/>
              <a:t>Discrete-Event Simulation (DES)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CAFB8C-B0B5-B7F7-88B7-DB868869DA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of Concurrent Communication and Computation in Distributed Systems</a:t>
            </a:r>
          </a:p>
        </p:txBody>
      </p:sp>
    </p:spTree>
    <p:extLst>
      <p:ext uri="{BB962C8B-B14F-4D97-AF65-F5344CB8AC3E}">
        <p14:creationId xmlns:p14="http://schemas.microsoft.com/office/powerpoint/2010/main" val="21707857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D344D1-E028-570F-40E1-10318CF70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60ABB144-8567-01C8-5938-BFCB5703F0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DataBatch</a:t>
            </a:r>
            <a:r>
              <a:rPr lang="en-US" dirty="0"/>
              <a:t>      Transfer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/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7B70815-166E-051C-8A95-DEC25272BC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05267" y="4881496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/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A7C038A-EC88-DCC9-C05B-45B62475EB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7741" y="453518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/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A5DDA25E-77F0-3208-265F-E372686E25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3" y="2647394"/>
                <a:ext cx="1330763" cy="637237"/>
              </a:xfrm>
              <a:prstGeom prst="wedgeRoundRectCallout">
                <a:avLst>
                  <a:gd name="adj1" fmla="val 30520"/>
                  <a:gd name="adj2" fmla="val -80928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/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05FE8387-4834-FBA0-391F-35AD091109B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32428" y="2576003"/>
                <a:ext cx="1330763" cy="637237"/>
              </a:xfrm>
              <a:prstGeom prst="wedgeRoundRectCallout">
                <a:avLst>
                  <a:gd name="adj1" fmla="val -31108"/>
                  <a:gd name="adj2" fmla="val -83838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6" name="Freeform: Shape 465">
            <a:extLst>
              <a:ext uri="{FF2B5EF4-FFF2-40B4-BE49-F238E27FC236}">
                <a16:creationId xmlns:a16="http://schemas.microsoft.com/office/drawing/2014/main" id="{66A24853-0C58-4BF7-2AA8-A9917F6E37E3}"/>
              </a:ext>
            </a:extLst>
          </p:cNvPr>
          <p:cNvSpPr/>
          <p:nvPr/>
        </p:nvSpPr>
        <p:spPr>
          <a:xfrm>
            <a:off x="1680210" y="1310639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FF000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7" name="Freeform: Shape 466">
            <a:extLst>
              <a:ext uri="{FF2B5EF4-FFF2-40B4-BE49-F238E27FC236}">
                <a16:creationId xmlns:a16="http://schemas.microsoft.com/office/drawing/2014/main" id="{AF716250-8479-115E-2D3E-4CA6DB4F87FB}"/>
              </a:ext>
            </a:extLst>
          </p:cNvPr>
          <p:cNvSpPr/>
          <p:nvPr/>
        </p:nvSpPr>
        <p:spPr>
          <a:xfrm flipH="1">
            <a:off x="3408136" y="1310638"/>
            <a:ext cx="1676870" cy="3842365"/>
          </a:xfrm>
          <a:custGeom>
            <a:avLst/>
            <a:gdLst>
              <a:gd name="csX0" fmla="*/ 996950 w 1676870"/>
              <a:gd name="csY0" fmla="*/ 3816350 h 3919922"/>
              <a:gd name="csX1" fmla="*/ 1498600 w 1676870"/>
              <a:gd name="csY1" fmla="*/ 3790950 h 3919922"/>
              <a:gd name="csX2" fmla="*/ 1676400 w 1676870"/>
              <a:gd name="csY2" fmla="*/ 2540000 h 3919922"/>
              <a:gd name="csX3" fmla="*/ 1524000 w 1676870"/>
              <a:gd name="csY3" fmla="*/ 1555750 h 3919922"/>
              <a:gd name="csX4" fmla="*/ 869950 w 1676870"/>
              <a:gd name="csY4" fmla="*/ 882650 h 3919922"/>
              <a:gd name="csX5" fmla="*/ 0 w 1676870"/>
              <a:gd name="csY5" fmla="*/ 0 h 3919922"/>
              <a:gd name="csX0" fmla="*/ 996950 w 1676870"/>
              <a:gd name="csY0" fmla="*/ 3816350 h 3870761"/>
              <a:gd name="csX1" fmla="*/ 1498600 w 1676870"/>
              <a:gd name="csY1" fmla="*/ 3790950 h 3870761"/>
              <a:gd name="csX2" fmla="*/ 1676400 w 1676870"/>
              <a:gd name="csY2" fmla="*/ 2540000 h 3870761"/>
              <a:gd name="csX3" fmla="*/ 1524000 w 1676870"/>
              <a:gd name="csY3" fmla="*/ 1555750 h 3870761"/>
              <a:gd name="csX4" fmla="*/ 869950 w 1676870"/>
              <a:gd name="csY4" fmla="*/ 882650 h 3870761"/>
              <a:gd name="csX5" fmla="*/ 0 w 1676870"/>
              <a:gd name="csY5" fmla="*/ 0 h 3870761"/>
              <a:gd name="csX0" fmla="*/ 996950 w 1676870"/>
              <a:gd name="csY0" fmla="*/ 3816350 h 3842365"/>
              <a:gd name="csX1" fmla="*/ 1498600 w 1676870"/>
              <a:gd name="csY1" fmla="*/ 3790950 h 3842365"/>
              <a:gd name="csX2" fmla="*/ 1676400 w 1676870"/>
              <a:gd name="csY2" fmla="*/ 2540000 h 3842365"/>
              <a:gd name="csX3" fmla="*/ 1524000 w 1676870"/>
              <a:gd name="csY3" fmla="*/ 1555750 h 3842365"/>
              <a:gd name="csX4" fmla="*/ 869950 w 1676870"/>
              <a:gd name="csY4" fmla="*/ 882650 h 3842365"/>
              <a:gd name="csX5" fmla="*/ 0 w 1676870"/>
              <a:gd name="csY5" fmla="*/ 0 h 3842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76870" h="3842365">
                <a:moveTo>
                  <a:pt x="996950" y="3816350"/>
                </a:moveTo>
                <a:cubicBezTo>
                  <a:pt x="1248304" y="3840162"/>
                  <a:pt x="1328208" y="3870325"/>
                  <a:pt x="1498600" y="3790950"/>
                </a:cubicBezTo>
                <a:cubicBezTo>
                  <a:pt x="1668992" y="3711575"/>
                  <a:pt x="1672167" y="2912533"/>
                  <a:pt x="1676400" y="2540000"/>
                </a:cubicBezTo>
                <a:cubicBezTo>
                  <a:pt x="1680633" y="2167467"/>
                  <a:pt x="1658408" y="1831975"/>
                  <a:pt x="1524000" y="1555750"/>
                </a:cubicBezTo>
                <a:cubicBezTo>
                  <a:pt x="1389592" y="1279525"/>
                  <a:pt x="869950" y="882650"/>
                  <a:pt x="869950" y="882650"/>
                </a:cubicBezTo>
                <a:lnTo>
                  <a:pt x="0" y="0"/>
                </a:lnTo>
              </a:path>
            </a:pathLst>
          </a:custGeom>
          <a:noFill/>
          <a:ln>
            <a:solidFill>
              <a:srgbClr val="00B050"/>
            </a:solidFill>
            <a:tailEnd type="arrow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/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2" name="TextBox 461">
                <a:extLst>
                  <a:ext uri="{FF2B5EF4-FFF2-40B4-BE49-F238E27FC236}">
                    <a16:creationId xmlns:a16="http://schemas.microsoft.com/office/drawing/2014/main" id="{7FC09368-CA99-C80D-4AB0-0C3700F0BD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22745" y="3605231"/>
                <a:ext cx="499351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/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.  For some time,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contend for its bandwidth (until the transfer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rgbClr val="FF0000"/>
                    </a:solidFill>
                  </a:rPr>
                  <a:t> </a:t>
                </a:r>
                <a:r>
                  <a:rPr lang="en-US" sz="1000" dirty="0">
                    <a:solidFill>
                      <a:schemeClr val="tx1"/>
                    </a:solidFill>
                  </a:rPr>
                  <a:t>completes).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9" name="Speech Bubble: Rectangle with Corners Rounded 468">
                <a:extLst>
                  <a:ext uri="{FF2B5EF4-FFF2-40B4-BE49-F238E27FC236}">
                    <a16:creationId xmlns:a16="http://schemas.microsoft.com/office/drawing/2014/main" id="{69690AD6-E06E-6AB5-50A8-D6EB76AC43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37149" y="3529243"/>
                <a:ext cx="2010704" cy="875087"/>
              </a:xfrm>
              <a:prstGeom prst="wedgeRoundRectCallout">
                <a:avLst>
                  <a:gd name="adj1" fmla="val -70167"/>
                  <a:gd name="adj2" fmla="val -28863"/>
                  <a:gd name="adj3" fmla="val 16667"/>
                </a:avLst>
              </a:prstGeom>
              <a:blipFill>
                <a:blip r:embed="rId8"/>
                <a:stretch>
                  <a:fillRect b="-6207"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/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9E496F38-9428-09B7-02CC-772CF22248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5702" y="856188"/>
                <a:ext cx="986111" cy="393121"/>
              </a:xfrm>
              <a:prstGeom prst="rect">
                <a:avLst/>
              </a:prstGeom>
              <a:blipFill>
                <a:blip r:embed="rId9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/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D2B34359-87CB-CC33-C2A0-793B451E2C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5006" y="939036"/>
                <a:ext cx="986111" cy="393121"/>
              </a:xfrm>
              <a:prstGeom prst="rect">
                <a:avLst/>
              </a:prstGeom>
              <a:blipFill>
                <a:blip r:embed="rId10"/>
                <a:stretch>
                  <a:fillRect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C3A50389-FE3B-5D1B-7C3D-C0B706914EDE}"/>
              </a:ext>
            </a:extLst>
          </p:cNvPr>
          <p:cNvSpPr txBox="1"/>
          <p:nvPr/>
        </p:nvSpPr>
        <p:spPr>
          <a:xfrm>
            <a:off x="1782558" y="5397438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291862-C58F-45E7-C587-FAFE08B77B3B}"/>
              </a:ext>
            </a:extLst>
          </p:cNvPr>
          <p:cNvSpPr txBox="1"/>
          <p:nvPr/>
        </p:nvSpPr>
        <p:spPr>
          <a:xfrm>
            <a:off x="4170413" y="5563182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07BF0086-977F-41D6-3EEB-6E9F9BA60992}"/>
              </a:ext>
            </a:extLst>
          </p:cNvPr>
          <p:cNvGrpSpPr/>
          <p:nvPr/>
        </p:nvGrpSpPr>
        <p:grpSpPr>
          <a:xfrm>
            <a:off x="3036667" y="2974340"/>
            <a:ext cx="703385" cy="1668584"/>
            <a:chOff x="4712677" y="2188308"/>
            <a:chExt cx="703385" cy="1668584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57299890-6C4E-DE98-B2E4-A2A4B32EF9F5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1228553C-E4AF-2968-529D-3A2912C54126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03946E9F-1E29-8C62-90B8-C39317034643}"/>
                </a:ext>
              </a:extLst>
            </p:cNvPr>
            <p:cNvCxnSpPr>
              <a:stCxn id="16" idx="2"/>
              <a:endCxn id="18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9D98562C-F6E0-6F57-04AE-5E70A930114E}"/>
                </a:ext>
              </a:extLst>
            </p:cNvPr>
            <p:cNvCxnSpPr>
              <a:stCxn id="16" idx="6"/>
              <a:endCxn id="18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B020598-D92F-76BB-3545-EF7228A26CBD}"/>
              </a:ext>
            </a:extLst>
          </p:cNvPr>
          <p:cNvGrpSpPr/>
          <p:nvPr/>
        </p:nvGrpSpPr>
        <p:grpSpPr>
          <a:xfrm rot="18993548">
            <a:off x="2152939" y="1292455"/>
            <a:ext cx="703385" cy="1668584"/>
            <a:chOff x="4712677" y="2188308"/>
            <a:chExt cx="703385" cy="1668584"/>
          </a:xfrm>
        </p:grpSpPr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B4ACEA3-B876-DA67-4A17-70FD6DF42FF9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2D66C5FE-DE89-B299-EBC6-0993B3982F98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09E9F5A1-AA7A-7213-CC67-BDCE2C693420}"/>
                </a:ext>
              </a:extLst>
            </p:cNvPr>
            <p:cNvCxnSpPr>
              <a:stCxn id="25" idx="2"/>
              <a:endCxn id="2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A6D816E-316E-CC74-DD6B-7D291EB9A880}"/>
                </a:ext>
              </a:extLst>
            </p:cNvPr>
            <p:cNvCxnSpPr>
              <a:stCxn id="25" idx="6"/>
              <a:endCxn id="2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23E5CDEC-C296-2168-D605-25764399E743}"/>
              </a:ext>
            </a:extLst>
          </p:cNvPr>
          <p:cNvGrpSpPr/>
          <p:nvPr/>
        </p:nvGrpSpPr>
        <p:grpSpPr>
          <a:xfrm rot="2513119">
            <a:off x="3887462" y="1284127"/>
            <a:ext cx="703385" cy="1668584"/>
            <a:chOff x="4712677" y="2188308"/>
            <a:chExt cx="703385" cy="1668584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A420D6B3-BC3E-0CCE-DF5E-7ABB0B9CBC06}"/>
                </a:ext>
              </a:extLst>
            </p:cNvPr>
            <p:cNvSpPr/>
            <p:nvPr/>
          </p:nvSpPr>
          <p:spPr>
            <a:xfrm>
              <a:off x="4712677" y="2188308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926DF407-E428-1146-2713-F369DBEC8BC2}"/>
                </a:ext>
              </a:extLst>
            </p:cNvPr>
            <p:cNvSpPr/>
            <p:nvPr/>
          </p:nvSpPr>
          <p:spPr>
            <a:xfrm>
              <a:off x="4712677" y="3622431"/>
              <a:ext cx="703385" cy="234461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E405E9E-AC6F-EAF4-E454-0E00897BB049}"/>
                </a:ext>
              </a:extLst>
            </p:cNvPr>
            <p:cNvCxnSpPr>
              <a:stCxn id="35" idx="2"/>
              <a:endCxn id="36" idx="2"/>
            </p:cNvCxnSpPr>
            <p:nvPr/>
          </p:nvCxnSpPr>
          <p:spPr>
            <a:xfrm>
              <a:off x="4712677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6362C9A7-55FE-959D-1AAA-2EE7E6C32747}"/>
                </a:ext>
              </a:extLst>
            </p:cNvPr>
            <p:cNvCxnSpPr>
              <a:stCxn id="35" idx="6"/>
              <a:endCxn id="36" idx="6"/>
            </p:cNvCxnSpPr>
            <p:nvPr/>
          </p:nvCxnSpPr>
          <p:spPr>
            <a:xfrm>
              <a:off x="5416062" y="2305539"/>
              <a:ext cx="0" cy="143412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/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0" name="TextBox 459">
                <a:extLst>
                  <a:ext uri="{FF2B5EF4-FFF2-40B4-BE49-F238E27FC236}">
                    <a16:creationId xmlns:a16="http://schemas.microsoft.com/office/drawing/2014/main" id="{50EDC768-7A69-CF3A-60DB-8F12C564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44085" y="1911050"/>
                <a:ext cx="499351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/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800" dirty="0">
                    <a:solidFill>
                      <a:schemeClr val="tx1"/>
                    </a:solidFill>
                  </a:rPr>
                  <a:t> </a:t>
                </a:r>
                <a:endParaRPr lang="en-US" dirty="0"/>
              </a:p>
            </p:txBody>
          </p:sp>
        </mc:Choice>
        <mc:Fallback xmlns="">
          <p:sp>
            <p:nvSpPr>
              <p:cNvPr id="461" name="TextBox 460">
                <a:extLst>
                  <a:ext uri="{FF2B5EF4-FFF2-40B4-BE49-F238E27FC236}">
                    <a16:creationId xmlns:a16="http://schemas.microsoft.com/office/drawing/2014/main" id="{39DB6BA3-1D10-1D39-99A0-7B1A84D8EF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55131" y="1939708"/>
                <a:ext cx="499351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/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 data transfer task D (referred to as a </a:t>
                </a:r>
                <a:r>
                  <a:rPr lang="en-US" dirty="0" err="1"/>
                  <a:t>DataBatch</a:t>
                </a:r>
                <a:r>
                  <a:rPr lang="en-US" dirty="0"/>
                  <a:t>) is defined by its payload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and a discrete path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 The total transfer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sub>
                    </m:sSub>
                  </m:oMath>
                </a14:m>
                <a:r>
                  <a:rPr lang="en-US" dirty="0"/>
                  <a:t> is the sum of the cumulative propagation delay and the serialization delay: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nary>
                            <m:naryPr>
                              <m:limLoc m:val="undOvr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4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sup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𝑑𝑆</m:t>
                              </m:r>
                            </m:e>
                          </m:nary>
                        </m:e>
                      </m:nary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dirty="0"/>
                  <a:t> is the instantaneous rate allocated to the batch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based on network contention.</a:t>
                </a:r>
              </a:p>
              <a:p>
                <a:endParaRPr lang="en-US" dirty="0"/>
              </a:p>
              <a:p>
                <a:r>
                  <a:rPr lang="en-US" dirty="0"/>
                  <a:t>The transfer rate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for a </a:t>
                </a:r>
                <a:r>
                  <a:rPr lang="en-US" dirty="0" err="1"/>
                  <a:t>DataBatch</a:t>
                </a:r>
                <a:r>
                  <a:rPr lang="en-US" dirty="0"/>
                  <a:t> D, is determined by selecting the minimum transfer rate along its path P.  The bandwidth of each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dirty="0"/>
                  <a:t> is evenly shared with other </a:t>
                </a:r>
                <a:r>
                  <a:rPr lang="en-US" dirty="0" err="1"/>
                  <a:t>DataBatches</a:t>
                </a:r>
                <a:r>
                  <a:rPr lang="en-US" dirty="0"/>
                  <a:t> that may be using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at time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83" name="TextBox 82">
                <a:extLst>
                  <a:ext uri="{FF2B5EF4-FFF2-40B4-BE49-F238E27FC236}">
                    <a16:creationId xmlns:a16="http://schemas.microsoft.com/office/drawing/2014/main" id="{DD5B733B-20CC-BC92-9D83-3C86B73D6F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5625" y="939036"/>
                <a:ext cx="4867275" cy="5083828"/>
              </a:xfrm>
              <a:prstGeom prst="rect">
                <a:avLst/>
              </a:prstGeom>
              <a:blipFill>
                <a:blip r:embed="rId13"/>
                <a:stretch>
                  <a:fillRect l="-1128" t="-600" r="-12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4" name="Rectangle 83">
            <a:extLst>
              <a:ext uri="{FF2B5EF4-FFF2-40B4-BE49-F238E27FC236}">
                <a16:creationId xmlns:a16="http://schemas.microsoft.com/office/drawing/2014/main" id="{9F4B133C-AE0B-C127-90DA-973FDD099797}"/>
              </a:ext>
            </a:extLst>
          </p:cNvPr>
          <p:cNvSpPr/>
          <p:nvPr/>
        </p:nvSpPr>
        <p:spPr>
          <a:xfrm>
            <a:off x="2416637" y="182061"/>
            <a:ext cx="304337" cy="304337"/>
          </a:xfrm>
          <a:prstGeom prst="rect">
            <a:avLst/>
          </a:prstGeom>
          <a:solidFill>
            <a:schemeClr val="bg1">
              <a:alpha val="4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2608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31AB5-319C-C96C-F482-3596B2462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29F488FC-191A-CEC8-8886-726DA89FC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68458"/>
          </a:xfrm>
        </p:spPr>
        <p:txBody>
          <a:bodyPr>
            <a:normAutofit fontScale="90000"/>
          </a:bodyPr>
          <a:lstStyle/>
          <a:p>
            <a:r>
              <a:rPr lang="en-US" dirty="0" err="1"/>
              <a:t>ComputeJob</a:t>
            </a:r>
            <a:r>
              <a:rPr lang="en-US" dirty="0"/>
              <a:t>      Modeling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/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solidFill>
                <a:srgbClr val="FF000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36BC1AE5-6586-3569-E90F-6B564250B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0673" y="2773411"/>
                <a:ext cx="484554" cy="48455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/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solidFill>
                <a:srgbClr val="00B050">
                  <a:alpha val="44000"/>
                </a:srgb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4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0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4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738FCDE1-47FA-1999-6AA4-FA87DC1E7A1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5773" y="3933202"/>
                <a:ext cx="1013161" cy="101316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/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4" name="Speech Bubble: Rectangle with Corners Rounded 53">
                <a:extLst>
                  <a:ext uri="{FF2B5EF4-FFF2-40B4-BE49-F238E27FC236}">
                    <a16:creationId xmlns:a16="http://schemas.microsoft.com/office/drawing/2014/main" id="{6C9314B9-586B-E658-594E-B46FA28129B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9148" y="3184415"/>
                <a:ext cx="1330763" cy="637237"/>
              </a:xfrm>
              <a:prstGeom prst="wedgeRoundRectCallout">
                <a:avLst>
                  <a:gd name="adj1" fmla="val 22504"/>
                  <a:gd name="adj2" fmla="val 76916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/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CommChannel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bandwidth</m:t>
                    </m:r>
                    <m:r>
                      <a:rPr lang="en-US" sz="10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and latency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1000" dirty="0">
                  <a:solidFill>
                    <a:schemeClr val="tx1"/>
                  </a:solidFill>
                </a:endParaRP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9" name="Speech Bubble: Rectangle with Corners Rounded 58">
                <a:extLst>
                  <a:ext uri="{FF2B5EF4-FFF2-40B4-BE49-F238E27FC236}">
                    <a16:creationId xmlns:a16="http://schemas.microsoft.com/office/drawing/2014/main" id="{87FBD2D1-1F90-5975-D8E8-8AB3AF9E1E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8304" y="1723822"/>
                <a:ext cx="1330763" cy="637237"/>
              </a:xfrm>
              <a:prstGeom prst="wedgeRoundRectCallout">
                <a:avLst>
                  <a:gd name="adj1" fmla="val 20426"/>
                  <a:gd name="adj2" fmla="val 71614"/>
                  <a:gd name="adj3" fmla="val 16667"/>
                </a:avLst>
              </a:prstGeom>
              <a:blipFill>
                <a:blip r:embed="rId6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ECF99AED-B128-8508-A9E4-2CBD168862AE}"/>
              </a:ext>
            </a:extLst>
          </p:cNvPr>
          <p:cNvGrpSpPr/>
          <p:nvPr/>
        </p:nvGrpSpPr>
        <p:grpSpPr>
          <a:xfrm rot="5400000">
            <a:off x="3502934" y="2181396"/>
            <a:ext cx="703385" cy="1668584"/>
            <a:chOff x="5094067" y="2974340"/>
            <a:chExt cx="703385" cy="1668584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AF8E658-9B49-6639-275E-1EDBD148AA8D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22D4768-5B39-1FFE-27B8-EE790806D022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0A8C083B-332B-87BA-7797-C25D11E0300B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04FFECC3-3372-75E7-4067-3717D5EFF745}"/>
                  </a:ext>
                </a:extLst>
              </p:cNvPr>
              <p:cNvCxnSpPr>
                <a:stCxn id="16" idx="2"/>
                <a:endCxn id="18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D783E84-D448-9FDC-BCA1-35D54505CAEE}"/>
                  </a:ext>
                </a:extLst>
              </p:cNvPr>
              <p:cNvCxnSpPr>
                <a:stCxn id="16" idx="6"/>
                <a:endCxn id="18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462" name="TextBox 461">
                  <a:extLst>
                    <a:ext uri="{FF2B5EF4-FFF2-40B4-BE49-F238E27FC236}">
                      <a16:creationId xmlns:a16="http://schemas.microsoft.com/office/drawing/2014/main" id="{E6D47E06-90A8-AD4C-D2E0-032AA7FA177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/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sSub>
                            <m:sSubPr>
                              <m:ctrlPr>
                                <a:rPr lang="en-US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b="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?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9BBE6CF5-9640-7C2F-2900-B610F25238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1225" y="4215388"/>
                <a:ext cx="986111" cy="393121"/>
              </a:xfrm>
              <a:prstGeom prst="rect">
                <a:avLst/>
              </a:prstGeom>
              <a:blipFill>
                <a:blip r:embed="rId8"/>
                <a:stretch>
                  <a:fillRect b="-15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/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solidFill>
                <a:schemeClr val="accent5">
                  <a:lumMod val="50000"/>
                  <a:alpha val="3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Isosceles Triangle 12">
                <a:extLst>
                  <a:ext uri="{FF2B5EF4-FFF2-40B4-BE49-F238E27FC236}">
                    <a16:creationId xmlns:a16="http://schemas.microsoft.com/office/drawing/2014/main" id="{D80E1023-F4B5-9F59-8D0B-A62FD1CACD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9681" y="2557790"/>
                <a:ext cx="1025345" cy="883918"/>
              </a:xfrm>
              <a:prstGeom prst="triangle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7E0CBA-472A-4372-5EE6-CD9F9C2C57E1}"/>
              </a:ext>
            </a:extLst>
          </p:cNvPr>
          <p:cNvCxnSpPr>
            <a:cxnSpLocks/>
          </p:cNvCxnSpPr>
          <p:nvPr/>
        </p:nvCxnSpPr>
        <p:spPr>
          <a:xfrm flipV="1">
            <a:off x="2417445" y="2999749"/>
            <a:ext cx="3079032" cy="14779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9216C4E2-C7DF-05DD-B0C3-81555F52F91C}"/>
              </a:ext>
            </a:extLst>
          </p:cNvPr>
          <p:cNvCxnSpPr>
            <a:cxnSpLocks/>
          </p:cNvCxnSpPr>
          <p:nvPr/>
        </p:nvCxnSpPr>
        <p:spPr>
          <a:xfrm>
            <a:off x="5882353" y="3523774"/>
            <a:ext cx="0" cy="32385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B9145F8-309A-3023-8C1B-F230CBA827FF}"/>
              </a:ext>
            </a:extLst>
          </p:cNvPr>
          <p:cNvCxnSpPr>
            <a:cxnSpLocks/>
          </p:cNvCxnSpPr>
          <p:nvPr/>
        </p:nvCxnSpPr>
        <p:spPr>
          <a:xfrm>
            <a:off x="6562725" y="4439782"/>
            <a:ext cx="3238500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BA1EA10B-9A80-29AF-FC43-9DD4D75454C2}"/>
              </a:ext>
            </a:extLst>
          </p:cNvPr>
          <p:cNvSpPr txBox="1"/>
          <p:nvPr/>
        </p:nvSpPr>
        <p:spPr>
          <a:xfrm>
            <a:off x="5199762" y="2096125"/>
            <a:ext cx="13651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ComputeJob</a:t>
            </a:r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5B12E1B-6FE6-5F30-6B8F-CE55E9BB9FAA}"/>
              </a:ext>
            </a:extLst>
          </p:cNvPr>
          <p:cNvGrpSpPr/>
          <p:nvPr/>
        </p:nvGrpSpPr>
        <p:grpSpPr>
          <a:xfrm rot="5400000">
            <a:off x="7822625" y="3605490"/>
            <a:ext cx="703385" cy="1668584"/>
            <a:chOff x="5094067" y="2974340"/>
            <a:chExt cx="703385" cy="1668584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BF80CB9C-858B-9F62-D052-D0E8AA333F1B}"/>
                </a:ext>
              </a:extLst>
            </p:cNvPr>
            <p:cNvGrpSpPr/>
            <p:nvPr/>
          </p:nvGrpSpPr>
          <p:grpSpPr>
            <a:xfrm>
              <a:off x="5094067" y="2974340"/>
              <a:ext cx="703385" cy="1668584"/>
              <a:chOff x="4712677" y="2188308"/>
              <a:chExt cx="703385" cy="1668584"/>
            </a:xfrm>
          </p:grpSpPr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9B7CC4CF-112A-0DBA-F107-F989BAB1DC2B}"/>
                  </a:ext>
                </a:extLst>
              </p:cNvPr>
              <p:cNvSpPr/>
              <p:nvPr/>
            </p:nvSpPr>
            <p:spPr>
              <a:xfrm>
                <a:off x="4712677" y="2188308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29F75FCB-B413-D36F-0070-8D33F32232D8}"/>
                  </a:ext>
                </a:extLst>
              </p:cNvPr>
              <p:cNvSpPr/>
              <p:nvPr/>
            </p:nvSpPr>
            <p:spPr>
              <a:xfrm>
                <a:off x="4712677" y="3622431"/>
                <a:ext cx="703385" cy="234461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8BD908A-C3E4-6E8A-A197-5C34F72F7F4C}"/>
                  </a:ext>
                </a:extLst>
              </p:cNvPr>
              <p:cNvCxnSpPr>
                <a:stCxn id="9" idx="2"/>
                <a:endCxn id="10" idx="2"/>
              </p:cNvCxnSpPr>
              <p:nvPr/>
            </p:nvCxnSpPr>
            <p:spPr>
              <a:xfrm>
                <a:off x="4712677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C26FA1A6-DED0-26B0-2819-9B92D0B09DE8}"/>
                  </a:ext>
                </a:extLst>
              </p:cNvPr>
              <p:cNvCxnSpPr>
                <a:stCxn id="9" idx="6"/>
                <a:endCxn id="10" idx="6"/>
              </p:cNvCxnSpPr>
              <p:nvPr/>
            </p:nvCxnSpPr>
            <p:spPr>
              <a:xfrm>
                <a:off x="5416062" y="2305539"/>
                <a:ext cx="0" cy="1434123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/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sz="1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sz="1800" dirty="0">
                      <a:solidFill>
                        <a:schemeClr val="tx1"/>
                      </a:solidFill>
                    </a:rPr>
                    <a:t> </a:t>
                  </a:r>
                  <a:endParaRPr lang="en-US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1B51F4C-0B42-8C8D-E6BE-11897A61C1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180145" y="3605231"/>
                  <a:ext cx="499351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/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solidFill>
                <a:srgbClr val="FFFC8F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000" dirty="0">
                    <a:solidFill>
                      <a:schemeClr val="tx1"/>
                    </a:solidFill>
                  </a:rPr>
                  <a:t>ComputeJob </a:t>
                </a:r>
                <a14:m>
                  <m:oMath xmlns:m="http://schemas.openxmlformats.org/officeDocument/2006/math">
                    <m:r>
                      <a:rPr lang="en-US" sz="10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is modeled as a time delay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1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en-US" sz="1000" dirty="0">
                    <a:solidFill>
                      <a:schemeClr val="tx1"/>
                    </a:solidFill>
                  </a:rPr>
                  <a:t> .</a:t>
                </a:r>
              </a:p>
              <a:p>
                <a:endParaRPr lang="en-US" sz="1000" b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Speech Bubble: Rectangle with Corners Rounded 41">
                <a:extLst>
                  <a:ext uri="{FF2B5EF4-FFF2-40B4-BE49-F238E27FC236}">
                    <a16:creationId xmlns:a16="http://schemas.microsoft.com/office/drawing/2014/main" id="{3D8F4974-BB35-4D63-8473-ECC098C768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6477" y="1252009"/>
                <a:ext cx="1330763" cy="637237"/>
              </a:xfrm>
              <a:prstGeom prst="wedgeRoundRectCallout">
                <a:avLst>
                  <a:gd name="adj1" fmla="val -21587"/>
                  <a:gd name="adj2" fmla="val 76916"/>
                  <a:gd name="adj3" fmla="val 16667"/>
                </a:avLst>
              </a:prstGeom>
              <a:blipFill>
                <a:blip r:embed="rId11"/>
                <a:stretch>
                  <a:fillRect/>
                </a:stretch>
              </a:blipFill>
              <a:ln w="127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TextBox 42">
            <a:extLst>
              <a:ext uri="{FF2B5EF4-FFF2-40B4-BE49-F238E27FC236}">
                <a16:creationId xmlns:a16="http://schemas.microsoft.com/office/drawing/2014/main" id="{25CFD383-D335-E5B2-29E1-B66510743141}"/>
              </a:ext>
            </a:extLst>
          </p:cNvPr>
          <p:cNvSpPr txBox="1"/>
          <p:nvPr/>
        </p:nvSpPr>
        <p:spPr>
          <a:xfrm>
            <a:off x="5369681" y="3534041"/>
            <a:ext cx="56457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Create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D14A67-9BBF-5458-1902-34D6C4568FA1}"/>
              </a:ext>
            </a:extLst>
          </p:cNvPr>
          <p:cNvSpPr txBox="1"/>
          <p:nvPr/>
        </p:nvSpPr>
        <p:spPr>
          <a:xfrm>
            <a:off x="1489042" y="3271821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1D9B56A-813B-13F0-99EC-528D10B4BB56}"/>
              </a:ext>
            </a:extLst>
          </p:cNvPr>
          <p:cNvSpPr txBox="1"/>
          <p:nvPr/>
        </p:nvSpPr>
        <p:spPr>
          <a:xfrm>
            <a:off x="5308445" y="4946363"/>
            <a:ext cx="11478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DataBatch</a:t>
            </a:r>
            <a:endParaRPr lang="en-US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2433504F-4B4A-E440-7443-6CA8D4F8F260}"/>
              </a:ext>
            </a:extLst>
          </p:cNvPr>
          <p:cNvSpPr/>
          <p:nvPr/>
        </p:nvSpPr>
        <p:spPr>
          <a:xfrm>
            <a:off x="2858554" y="194763"/>
            <a:ext cx="323562" cy="278933"/>
          </a:xfrm>
          <a:prstGeom prst="triangle">
            <a:avLst/>
          </a:prstGeom>
          <a:solidFill>
            <a:schemeClr val="bg1">
              <a:alpha val="3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41546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094BB-C164-B047-8454-A60788855C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211506DD-2523-B054-099E-4C94F281882F}"/>
              </a:ext>
            </a:extLst>
          </p:cNvPr>
          <p:cNvSpPr/>
          <p:nvPr/>
        </p:nvSpPr>
        <p:spPr>
          <a:xfrm>
            <a:off x="6095999" y="188360"/>
            <a:ext cx="6018201" cy="1273660"/>
          </a:xfrm>
          <a:prstGeom prst="roundRect">
            <a:avLst>
              <a:gd name="adj" fmla="val 18118"/>
            </a:avLst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D39D050-838D-499D-7CDF-6FA4FCF56291}"/>
              </a:ext>
            </a:extLst>
          </p:cNvPr>
          <p:cNvSpPr/>
          <p:nvPr/>
        </p:nvSpPr>
        <p:spPr>
          <a:xfrm>
            <a:off x="452387" y="1617044"/>
            <a:ext cx="7536581" cy="5052597"/>
          </a:xfrm>
          <a:prstGeom prst="roundRect">
            <a:avLst>
              <a:gd name="adj" fmla="val 5427"/>
            </a:avLst>
          </a:prstGeom>
          <a:solidFill>
            <a:schemeClr val="tx2">
              <a:lumMod val="10000"/>
              <a:lumOff val="9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DC4ACF2-50A2-C99E-3A79-CD026FF35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4504210" cy="491884"/>
          </a:xfrm>
        </p:spPr>
        <p:txBody>
          <a:bodyPr>
            <a:normAutofit fontScale="90000"/>
          </a:bodyPr>
          <a:lstStyle/>
          <a:p>
            <a:r>
              <a:rPr lang="en-US" sz="3200" dirty="0"/>
              <a:t>UML Class Diagram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46BEB89-10F1-96AA-1B32-044521A31539}"/>
              </a:ext>
            </a:extLst>
          </p:cNvPr>
          <p:cNvSpPr/>
          <p:nvPr/>
        </p:nvSpPr>
        <p:spPr>
          <a:xfrm>
            <a:off x="2684039" y="1747416"/>
            <a:ext cx="3004492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CommNetworkSimulator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075168E-8E3E-631C-CB84-870FD73BDB8F}"/>
              </a:ext>
            </a:extLst>
          </p:cNvPr>
          <p:cNvSpPr/>
          <p:nvPr/>
        </p:nvSpPr>
        <p:spPr>
          <a:xfrm>
            <a:off x="2684039" y="2520137"/>
            <a:ext cx="3004492" cy="60342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+run(system : </a:t>
            </a:r>
            <a:r>
              <a:rPr lang="en-US" sz="1050" dirty="0" err="1">
                <a:solidFill>
                  <a:schemeClr val="tx1"/>
                </a:solidFill>
              </a:rPr>
              <a:t>SimulatedSystem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t_delta</a:t>
            </a:r>
            <a:r>
              <a:rPr lang="en-US" sz="1050" dirty="0">
                <a:solidFill>
                  <a:schemeClr val="tx1"/>
                </a:solidFill>
              </a:rPr>
              <a:t> : float)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add_compute</a:t>
            </a:r>
            <a:r>
              <a:rPr lang="en-US" sz="1050" dirty="0">
                <a:solidFill>
                  <a:schemeClr val="tx1"/>
                </a:solidFill>
              </a:rPr>
              <a:t>(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add_batch</a:t>
            </a:r>
            <a:r>
              <a:rPr lang="en-US" sz="1050" dirty="0">
                <a:solidFill>
                  <a:schemeClr val="tx1"/>
                </a:solidFill>
              </a:rPr>
              <a:t>(batch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56EF6D-CFF5-FBBA-C0C5-657564F5E965}"/>
              </a:ext>
            </a:extLst>
          </p:cNvPr>
          <p:cNvSpPr/>
          <p:nvPr/>
        </p:nvSpPr>
        <p:spPr>
          <a:xfrm>
            <a:off x="6212663" y="385720"/>
            <a:ext cx="5767568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dirty="0">
                <a:solidFill>
                  <a:schemeClr val="tx1"/>
                </a:solidFill>
              </a:rPr>
              <a:t>&lt;&lt;interface&gt;&gt;</a:t>
            </a:r>
          </a:p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3FE6A30-A59A-B1C7-526A-980BC06B0DAD}"/>
              </a:ext>
            </a:extLst>
          </p:cNvPr>
          <p:cNvSpPr/>
          <p:nvPr/>
        </p:nvSpPr>
        <p:spPr>
          <a:xfrm>
            <a:off x="6212663" y="768996"/>
            <a:ext cx="5767568" cy="4918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on_data_transfer_complete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batch : </a:t>
            </a:r>
            <a:r>
              <a:rPr lang="en-US" sz="1050" dirty="0" err="1">
                <a:solidFill>
                  <a:schemeClr val="tx1"/>
                </a:solidFill>
              </a:rPr>
              <a:t>DataBatch</a:t>
            </a:r>
            <a:r>
              <a:rPr lang="en-US" sz="1050" dirty="0">
                <a:solidFill>
                  <a:schemeClr val="tx1"/>
                </a:solidFill>
              </a:rPr>
              <a:t>)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endParaRPr lang="en-US" sz="1050" dirty="0">
              <a:solidFill>
                <a:schemeClr val="tx1"/>
              </a:solidFill>
            </a:endParaRP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on_compute_complete</a:t>
            </a:r>
            <a:r>
              <a:rPr lang="en-US" sz="1050" dirty="0">
                <a:solidFill>
                  <a:schemeClr val="tx1"/>
                </a:solidFill>
              </a:rPr>
              <a:t>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, </a:t>
            </a:r>
            <a:r>
              <a:rPr lang="en-US" sz="1050" dirty="0" err="1">
                <a:solidFill>
                  <a:schemeClr val="tx1"/>
                </a:solidFill>
              </a:rPr>
              <a:t>compute_job</a:t>
            </a:r>
            <a:r>
              <a:rPr lang="en-US" sz="1050" dirty="0">
                <a:solidFill>
                  <a:schemeClr val="tx1"/>
                </a:solidFill>
              </a:rPr>
              <a:t> : </a:t>
            </a:r>
            <a:r>
              <a:rPr lang="en-US" sz="1050" dirty="0" err="1">
                <a:solidFill>
                  <a:schemeClr val="tx1"/>
                </a:solidFill>
              </a:rPr>
              <a:t>ComputeJob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483A18-8F83-17E7-33C5-2B1FA151E811}"/>
              </a:ext>
            </a:extLst>
          </p:cNvPr>
          <p:cNvSpPr/>
          <p:nvPr/>
        </p:nvSpPr>
        <p:spPr>
          <a:xfrm>
            <a:off x="2109124" y="3771267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rem_size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total_latency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latency_remaining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23DF5A6-5A90-9D95-8461-45ACC8E44322}"/>
              </a:ext>
            </a:extLst>
          </p:cNvPr>
          <p:cNvSpPr/>
          <p:nvPr/>
        </p:nvSpPr>
        <p:spPr>
          <a:xfrm>
            <a:off x="2226355" y="5465704"/>
            <a:ext cx="1635369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CommChannel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DEF02-B53E-4AAB-7EBE-D58F1CF39792}"/>
              </a:ext>
            </a:extLst>
          </p:cNvPr>
          <p:cNvSpPr/>
          <p:nvPr/>
        </p:nvSpPr>
        <p:spPr>
          <a:xfrm>
            <a:off x="2226355" y="5938166"/>
            <a:ext cx="1635369" cy="7314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bw_gbps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lat_us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59D4DC-8680-49A4-6D7F-84987D831FB2}"/>
              </a:ext>
            </a:extLst>
          </p:cNvPr>
          <p:cNvSpPr/>
          <p:nvPr/>
        </p:nvSpPr>
        <p:spPr>
          <a:xfrm>
            <a:off x="2109124" y="3298805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DataBatch</a:t>
            </a:r>
            <a:endParaRPr lang="en-US" sz="1050" b="1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DA01819-9188-44CD-9A07-0EB5697670CA}"/>
              </a:ext>
            </a:extLst>
          </p:cNvPr>
          <p:cNvSpPr txBox="1"/>
          <p:nvPr/>
        </p:nvSpPr>
        <p:spPr>
          <a:xfrm>
            <a:off x="2527552" y="5195912"/>
            <a:ext cx="51648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+path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DC6FFA8-A1E1-9949-E5B1-EE47FC6D813C}"/>
              </a:ext>
            </a:extLst>
          </p:cNvPr>
          <p:cNvCxnSpPr>
            <a:cxnSpLocks/>
            <a:stCxn id="5" idx="1"/>
            <a:endCxn id="12" idx="1"/>
          </p:cNvCxnSpPr>
          <p:nvPr/>
        </p:nvCxnSpPr>
        <p:spPr>
          <a:xfrm rot="10800000" flipV="1">
            <a:off x="2109125" y="2821849"/>
            <a:ext cx="574915" cy="709096"/>
          </a:xfrm>
          <a:prstGeom prst="bentConnector3">
            <a:avLst>
              <a:gd name="adj1" fmla="val 139762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14881B4-7EAE-96FC-E4A2-1FEFB1129D3C}"/>
              </a:ext>
            </a:extLst>
          </p:cNvPr>
          <p:cNvCxnSpPr>
            <a:cxnSpLocks/>
            <a:stCxn id="2" idx="1"/>
            <a:endCxn id="6" idx="1"/>
          </p:cNvCxnSpPr>
          <p:nvPr/>
        </p:nvCxnSpPr>
        <p:spPr>
          <a:xfrm rot="10800000" flipV="1">
            <a:off x="2109125" y="1939054"/>
            <a:ext cx="574915" cy="2471738"/>
          </a:xfrm>
          <a:prstGeom prst="bentConnector3">
            <a:avLst>
              <a:gd name="adj1" fmla="val 357409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CC111928-4044-6D59-2689-E7BD056C02FA}"/>
              </a:ext>
            </a:extLst>
          </p:cNvPr>
          <p:cNvSpPr txBox="1"/>
          <p:nvPr/>
        </p:nvSpPr>
        <p:spPr>
          <a:xfrm>
            <a:off x="997922" y="3530944"/>
            <a:ext cx="111120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active_batches</a:t>
            </a:r>
            <a:endParaRPr lang="en-US" sz="1050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8E3DE83-2C0D-9870-02C0-BE8E0F5FEE8D}"/>
              </a:ext>
            </a:extLst>
          </p:cNvPr>
          <p:cNvSpPr txBox="1"/>
          <p:nvPr/>
        </p:nvSpPr>
        <p:spPr>
          <a:xfrm>
            <a:off x="696434" y="4410791"/>
            <a:ext cx="138371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1050" dirty="0"/>
              <a:t>+</a:t>
            </a:r>
            <a:r>
              <a:rPr lang="en-US" sz="1050" dirty="0" err="1"/>
              <a:t>completed_batches</a:t>
            </a:r>
            <a:endParaRPr lang="en-US" sz="1050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F788B48-F0D0-3BE4-F4C4-6314A772CFA2}"/>
              </a:ext>
            </a:extLst>
          </p:cNvPr>
          <p:cNvSpPr/>
          <p:nvPr/>
        </p:nvSpPr>
        <p:spPr>
          <a:xfrm>
            <a:off x="4504210" y="3763085"/>
            <a:ext cx="1869831" cy="127904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+name : string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total_duration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rem_duration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start_time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end_time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B10689FF-983C-BD27-EC0A-EE4BB4F1C710}"/>
              </a:ext>
            </a:extLst>
          </p:cNvPr>
          <p:cNvSpPr/>
          <p:nvPr/>
        </p:nvSpPr>
        <p:spPr>
          <a:xfrm>
            <a:off x="4504210" y="3290623"/>
            <a:ext cx="1869831" cy="46428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ComputeJob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45093D5C-2494-0947-C36C-37F4B229664C}"/>
              </a:ext>
            </a:extLst>
          </p:cNvPr>
          <p:cNvCxnSpPr>
            <a:cxnSpLocks/>
            <a:stCxn id="2" idx="3"/>
            <a:endCxn id="55" idx="3"/>
          </p:cNvCxnSpPr>
          <p:nvPr/>
        </p:nvCxnSpPr>
        <p:spPr>
          <a:xfrm>
            <a:off x="5688531" y="1939054"/>
            <a:ext cx="685510" cy="2463556"/>
          </a:xfrm>
          <a:prstGeom prst="bentConnector3">
            <a:avLst>
              <a:gd name="adj1" fmla="val 311668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386F14F0-208D-9DF4-C803-3F15AAC5A860}"/>
              </a:ext>
            </a:extLst>
          </p:cNvPr>
          <p:cNvCxnSpPr>
            <a:cxnSpLocks/>
            <a:stCxn id="5" idx="3"/>
            <a:endCxn id="56" idx="3"/>
          </p:cNvCxnSpPr>
          <p:nvPr/>
        </p:nvCxnSpPr>
        <p:spPr>
          <a:xfrm>
            <a:off x="5688531" y="2821849"/>
            <a:ext cx="685510" cy="700914"/>
          </a:xfrm>
          <a:prstGeom prst="bentConnector3">
            <a:avLst>
              <a:gd name="adj1" fmla="val 133347"/>
            </a:avLst>
          </a:prstGeom>
          <a:ln>
            <a:solidFill>
              <a:schemeClr val="tx1"/>
            </a:solidFill>
            <a:headEnd type="diamond" w="lg" len="lg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9A41B717-63C0-A7AC-84A8-B22B886C07CE}"/>
              </a:ext>
            </a:extLst>
          </p:cNvPr>
          <p:cNvSpPr txBox="1"/>
          <p:nvPr/>
        </p:nvSpPr>
        <p:spPr>
          <a:xfrm>
            <a:off x="6374041" y="3522763"/>
            <a:ext cx="113364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active_compute</a:t>
            </a:r>
            <a:endParaRPr lang="en-US" sz="105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EC1E884-4BA5-5219-EF1D-DE6322754DB6}"/>
              </a:ext>
            </a:extLst>
          </p:cNvPr>
          <p:cNvSpPr txBox="1"/>
          <p:nvPr/>
        </p:nvSpPr>
        <p:spPr>
          <a:xfrm>
            <a:off x="6374041" y="4402610"/>
            <a:ext cx="139493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+</a:t>
            </a:r>
            <a:r>
              <a:rPr lang="en-US" sz="1050" dirty="0" err="1"/>
              <a:t>completed_compute</a:t>
            </a:r>
            <a:endParaRPr lang="en-US" sz="1050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8CB168B-A073-7E89-B9DB-25219AA56D5B}"/>
              </a:ext>
            </a:extLst>
          </p:cNvPr>
          <p:cNvCxnSpPr>
            <a:cxnSpLocks/>
            <a:stCxn id="2" idx="0"/>
            <a:endCxn id="14" idx="1"/>
          </p:cNvCxnSpPr>
          <p:nvPr/>
        </p:nvCxnSpPr>
        <p:spPr>
          <a:xfrm rot="5400000" flipH="1" flipV="1">
            <a:off x="4614445" y="149198"/>
            <a:ext cx="1170058" cy="2026378"/>
          </a:xfrm>
          <a:prstGeom prst="bentConnector2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14E06FB1-35A8-D73C-4238-3FA69A3B5A57}"/>
              </a:ext>
            </a:extLst>
          </p:cNvPr>
          <p:cNvSpPr/>
          <p:nvPr/>
        </p:nvSpPr>
        <p:spPr>
          <a:xfrm>
            <a:off x="8193196" y="2734115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b="1" dirty="0" err="1">
                <a:solidFill>
                  <a:schemeClr val="tx1"/>
                </a:solidFill>
              </a:rPr>
              <a:t>ConcreteSimulatedSystem</a:t>
            </a:r>
            <a:endParaRPr lang="en-US" sz="1050" b="1" dirty="0">
              <a:solidFill>
                <a:schemeClr val="tx1"/>
              </a:solidFill>
            </a:endParaRPr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8CA42019-F0B5-2573-40E1-839829E791BE}"/>
              </a:ext>
            </a:extLst>
          </p:cNvPr>
          <p:cNvCxnSpPr>
            <a:cxnSpLocks/>
            <a:stCxn id="82" idx="0"/>
            <a:endCxn id="17" idx="2"/>
          </p:cNvCxnSpPr>
          <p:nvPr/>
        </p:nvCxnSpPr>
        <p:spPr>
          <a:xfrm rot="16200000" flipV="1">
            <a:off x="8579869" y="1777459"/>
            <a:ext cx="1473235" cy="440077"/>
          </a:xfrm>
          <a:prstGeom prst="bentConnector3">
            <a:avLst/>
          </a:prstGeom>
          <a:ln>
            <a:solidFill>
              <a:schemeClr val="tx1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57257F3-133D-1AB5-60C0-ED39A0EF12A4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3044040" y="5050316"/>
            <a:ext cx="0" cy="415388"/>
          </a:xfrm>
          <a:prstGeom prst="straightConnector1">
            <a:avLst/>
          </a:prstGeom>
          <a:ln>
            <a:solidFill>
              <a:schemeClr val="tx1"/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A13240BA-A231-C881-01B7-661188EF33B0}"/>
              </a:ext>
            </a:extLst>
          </p:cNvPr>
          <p:cNvSpPr txBox="1"/>
          <p:nvPr/>
        </p:nvSpPr>
        <p:spPr>
          <a:xfrm>
            <a:off x="3044039" y="5187730"/>
            <a:ext cx="25199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50" dirty="0"/>
              <a:t>*</a:t>
            </a:r>
          </a:p>
        </p:txBody>
      </p:sp>
      <p:sp>
        <p:nvSpPr>
          <p:cNvPr id="98" name="Speech Bubble: Rectangle with Corners Rounded 97">
            <a:extLst>
              <a:ext uri="{FF2B5EF4-FFF2-40B4-BE49-F238E27FC236}">
                <a16:creationId xmlns:a16="http://schemas.microsoft.com/office/drawing/2014/main" id="{8D18C21D-B749-86EC-C946-0C6448C8BB9D}"/>
              </a:ext>
            </a:extLst>
          </p:cNvPr>
          <p:cNvSpPr/>
          <p:nvPr/>
        </p:nvSpPr>
        <p:spPr>
          <a:xfrm>
            <a:off x="200025" y="629299"/>
            <a:ext cx="3844480" cy="699787"/>
          </a:xfrm>
          <a:prstGeom prst="wedgeRoundRectCallout">
            <a:avLst>
              <a:gd name="adj1" fmla="val 22029"/>
              <a:gd name="adj2" fmla="val 9619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Simulator.  After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 have been added to it, call its </a:t>
            </a:r>
            <a:r>
              <a:rPr lang="en-US" sz="1200" b="1" dirty="0">
                <a:solidFill>
                  <a:schemeClr val="tx1"/>
                </a:solidFill>
              </a:rPr>
              <a:t>run()</a:t>
            </a:r>
            <a:r>
              <a:rPr lang="en-US" sz="1200" dirty="0">
                <a:solidFill>
                  <a:schemeClr val="tx1"/>
                </a:solidFill>
              </a:rPr>
              <a:t> method to run the simulation in discrete time increments.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99" name="Speech Bubble: Rectangle with Corners Rounded 98">
            <a:extLst>
              <a:ext uri="{FF2B5EF4-FFF2-40B4-BE49-F238E27FC236}">
                <a16:creationId xmlns:a16="http://schemas.microsoft.com/office/drawing/2014/main" id="{33AA9F11-7472-4060-CF90-50FE0503C3A4}"/>
              </a:ext>
            </a:extLst>
          </p:cNvPr>
          <p:cNvSpPr/>
          <p:nvPr/>
        </p:nvSpPr>
        <p:spPr>
          <a:xfrm>
            <a:off x="9749522" y="1768592"/>
            <a:ext cx="2260657" cy="658950"/>
          </a:xfrm>
          <a:prstGeom prst="wedgeRoundRectCallout">
            <a:avLst>
              <a:gd name="adj1" fmla="val -22808"/>
              <a:gd name="adj2" fmla="val -88174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400" dirty="0">
                <a:solidFill>
                  <a:schemeClr val="tx1"/>
                </a:solidFill>
              </a:rPr>
              <a:t>Simulator interface with two event handlers</a:t>
            </a:r>
            <a:endParaRPr lang="en-US" sz="1400" b="1" dirty="0">
              <a:solidFill>
                <a:schemeClr val="tx1"/>
              </a:solidFill>
            </a:endParaRPr>
          </a:p>
        </p:txBody>
      </p:sp>
      <p:sp>
        <p:nvSpPr>
          <p:cNvPr id="100" name="Speech Bubble: Rectangle with Corners Rounded 99">
            <a:extLst>
              <a:ext uri="{FF2B5EF4-FFF2-40B4-BE49-F238E27FC236}">
                <a16:creationId xmlns:a16="http://schemas.microsoft.com/office/drawing/2014/main" id="{814CCD75-571B-81A9-1E3C-6D855CD75BD1}"/>
              </a:ext>
            </a:extLst>
          </p:cNvPr>
          <p:cNvSpPr/>
          <p:nvPr/>
        </p:nvSpPr>
        <p:spPr>
          <a:xfrm>
            <a:off x="8459150" y="4398234"/>
            <a:ext cx="3247451" cy="2074045"/>
          </a:xfrm>
          <a:prstGeom prst="wedgeRoundRectCallout">
            <a:avLst>
              <a:gd name="adj1" fmla="val -22068"/>
              <a:gd name="adj2" fmla="val -69142"/>
              <a:gd name="adj3" fmla="val 16667"/>
            </a:avLst>
          </a:prstGeom>
          <a:solidFill>
            <a:srgbClr val="FFFC8F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200" dirty="0">
                <a:solidFill>
                  <a:schemeClr val="tx1"/>
                </a:solidFill>
              </a:rPr>
              <a:t>A concrete system that implements the simulator interface.  Its methods handle events from the simulator announcing the completion of data transfers and compute jobs by orchestrating the creation of additional </a:t>
            </a:r>
            <a:r>
              <a:rPr lang="en-US" sz="1200" b="1" dirty="0" err="1">
                <a:solidFill>
                  <a:schemeClr val="tx1"/>
                </a:solidFill>
              </a:rPr>
              <a:t>CommJobs</a:t>
            </a:r>
            <a:r>
              <a:rPr lang="en-US" sz="1200" dirty="0">
                <a:solidFill>
                  <a:schemeClr val="tx1"/>
                </a:solidFill>
              </a:rPr>
              <a:t> and </a:t>
            </a:r>
            <a:r>
              <a:rPr lang="en-US" sz="1200" b="1" dirty="0" err="1">
                <a:solidFill>
                  <a:schemeClr val="tx1"/>
                </a:solidFill>
              </a:rPr>
              <a:t>DataBatches</a:t>
            </a:r>
            <a:r>
              <a:rPr lang="en-US" sz="1200" dirty="0">
                <a:solidFill>
                  <a:schemeClr val="tx1"/>
                </a:solidFill>
              </a:rPr>
              <a:t> and submitting them to the simulator.  Its </a:t>
            </a:r>
            <a:r>
              <a:rPr lang="en-US" sz="1200" b="1" dirty="0">
                <a:solidFill>
                  <a:schemeClr val="tx1"/>
                </a:solidFill>
              </a:rPr>
              <a:t>start()</a:t>
            </a:r>
            <a:r>
              <a:rPr lang="en-US" sz="1200" dirty="0">
                <a:solidFill>
                  <a:schemeClr val="tx1"/>
                </a:solidFill>
              </a:rPr>
              <a:t> method kicks off the first </a:t>
            </a:r>
            <a:r>
              <a:rPr lang="en-US" sz="1200" b="1" dirty="0" err="1">
                <a:solidFill>
                  <a:schemeClr val="tx1"/>
                </a:solidFill>
              </a:rPr>
              <a:t>ComputeJob</a:t>
            </a:r>
            <a:r>
              <a:rPr lang="en-US" sz="1200" dirty="0">
                <a:solidFill>
                  <a:schemeClr val="tx1"/>
                </a:solidFill>
              </a:rPr>
              <a:t>(s) and/or </a:t>
            </a:r>
            <a:r>
              <a:rPr lang="en-US" sz="1200" b="1" dirty="0" err="1">
                <a:solidFill>
                  <a:schemeClr val="tx1"/>
                </a:solidFill>
              </a:rPr>
              <a:t>DataBatch</a:t>
            </a:r>
            <a:r>
              <a:rPr lang="en-US" sz="1200" dirty="0">
                <a:solidFill>
                  <a:schemeClr val="tx1"/>
                </a:solidFill>
              </a:rPr>
              <a:t>(es).</a:t>
            </a:r>
            <a:endParaRPr lang="en-US" sz="1200" b="1" dirty="0">
              <a:solidFill>
                <a:schemeClr val="tx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2CC24BB-BA48-1713-63BF-437ED9FE6979}"/>
              </a:ext>
            </a:extLst>
          </p:cNvPr>
          <p:cNvSpPr/>
          <p:nvPr/>
        </p:nvSpPr>
        <p:spPr>
          <a:xfrm>
            <a:off x="8193195" y="3120546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50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B870F73-B9F3-0FA9-68F6-739BD08B3EBD}"/>
              </a:ext>
            </a:extLst>
          </p:cNvPr>
          <p:cNvSpPr/>
          <p:nvPr/>
        </p:nvSpPr>
        <p:spPr>
          <a:xfrm>
            <a:off x="8193195" y="3501494"/>
            <a:ext cx="2686656" cy="38327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+start(simulator : </a:t>
            </a:r>
            <a:r>
              <a:rPr lang="en-US" sz="1050" dirty="0" err="1">
                <a:solidFill>
                  <a:schemeClr val="tx1"/>
                </a:solidFill>
              </a:rPr>
              <a:t>CommNetworkSimulator</a:t>
            </a:r>
            <a:r>
              <a:rPr lang="en-US" sz="105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827C0DA1-378A-3C62-78A8-B6ACC7BC7E1C}"/>
              </a:ext>
            </a:extLst>
          </p:cNvPr>
          <p:cNvSpPr/>
          <p:nvPr/>
        </p:nvSpPr>
        <p:spPr>
          <a:xfrm>
            <a:off x="2684040" y="2130420"/>
            <a:ext cx="3004492" cy="38153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1050" dirty="0">
                <a:solidFill>
                  <a:schemeClr val="tx1"/>
                </a:solidFill>
              </a:rPr>
              <a:t>+</a:t>
            </a:r>
            <a:r>
              <a:rPr lang="en-US" sz="1050" dirty="0" err="1">
                <a:solidFill>
                  <a:schemeClr val="tx1"/>
                </a:solidFill>
              </a:rPr>
              <a:t>current_time</a:t>
            </a:r>
            <a:r>
              <a:rPr lang="en-US" sz="1050" dirty="0">
                <a:solidFill>
                  <a:schemeClr val="tx1"/>
                </a:solidFill>
              </a:rPr>
              <a:t> : float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8F3B683E-A875-E988-936D-CAB48316EF34}"/>
              </a:ext>
            </a:extLst>
          </p:cNvPr>
          <p:cNvCxnSpPr>
            <a:cxnSpLocks/>
          </p:cNvCxnSpPr>
          <p:nvPr/>
        </p:nvCxnSpPr>
        <p:spPr>
          <a:xfrm flipH="1">
            <a:off x="4491083" y="487080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9660B4F0-8C08-DEE4-7E8B-D75A0CD564D0}"/>
              </a:ext>
            </a:extLst>
          </p:cNvPr>
          <p:cNvSpPr txBox="1"/>
          <p:nvPr/>
        </p:nvSpPr>
        <p:spPr>
          <a:xfrm>
            <a:off x="4129289" y="174962"/>
            <a:ext cx="1904689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add(_compute() or </a:t>
            </a:r>
            <a:r>
              <a:rPr lang="en-US" sz="1050" dirty="0" err="1"/>
              <a:t>add_batch</a:t>
            </a:r>
            <a:r>
              <a:rPr lang="en-US" sz="1050" dirty="0"/>
              <a:t>()</a:t>
            </a:r>
          </a:p>
        </p:txBody>
      </p: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8233520B-3A17-2AD3-5B51-38650D4AA761}"/>
              </a:ext>
            </a:extLst>
          </p:cNvPr>
          <p:cNvCxnSpPr>
            <a:cxnSpLocks/>
          </p:cNvCxnSpPr>
          <p:nvPr/>
        </p:nvCxnSpPr>
        <p:spPr>
          <a:xfrm>
            <a:off x="4491083" y="663265"/>
            <a:ext cx="11811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5CC52BE4-66E8-12E4-30FB-70BBFF01CCCD}"/>
              </a:ext>
            </a:extLst>
          </p:cNvPr>
          <p:cNvSpPr txBox="1"/>
          <p:nvPr/>
        </p:nvSpPr>
        <p:spPr>
          <a:xfrm>
            <a:off x="4474736" y="719244"/>
            <a:ext cx="121379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50" dirty="0"/>
              <a:t>Completion events</a:t>
            </a:r>
          </a:p>
        </p:txBody>
      </p:sp>
    </p:spTree>
    <p:extLst>
      <p:ext uri="{BB962C8B-B14F-4D97-AF65-F5344CB8AC3E}">
        <p14:creationId xmlns:p14="http://schemas.microsoft.com/office/powerpoint/2010/main" val="35310073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2010</TotalTime>
  <Words>540</Words>
  <Application>Microsoft Office PowerPoint</Application>
  <PresentationFormat>Widescreen</PresentationFormat>
  <Paragraphs>78</Paragraphs>
  <Slides>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Office Theme</vt:lpstr>
      <vt:lpstr>Discrete-Event Simulation (DES)</vt:lpstr>
      <vt:lpstr>DataBatch      Transfer Modeling</vt:lpstr>
      <vt:lpstr>ComputeJob      Modeling</vt:lpstr>
      <vt:lpstr>UML Class Diagram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Virgil Mocanu</dc:creator>
  <cp:lastModifiedBy>Virgil Mocanu</cp:lastModifiedBy>
  <cp:revision>290</cp:revision>
  <dcterms:created xsi:type="dcterms:W3CDTF">2026-01-07T03:01:36Z</dcterms:created>
  <dcterms:modified xsi:type="dcterms:W3CDTF">2026-01-17T09:01:12Z</dcterms:modified>
</cp:coreProperties>
</file>