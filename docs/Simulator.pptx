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0" r:id="rId3"/>
    <p:sldId id="264" r:id="rId4"/>
    <p:sldId id="265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98" autoAdjust="0"/>
  </p:normalViewPr>
  <p:slideViewPr>
    <p:cSldViewPr snapToGrid="0">
      <p:cViewPr varScale="1">
        <p:scale>
          <a:sx n="122" d="100"/>
          <a:sy n="122" d="100"/>
        </p:scale>
        <p:origin x="67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4746B9-973E-42EE-833B-2CCE415A7F55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E4984D-4A2B-49D3-A2B8-537353A3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479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8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CDCA-67F7-B0DA-5147-717B19AB5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BC998-16E1-5F12-CB7F-08D5E63D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E555C-4398-A00D-12C3-77066CC7D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A265D-F9C4-3D6F-318B-BD3B076DE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21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FFAFD-FC17-1A97-09D3-9F69DA4C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46FAF-B8EE-B3B6-1521-A099B9299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7EEF34-9257-5671-6392-F0F456EEB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74B98-5A0E-545D-4DBA-B66281B02C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94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9017B-033C-889B-1F68-10744C6069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1B2449-7035-559C-A11B-67CBDC5B0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EA0CA-0E4E-B6C8-969F-6F9AC275F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9A0BF-3283-A359-891E-A003BF4E4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0A263-77E2-9307-3EEF-76084A53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43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3B0BD-2EF9-D851-7EF5-D359F71C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59CCF-32CF-3267-057A-025595337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5B3A-CC0B-C44B-1E08-71F0D678D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4E61A-E0DA-B5A1-B436-2131F96B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79267-AE62-DC0B-D53B-3FF4261D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15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FE12C-921F-19B3-09F4-0FFF17642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07A37-57A5-A0A2-4B17-1C86210C6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CA903-575B-03A3-0E52-C076CACD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25957-848A-FD11-D6A7-83432C279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F174F-DE02-44E6-6B1A-5B2E8C23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219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1DEA-CC3E-4270-4FCC-BFE3B8927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EB73-0694-C227-4D61-AE2D50EFA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E0B569-6DEF-0D95-74E7-E636DB9E1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6AED7-DFF5-C60B-ADE2-865B2BAFA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CAB50A-1FF9-8351-513C-F3410F53B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2BE812-9FAB-E971-9994-292EE307C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7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B913-BA46-404C-7FD1-3C756B757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45D36-5399-BB9A-A420-0A7804CEF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D901D-9408-8B89-49BA-42679AB4D6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11B1C8-1477-15F8-54DB-FF944AA5BE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4CB4D-E393-B0C8-3C7B-1D7188A23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0C3079-4E52-1D84-729E-E5C7FB71E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B6A14-A0A5-E370-51CF-4B3327776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12843A-B7AB-084A-85A9-1A79CF656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88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61E73-396B-AF51-D7C1-471EC5D03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FCAF2D-35A2-88D0-0B94-E17155C31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7B86C-4D9C-1C49-3D6B-07F98DAFA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EA44-85B2-C592-37BB-51E59C6B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852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CD8A47-FA01-64D1-C2D1-5BB96DC5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8996C1-5FF4-6DBF-3A42-7AF2A4C87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8A2076-6AA0-4540-63D4-6AD226954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04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FB24-5F39-7BB9-3AB4-A3784ED2B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C80AC-EA21-9CBD-F7DE-2E04C6686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6C5C86-315E-4904-A92B-FA3D6F7A6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587E7-AEC4-63C5-342A-62F1D4D7A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7B2E13-C121-C403-3A1F-A0B1F79C6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F935FB-A9E9-5C1E-3921-D1F7646A5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54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8CFC5-7FC9-7AE1-D69A-065B92A8F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2B691-0D3C-7BC6-9AA2-A512B63740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8DB58-ED24-38BF-33AB-DD61E30A9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A0044B-83D7-8BB8-DC22-17E45BB67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38088-55D5-7394-7902-224A83D62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A1A4C-79BE-5282-9E01-29DDAA902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82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7D12E-5271-3447-FF72-39F8662C3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2CF66F-39B3-8731-B629-790BAD21D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7C580-2CD8-72DC-388F-304673135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56F1D-640D-4269-45C8-92E672746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06493-4DD1-9198-C366-041CFFF9D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2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AD6FDC-3A7A-D5C1-587E-BE11015B41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35BF6-9AC3-BB40-7CDF-AEBFDCDE4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C086B-4A0A-933B-81A3-BDC9FACAD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CB3A5-D919-CD88-2BC0-C60999320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A29E8-622C-0ED4-10B9-2218E168B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53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3F6F36-FAB2-13C4-D7AA-E459B55D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A89BAD-4733-22B8-C088-6EF6E5AB4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8C975-81D1-CAC0-ADEC-7F01DCDD9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BEE99-EB13-440C-B182-3BC3988FEC29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42E29-7346-04B0-654C-8FC185D76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416E6-1B1F-FC0E-5179-C3979D1418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1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8EF94-C843-577B-4C92-521EDDB8ED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Discrete-Event Simulation (DES)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CAFB8C-B0B5-B7F7-88B7-DB868869DA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of Concurrent Communication and Computation in Distributed Systems</a:t>
            </a:r>
          </a:p>
        </p:txBody>
      </p:sp>
    </p:spTree>
    <p:extLst>
      <p:ext uri="{BB962C8B-B14F-4D97-AF65-F5344CB8AC3E}">
        <p14:creationId xmlns:p14="http://schemas.microsoft.com/office/powerpoint/2010/main" val="2170785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344D1-E028-570F-40E1-10318CF70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0ABB144-8567-01C8-5938-BFCB5703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DataBatch</a:t>
            </a:r>
            <a:r>
              <a:rPr lang="en-US" dirty="0"/>
              <a:t>      Transfer Modeling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/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/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/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/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6" name="Freeform: Shape 465">
            <a:extLst>
              <a:ext uri="{FF2B5EF4-FFF2-40B4-BE49-F238E27FC236}">
                <a16:creationId xmlns:a16="http://schemas.microsoft.com/office/drawing/2014/main" id="{66A24853-0C58-4BF7-2AA8-A9917F6E37E3}"/>
              </a:ext>
            </a:extLst>
          </p:cNvPr>
          <p:cNvSpPr/>
          <p:nvPr/>
        </p:nvSpPr>
        <p:spPr>
          <a:xfrm>
            <a:off x="1680210" y="1310639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Freeform: Shape 466">
            <a:extLst>
              <a:ext uri="{FF2B5EF4-FFF2-40B4-BE49-F238E27FC236}">
                <a16:creationId xmlns:a16="http://schemas.microsoft.com/office/drawing/2014/main" id="{AF716250-8479-115E-2D3E-4CA6DB4F87FB}"/>
              </a:ext>
            </a:extLst>
          </p:cNvPr>
          <p:cNvSpPr/>
          <p:nvPr/>
        </p:nvSpPr>
        <p:spPr>
          <a:xfrm flipH="1">
            <a:off x="3408136" y="1310638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/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/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.  For some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contend for its bandwidth (until the transfer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completes).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blipFill>
                <a:blip r:embed="rId8"/>
                <a:stretch>
                  <a:fillRect b="-620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/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blipFill>
                <a:blip r:embed="rId9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/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blipFill>
                <a:blip r:embed="rId1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C3A50389-FE3B-5D1B-7C3D-C0B706914EDE}"/>
              </a:ext>
            </a:extLst>
          </p:cNvPr>
          <p:cNvSpPr txBox="1"/>
          <p:nvPr/>
        </p:nvSpPr>
        <p:spPr>
          <a:xfrm>
            <a:off x="1782558" y="5397438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291862-C58F-45E7-C587-FAFE08B77B3B}"/>
              </a:ext>
            </a:extLst>
          </p:cNvPr>
          <p:cNvSpPr txBox="1"/>
          <p:nvPr/>
        </p:nvSpPr>
        <p:spPr>
          <a:xfrm>
            <a:off x="4170413" y="5563182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7BF0086-977F-41D6-3EEB-6E9F9BA60992}"/>
              </a:ext>
            </a:extLst>
          </p:cNvPr>
          <p:cNvGrpSpPr/>
          <p:nvPr/>
        </p:nvGrpSpPr>
        <p:grpSpPr>
          <a:xfrm>
            <a:off x="3036667" y="2974340"/>
            <a:ext cx="703385" cy="1668584"/>
            <a:chOff x="4712677" y="2188308"/>
            <a:chExt cx="703385" cy="16685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7299890-6C4E-DE98-B2E4-A2A4B32EF9F5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228553C-E4AF-2968-529D-3A2912C54126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3946E9F-1E29-8C62-90B8-C39317034643}"/>
                </a:ext>
              </a:extLst>
            </p:cNvPr>
            <p:cNvCxnSpPr>
              <a:stCxn id="16" idx="2"/>
              <a:endCxn id="18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D98562C-F6E0-6F57-04AE-5E70A930114E}"/>
                </a:ext>
              </a:extLst>
            </p:cNvPr>
            <p:cNvCxnSpPr>
              <a:stCxn id="16" idx="6"/>
              <a:endCxn id="18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020598-D92F-76BB-3545-EF7228A26CBD}"/>
              </a:ext>
            </a:extLst>
          </p:cNvPr>
          <p:cNvGrpSpPr/>
          <p:nvPr/>
        </p:nvGrpSpPr>
        <p:grpSpPr>
          <a:xfrm rot="18993548">
            <a:off x="2152939" y="1292455"/>
            <a:ext cx="703385" cy="1668584"/>
            <a:chOff x="4712677" y="2188308"/>
            <a:chExt cx="703385" cy="166858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B4ACEA3-B876-DA67-4A17-70FD6DF42FF9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D66C5FE-DE89-B299-EBC6-0993B3982F98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E9F5A1-AA7A-7213-CC67-BDCE2C693420}"/>
                </a:ext>
              </a:extLst>
            </p:cNvPr>
            <p:cNvCxnSpPr>
              <a:stCxn id="25" idx="2"/>
              <a:endCxn id="2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A6D816E-316E-CC74-DD6B-7D291EB9A880}"/>
                </a:ext>
              </a:extLst>
            </p:cNvPr>
            <p:cNvCxnSpPr>
              <a:stCxn id="25" idx="6"/>
              <a:endCxn id="2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3E5CDEC-C296-2168-D605-25764399E743}"/>
              </a:ext>
            </a:extLst>
          </p:cNvPr>
          <p:cNvGrpSpPr/>
          <p:nvPr/>
        </p:nvGrpSpPr>
        <p:grpSpPr>
          <a:xfrm rot="2513119">
            <a:off x="3887462" y="1284127"/>
            <a:ext cx="703385" cy="1668584"/>
            <a:chOff x="4712677" y="2188308"/>
            <a:chExt cx="703385" cy="1668584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420D6B3-BC3E-0CCE-DF5E-7ABB0B9CBC06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26DF407-E428-1146-2713-F369DBEC8BC2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E405E9E-AC6F-EAF4-E454-0E00897BB049}"/>
                </a:ext>
              </a:extLst>
            </p:cNvPr>
            <p:cNvCxnSpPr>
              <a:stCxn id="35" idx="2"/>
              <a:endCxn id="3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362C9A7-55FE-959D-1AAA-2EE7E6C32747}"/>
                </a:ext>
              </a:extLst>
            </p:cNvPr>
            <p:cNvCxnSpPr>
              <a:stCxn id="35" idx="6"/>
              <a:endCxn id="3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/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/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/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 data transfer task D (referred to as a </a:t>
                </a:r>
                <a:r>
                  <a:rPr lang="en-US" dirty="0" err="1"/>
                  <a:t>DataBatch</a:t>
                </a:r>
                <a:r>
                  <a:rPr lang="en-US" dirty="0"/>
                  <a:t>) is defined by its payload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and a discrete path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 The total transfer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is the sum of the cumulative propagation delay and the serialization delay: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is the instantaneous rate allocated to the batch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based on network contention.</a:t>
                </a:r>
              </a:p>
              <a:p>
                <a:endParaRPr lang="en-US" dirty="0"/>
              </a:p>
              <a:p>
                <a:r>
                  <a:rPr lang="en-US" dirty="0"/>
                  <a:t>The transfer 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</a:t>
                </a:r>
                <a:r>
                  <a:rPr lang="en-US" dirty="0" err="1"/>
                  <a:t>DataBatch</a:t>
                </a:r>
                <a:r>
                  <a:rPr lang="en-US" dirty="0"/>
                  <a:t> D, is determined by selecting the minimum transfer rate along its path P.  The bandwidth of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evenly shared with other </a:t>
                </a:r>
                <a:r>
                  <a:rPr lang="en-US" dirty="0" err="1"/>
                  <a:t>DataBatches</a:t>
                </a:r>
                <a:r>
                  <a:rPr lang="en-US" dirty="0"/>
                  <a:t> that may be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blipFill>
                <a:blip r:embed="rId13"/>
                <a:stretch>
                  <a:fillRect l="-1128" t="-600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ctangle 83">
            <a:extLst>
              <a:ext uri="{FF2B5EF4-FFF2-40B4-BE49-F238E27FC236}">
                <a16:creationId xmlns:a16="http://schemas.microsoft.com/office/drawing/2014/main" id="{9F4B133C-AE0B-C127-90DA-973FDD099797}"/>
              </a:ext>
            </a:extLst>
          </p:cNvPr>
          <p:cNvSpPr/>
          <p:nvPr/>
        </p:nvSpPr>
        <p:spPr>
          <a:xfrm>
            <a:off x="2416637" y="182061"/>
            <a:ext cx="304337" cy="304337"/>
          </a:xfrm>
          <a:prstGeom prst="rect">
            <a:avLst/>
          </a:prstGeom>
          <a:solidFill>
            <a:schemeClr val="bg1">
              <a:alpha val="4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260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31AB5-319C-C96C-F482-3596B2462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9F488FC-191A-CEC8-8886-726DA89FC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ComputeJob</a:t>
            </a:r>
            <a:r>
              <a:rPr lang="en-US" dirty="0"/>
              <a:t>      Modeling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/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/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/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/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ECF99AED-B128-8508-A9E4-2CBD168862AE}"/>
              </a:ext>
            </a:extLst>
          </p:cNvPr>
          <p:cNvGrpSpPr/>
          <p:nvPr/>
        </p:nvGrpSpPr>
        <p:grpSpPr>
          <a:xfrm rot="5400000">
            <a:off x="3502934" y="2181396"/>
            <a:ext cx="703385" cy="1668584"/>
            <a:chOff x="5094067" y="2974340"/>
            <a:chExt cx="703385" cy="1668584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AF8E658-9B49-6639-275E-1EDBD148AA8D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22D4768-5B39-1FFE-27B8-EE790806D022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A8C083B-332B-87BA-7797-C25D11E0300B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4FFECC3-3372-75E7-4067-3717D5EFF745}"/>
                  </a:ext>
                </a:extLst>
              </p:cNvPr>
              <p:cNvCxnSpPr>
                <a:stCxn id="16" idx="2"/>
                <a:endCxn id="18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D783E84-D448-9FDC-BCA1-35D54505CAEE}"/>
                  </a:ext>
                </a:extLst>
              </p:cNvPr>
              <p:cNvCxnSpPr>
                <a:stCxn id="16" idx="6"/>
                <a:endCxn id="18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/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blipFill>
                <a:blip r:embed="rId8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/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solidFill>
                <a:schemeClr val="accent5">
                  <a:lumMod val="50000"/>
                  <a:alpha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:endParaRPr lang="en-US" dirty="0"/>
              </a:p>
            </p:txBody>
          </p:sp>
        </mc:Choice>
        <mc:Fallback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7E0CBA-472A-4372-5EE6-CD9F9C2C57E1}"/>
              </a:ext>
            </a:extLst>
          </p:cNvPr>
          <p:cNvCxnSpPr>
            <a:cxnSpLocks/>
          </p:cNvCxnSpPr>
          <p:nvPr/>
        </p:nvCxnSpPr>
        <p:spPr>
          <a:xfrm flipV="1">
            <a:off x="2417445" y="2999749"/>
            <a:ext cx="3079032" cy="147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216C4E2-C7DF-05DD-B0C3-81555F52F91C}"/>
              </a:ext>
            </a:extLst>
          </p:cNvPr>
          <p:cNvCxnSpPr>
            <a:cxnSpLocks/>
          </p:cNvCxnSpPr>
          <p:nvPr/>
        </p:nvCxnSpPr>
        <p:spPr>
          <a:xfrm>
            <a:off x="5882353" y="3523774"/>
            <a:ext cx="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B9145F8-309A-3023-8C1B-F230CBA827FF}"/>
              </a:ext>
            </a:extLst>
          </p:cNvPr>
          <p:cNvCxnSpPr>
            <a:cxnSpLocks/>
          </p:cNvCxnSpPr>
          <p:nvPr/>
        </p:nvCxnSpPr>
        <p:spPr>
          <a:xfrm>
            <a:off x="6562725" y="4439782"/>
            <a:ext cx="323850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A1EA10B-9A80-29AF-FC43-9DD4D75454C2}"/>
              </a:ext>
            </a:extLst>
          </p:cNvPr>
          <p:cNvSpPr txBox="1"/>
          <p:nvPr/>
        </p:nvSpPr>
        <p:spPr>
          <a:xfrm>
            <a:off x="5199762" y="2096125"/>
            <a:ext cx="1365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ComputeJob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B12E1B-6FE6-5F30-6B8F-CE55E9BB9FAA}"/>
              </a:ext>
            </a:extLst>
          </p:cNvPr>
          <p:cNvGrpSpPr/>
          <p:nvPr/>
        </p:nvGrpSpPr>
        <p:grpSpPr>
          <a:xfrm rot="5400000">
            <a:off x="7822625" y="3605490"/>
            <a:ext cx="703385" cy="1668584"/>
            <a:chOff x="5094067" y="2974340"/>
            <a:chExt cx="703385" cy="166858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F80CB9C-858B-9F62-D052-D0E8AA333F1B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B7CC4CF-112A-0DBA-F107-F989BAB1DC2B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9F75FCB-B413-D36F-0070-8D33F32232D8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BD908A-C3E4-6E8A-A197-5C34F72F7F4C}"/>
                  </a:ext>
                </a:extLst>
              </p:cNvPr>
              <p:cNvCxnSpPr>
                <a:stCxn id="9" idx="2"/>
                <a:endCxn id="10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26FA1A6-DED0-26B0-2819-9B92D0B09DE8}"/>
                  </a:ext>
                </a:extLst>
              </p:cNvPr>
              <p:cNvCxnSpPr>
                <a:stCxn id="9" idx="6"/>
                <a:endCxn id="10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/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ComputeJob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is modeled as a time delay.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25CFD383-D335-E5B2-29E1-B66510743141}"/>
              </a:ext>
            </a:extLst>
          </p:cNvPr>
          <p:cNvSpPr txBox="1"/>
          <p:nvPr/>
        </p:nvSpPr>
        <p:spPr>
          <a:xfrm>
            <a:off x="5369681" y="3534041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Create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D14A67-9BBF-5458-1902-34D6C4568FA1}"/>
              </a:ext>
            </a:extLst>
          </p:cNvPr>
          <p:cNvSpPr txBox="1"/>
          <p:nvPr/>
        </p:nvSpPr>
        <p:spPr>
          <a:xfrm>
            <a:off x="1489042" y="3271821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D9B56A-813B-13F0-99EC-528D10B4BB56}"/>
              </a:ext>
            </a:extLst>
          </p:cNvPr>
          <p:cNvSpPr txBox="1"/>
          <p:nvPr/>
        </p:nvSpPr>
        <p:spPr>
          <a:xfrm>
            <a:off x="5308445" y="4946363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2433504F-4B4A-E440-7443-6CA8D4F8F260}"/>
              </a:ext>
            </a:extLst>
          </p:cNvPr>
          <p:cNvSpPr/>
          <p:nvPr/>
        </p:nvSpPr>
        <p:spPr>
          <a:xfrm>
            <a:off x="2858554" y="194763"/>
            <a:ext cx="323562" cy="278933"/>
          </a:xfrm>
          <a:prstGeom prst="triangle">
            <a:avLst/>
          </a:prstGeom>
          <a:solidFill>
            <a:schemeClr val="bg1">
              <a:alpha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154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094BB-C164-B047-8454-A60788855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DC4ACF2-50A2-C99E-3A79-CD026FF35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/>
              <a:t>UML Class Diagram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6BEB89-10F1-96AA-1B32-044521A31539}"/>
              </a:ext>
            </a:extLst>
          </p:cNvPr>
          <p:cNvSpPr/>
          <p:nvPr/>
        </p:nvSpPr>
        <p:spPr>
          <a:xfrm>
            <a:off x="1549400" y="1465143"/>
            <a:ext cx="2882900" cy="6684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chemeClr val="tx1"/>
                </a:solidFill>
              </a:rPr>
              <a:t>CommNetworkSimulator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75168E-8E3E-631C-CB84-870FD73BDB8F}"/>
              </a:ext>
            </a:extLst>
          </p:cNvPr>
          <p:cNvSpPr/>
          <p:nvPr/>
        </p:nvSpPr>
        <p:spPr>
          <a:xfrm>
            <a:off x="1549400" y="2133600"/>
            <a:ext cx="2882900" cy="838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TODO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56EF6D-CFF5-FBBA-C0C5-657564F5E965}"/>
              </a:ext>
            </a:extLst>
          </p:cNvPr>
          <p:cNvSpPr/>
          <p:nvPr/>
        </p:nvSpPr>
        <p:spPr>
          <a:xfrm>
            <a:off x="6477000" y="1465143"/>
            <a:ext cx="2882900" cy="6684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&lt;&lt;interface&gt;&gt;</a:t>
            </a:r>
          </a:p>
          <a:p>
            <a:pPr algn="ctr"/>
            <a:r>
              <a:rPr lang="en-US" b="1" dirty="0" err="1">
                <a:solidFill>
                  <a:schemeClr val="tx1"/>
                </a:solidFill>
              </a:rPr>
              <a:t>SimulatedSystem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FE6A30-A59A-B1C7-526A-980BC06B0DAD}"/>
              </a:ext>
            </a:extLst>
          </p:cNvPr>
          <p:cNvSpPr/>
          <p:nvPr/>
        </p:nvSpPr>
        <p:spPr>
          <a:xfrm>
            <a:off x="6477000" y="2133600"/>
            <a:ext cx="2882900" cy="838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3531007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1950</TotalTime>
  <Words>239</Words>
  <Application>Microsoft Office PowerPoint</Application>
  <PresentationFormat>Widescreen</PresentationFormat>
  <Paragraphs>43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Discrete-Event Simulation (DES)</vt:lpstr>
      <vt:lpstr>DataBatch      Transfer Modeling</vt:lpstr>
      <vt:lpstr>ComputeJob      Modeling</vt:lpstr>
      <vt:lpstr>UML Class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Virgil Mocanu</dc:creator>
  <cp:lastModifiedBy>Virgil Mocanu</cp:lastModifiedBy>
  <cp:revision>242</cp:revision>
  <dcterms:created xsi:type="dcterms:W3CDTF">2026-01-07T03:01:36Z</dcterms:created>
  <dcterms:modified xsi:type="dcterms:W3CDTF">2026-01-16T04:58:45Z</dcterms:modified>
</cp:coreProperties>
</file>