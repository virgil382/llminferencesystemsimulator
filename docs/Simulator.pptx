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64" r:id="rId4"/>
    <p:sldId id="26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059" autoAdjust="0"/>
  </p:normalViewPr>
  <p:slideViewPr>
    <p:cSldViewPr snapToGrid="0">
      <p:cViewPr varScale="1">
        <p:scale>
          <a:sx n="99" d="100"/>
          <a:sy n="99" d="100"/>
        </p:scale>
        <p:origin x="15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Discrete-Event Simulation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of Concurrent Communication and Computation in Distributed Systems</a:t>
            </a:r>
          </a:p>
        </p:txBody>
      </p:sp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r>
                      <a:rPr lang="en-US" sz="1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11506DD-2523-B054-099E-4C94F281882F}"/>
              </a:ext>
            </a:extLst>
          </p:cNvPr>
          <p:cNvSpPr/>
          <p:nvPr/>
        </p:nvSpPr>
        <p:spPr>
          <a:xfrm>
            <a:off x="6468177" y="188360"/>
            <a:ext cx="5646023" cy="1273660"/>
          </a:xfrm>
          <a:prstGeom prst="roundRect">
            <a:avLst>
              <a:gd name="adj" fmla="val 2265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D39D050-838D-499D-7CDF-6FA4FCF56291}"/>
              </a:ext>
            </a:extLst>
          </p:cNvPr>
          <p:cNvSpPr/>
          <p:nvPr/>
        </p:nvSpPr>
        <p:spPr>
          <a:xfrm>
            <a:off x="452387" y="1617044"/>
            <a:ext cx="7536581" cy="5052597"/>
          </a:xfrm>
          <a:prstGeom prst="roundRect">
            <a:avLst>
              <a:gd name="adj" fmla="val 5427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504210" cy="4918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2684039" y="1747416"/>
            <a:ext cx="3004492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CommNetworkSimulator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2684039" y="2520137"/>
            <a:ext cx="3004492" cy="603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+run(system : </a:t>
            </a:r>
            <a:r>
              <a:rPr lang="en-US" sz="1050" dirty="0" err="1">
                <a:solidFill>
                  <a:schemeClr val="tx1"/>
                </a:solidFill>
              </a:rPr>
              <a:t>SimulatedSystem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t_delta</a:t>
            </a:r>
            <a:r>
              <a:rPr lang="en-US" sz="1050" dirty="0">
                <a:solidFill>
                  <a:schemeClr val="tx1"/>
                </a:solidFill>
              </a:rPr>
              <a:t> : float)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add_compute</a:t>
            </a:r>
            <a:r>
              <a:rPr lang="en-US" sz="1050" dirty="0">
                <a:solidFill>
                  <a:schemeClr val="tx1"/>
                </a:solidFill>
              </a:rPr>
              <a:t>(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add_batch</a:t>
            </a:r>
            <a:r>
              <a:rPr lang="en-US" sz="1050" dirty="0">
                <a:solidFill>
                  <a:schemeClr val="tx1"/>
                </a:solidFill>
              </a:rPr>
              <a:t>(batch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622180" y="385720"/>
            <a:ext cx="5284187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622180" y="768996"/>
            <a:ext cx="5284187" cy="4918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on_data_transfer_complete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on_compute_complete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83A18-8F83-17E7-33C5-2B1FA151E811}"/>
              </a:ext>
            </a:extLst>
          </p:cNvPr>
          <p:cNvSpPr/>
          <p:nvPr/>
        </p:nvSpPr>
        <p:spPr>
          <a:xfrm>
            <a:off x="2109124" y="3771267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total_latency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latency_remaining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3DF5A6-5A90-9D95-8461-45ACC8E44322}"/>
              </a:ext>
            </a:extLst>
          </p:cNvPr>
          <p:cNvSpPr/>
          <p:nvPr/>
        </p:nvSpPr>
        <p:spPr>
          <a:xfrm>
            <a:off x="2226355" y="5465704"/>
            <a:ext cx="1635369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CommChannel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DEF02-B53E-4AAB-7EBE-D58F1CF39792}"/>
              </a:ext>
            </a:extLst>
          </p:cNvPr>
          <p:cNvSpPr/>
          <p:nvPr/>
        </p:nvSpPr>
        <p:spPr>
          <a:xfrm>
            <a:off x="2226355" y="5938166"/>
            <a:ext cx="1635369" cy="73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bw_gbps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lat_us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59D4DC-8680-49A4-6D7F-84987D831FB2}"/>
              </a:ext>
            </a:extLst>
          </p:cNvPr>
          <p:cNvSpPr/>
          <p:nvPr/>
        </p:nvSpPr>
        <p:spPr>
          <a:xfrm>
            <a:off x="2109124" y="3298805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DataBatch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01819-9188-44CD-9A07-0EB5697670CA}"/>
              </a:ext>
            </a:extLst>
          </p:cNvPr>
          <p:cNvSpPr txBox="1"/>
          <p:nvPr/>
        </p:nvSpPr>
        <p:spPr>
          <a:xfrm>
            <a:off x="2527552" y="5195912"/>
            <a:ext cx="5164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+path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C6FFA8-A1E1-9949-E5B1-EE47FC6D813C}"/>
              </a:ext>
            </a:extLst>
          </p:cNvPr>
          <p:cNvCxnSpPr>
            <a:cxnSpLocks/>
            <a:stCxn id="5" idx="1"/>
            <a:endCxn id="12" idx="1"/>
          </p:cNvCxnSpPr>
          <p:nvPr/>
        </p:nvCxnSpPr>
        <p:spPr>
          <a:xfrm rot="10800000" flipV="1">
            <a:off x="2109125" y="2821849"/>
            <a:ext cx="574915" cy="709096"/>
          </a:xfrm>
          <a:prstGeom prst="bentConnector3">
            <a:avLst>
              <a:gd name="adj1" fmla="val 139762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14881B4-7EAE-96FC-E4A2-1FEFB1129D3C}"/>
              </a:ext>
            </a:extLst>
          </p:cNvPr>
          <p:cNvCxnSpPr>
            <a:cxnSpLocks/>
            <a:stCxn id="2" idx="1"/>
            <a:endCxn id="6" idx="1"/>
          </p:cNvCxnSpPr>
          <p:nvPr/>
        </p:nvCxnSpPr>
        <p:spPr>
          <a:xfrm rot="10800000" flipV="1">
            <a:off x="2109125" y="1939054"/>
            <a:ext cx="574915" cy="2471738"/>
          </a:xfrm>
          <a:prstGeom prst="bentConnector3">
            <a:avLst>
              <a:gd name="adj1" fmla="val 357409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111928-4044-6D59-2689-E7BD056C02FA}"/>
              </a:ext>
            </a:extLst>
          </p:cNvPr>
          <p:cNvSpPr txBox="1"/>
          <p:nvPr/>
        </p:nvSpPr>
        <p:spPr>
          <a:xfrm>
            <a:off x="997922" y="3530944"/>
            <a:ext cx="1111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active_batches</a:t>
            </a:r>
            <a:endParaRPr lang="en-US" sz="10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E3DE83-2C0D-9870-02C0-BE8E0F5FEE8D}"/>
              </a:ext>
            </a:extLst>
          </p:cNvPr>
          <p:cNvSpPr txBox="1"/>
          <p:nvPr/>
        </p:nvSpPr>
        <p:spPr>
          <a:xfrm>
            <a:off x="696434" y="4410791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completed_batches</a:t>
            </a:r>
            <a:endParaRPr lang="en-US" sz="105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788B48-F0D0-3BE4-F4C4-6314A772CFA2}"/>
              </a:ext>
            </a:extLst>
          </p:cNvPr>
          <p:cNvSpPr/>
          <p:nvPr/>
        </p:nvSpPr>
        <p:spPr>
          <a:xfrm>
            <a:off x="4504210" y="3763085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10689FF-983C-BD27-EC0A-EE4BB4F1C710}"/>
              </a:ext>
            </a:extLst>
          </p:cNvPr>
          <p:cNvSpPr/>
          <p:nvPr/>
        </p:nvSpPr>
        <p:spPr>
          <a:xfrm>
            <a:off x="4504210" y="3290623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ComputeJob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5093D5C-2494-0947-C36C-37F4B229664C}"/>
              </a:ext>
            </a:extLst>
          </p:cNvPr>
          <p:cNvCxnSpPr>
            <a:cxnSpLocks/>
            <a:stCxn id="2" idx="3"/>
            <a:endCxn id="55" idx="3"/>
          </p:cNvCxnSpPr>
          <p:nvPr/>
        </p:nvCxnSpPr>
        <p:spPr>
          <a:xfrm>
            <a:off x="5688531" y="1939054"/>
            <a:ext cx="685510" cy="2463556"/>
          </a:xfrm>
          <a:prstGeom prst="bentConnector3">
            <a:avLst>
              <a:gd name="adj1" fmla="val 311668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86F14F0-208D-9DF4-C803-3F15AAC5A860}"/>
              </a:ext>
            </a:extLst>
          </p:cNvPr>
          <p:cNvCxnSpPr>
            <a:cxnSpLocks/>
            <a:stCxn id="5" idx="3"/>
            <a:endCxn id="56" idx="3"/>
          </p:cNvCxnSpPr>
          <p:nvPr/>
        </p:nvCxnSpPr>
        <p:spPr>
          <a:xfrm>
            <a:off x="5688531" y="2821849"/>
            <a:ext cx="685510" cy="700914"/>
          </a:xfrm>
          <a:prstGeom prst="bentConnector3">
            <a:avLst>
              <a:gd name="adj1" fmla="val 133347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A41B717-63C0-A7AC-84A8-B22B886C07CE}"/>
              </a:ext>
            </a:extLst>
          </p:cNvPr>
          <p:cNvSpPr txBox="1"/>
          <p:nvPr/>
        </p:nvSpPr>
        <p:spPr>
          <a:xfrm>
            <a:off x="6374041" y="3522763"/>
            <a:ext cx="1133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active_compute</a:t>
            </a:r>
            <a:endParaRPr lang="en-US" sz="105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C1E884-4BA5-5219-EF1D-DE6322754DB6}"/>
              </a:ext>
            </a:extLst>
          </p:cNvPr>
          <p:cNvSpPr txBox="1"/>
          <p:nvPr/>
        </p:nvSpPr>
        <p:spPr>
          <a:xfrm>
            <a:off x="6374041" y="4402610"/>
            <a:ext cx="139493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completed_compute</a:t>
            </a:r>
            <a:endParaRPr lang="en-US" sz="1050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8CB168B-A073-7E89-B9DB-25219AA56D5B}"/>
              </a:ext>
            </a:extLst>
          </p:cNvPr>
          <p:cNvCxnSpPr>
            <a:cxnSpLocks/>
            <a:stCxn id="2" idx="0"/>
            <a:endCxn id="14" idx="1"/>
          </p:cNvCxnSpPr>
          <p:nvPr/>
        </p:nvCxnSpPr>
        <p:spPr>
          <a:xfrm rot="5400000" flipH="1" flipV="1">
            <a:off x="4819203" y="-55560"/>
            <a:ext cx="1170058" cy="2435895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14E06FB1-35A8-D73C-4238-3FA69A3B5A57}"/>
              </a:ext>
            </a:extLst>
          </p:cNvPr>
          <p:cNvSpPr/>
          <p:nvPr/>
        </p:nvSpPr>
        <p:spPr>
          <a:xfrm>
            <a:off x="8193196" y="2734115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ConcreteSimulatedSystem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8CA42019-F0B5-2573-40E1-839829E791BE}"/>
              </a:ext>
            </a:extLst>
          </p:cNvPr>
          <p:cNvCxnSpPr>
            <a:cxnSpLocks/>
            <a:stCxn id="82" idx="0"/>
            <a:endCxn id="17" idx="2"/>
          </p:cNvCxnSpPr>
          <p:nvPr/>
        </p:nvCxnSpPr>
        <p:spPr>
          <a:xfrm rot="16200000" flipV="1">
            <a:off x="8663782" y="1861373"/>
            <a:ext cx="1473235" cy="272250"/>
          </a:xfrm>
          <a:prstGeom prst="bentConnector3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57257F3-133D-1AB5-60C0-ED39A0EF12A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044040" y="5050316"/>
            <a:ext cx="0" cy="41538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13240BA-A231-C881-01B7-661188EF33B0}"/>
              </a:ext>
            </a:extLst>
          </p:cNvPr>
          <p:cNvSpPr txBox="1"/>
          <p:nvPr/>
        </p:nvSpPr>
        <p:spPr>
          <a:xfrm>
            <a:off x="3044039" y="5187730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*</a:t>
            </a:r>
          </a:p>
        </p:txBody>
      </p:sp>
      <p:sp>
        <p:nvSpPr>
          <p:cNvPr id="98" name="Speech Bubble: Rectangle with Corners Rounded 97">
            <a:extLst>
              <a:ext uri="{FF2B5EF4-FFF2-40B4-BE49-F238E27FC236}">
                <a16:creationId xmlns:a16="http://schemas.microsoft.com/office/drawing/2014/main" id="{8D18C21D-B749-86EC-C946-0C6448C8BB9D}"/>
              </a:ext>
            </a:extLst>
          </p:cNvPr>
          <p:cNvSpPr/>
          <p:nvPr/>
        </p:nvSpPr>
        <p:spPr>
          <a:xfrm>
            <a:off x="200025" y="629299"/>
            <a:ext cx="3844480" cy="699787"/>
          </a:xfrm>
          <a:prstGeom prst="wedgeRoundRectCallout">
            <a:avLst>
              <a:gd name="adj1" fmla="val 22029"/>
              <a:gd name="adj2" fmla="val 96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Simulator.  After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 have been added to it, call its </a:t>
            </a:r>
            <a:r>
              <a:rPr lang="en-US" sz="1200" b="1" dirty="0">
                <a:solidFill>
                  <a:schemeClr val="tx1"/>
                </a:solidFill>
              </a:rPr>
              <a:t>run()</a:t>
            </a:r>
            <a:r>
              <a:rPr lang="en-US" sz="1200" dirty="0">
                <a:solidFill>
                  <a:schemeClr val="tx1"/>
                </a:solidFill>
              </a:rPr>
              <a:t> method to run the simulation in discrete time increments.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9" name="Speech Bubble: Rectangle with Corners Rounded 98">
            <a:extLst>
              <a:ext uri="{FF2B5EF4-FFF2-40B4-BE49-F238E27FC236}">
                <a16:creationId xmlns:a16="http://schemas.microsoft.com/office/drawing/2014/main" id="{33AA9F11-7472-4060-CF90-50FE0503C3A4}"/>
              </a:ext>
            </a:extLst>
          </p:cNvPr>
          <p:cNvSpPr/>
          <p:nvPr/>
        </p:nvSpPr>
        <p:spPr>
          <a:xfrm>
            <a:off x="9749522" y="1768592"/>
            <a:ext cx="2260657" cy="658950"/>
          </a:xfrm>
          <a:prstGeom prst="wedgeRoundRectCallout">
            <a:avLst>
              <a:gd name="adj1" fmla="val -22808"/>
              <a:gd name="adj2" fmla="val -88174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Simulator interface with two event handlers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Speech Bubble: Rectangle with Corners Rounded 99">
            <a:extLst>
              <a:ext uri="{FF2B5EF4-FFF2-40B4-BE49-F238E27FC236}">
                <a16:creationId xmlns:a16="http://schemas.microsoft.com/office/drawing/2014/main" id="{814CCD75-571B-81A9-1E3C-6D855CD75BD1}"/>
              </a:ext>
            </a:extLst>
          </p:cNvPr>
          <p:cNvSpPr/>
          <p:nvPr/>
        </p:nvSpPr>
        <p:spPr>
          <a:xfrm>
            <a:off x="8459150" y="4398234"/>
            <a:ext cx="3247451" cy="2074045"/>
          </a:xfrm>
          <a:prstGeom prst="wedgeRoundRectCallout">
            <a:avLst>
              <a:gd name="adj1" fmla="val -22068"/>
              <a:gd name="adj2" fmla="val -6914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A concrete system that implements the simulator interface.  Its methods handle events from the simulator announcing the completion of data transfers and compute jobs by orchestrating the creation of additional </a:t>
            </a:r>
            <a:r>
              <a:rPr lang="en-US" sz="1200" b="1" dirty="0" err="1">
                <a:solidFill>
                  <a:schemeClr val="tx1"/>
                </a:solidFill>
              </a:rPr>
              <a:t>CommJobs</a:t>
            </a:r>
            <a:r>
              <a:rPr lang="en-US" sz="1200" dirty="0">
                <a:solidFill>
                  <a:schemeClr val="tx1"/>
                </a:solidFill>
              </a:rPr>
              <a:t> and </a:t>
            </a:r>
            <a:r>
              <a:rPr lang="en-US" sz="1200" b="1" dirty="0" err="1">
                <a:solidFill>
                  <a:schemeClr val="tx1"/>
                </a:solidFill>
              </a:rPr>
              <a:t>DataBatches</a:t>
            </a:r>
            <a:r>
              <a:rPr lang="en-US" sz="1200" dirty="0">
                <a:solidFill>
                  <a:schemeClr val="tx1"/>
                </a:solidFill>
              </a:rPr>
              <a:t> and submitting them to the simulator.  Its </a:t>
            </a:r>
            <a:r>
              <a:rPr lang="en-US" sz="1200" b="1" dirty="0">
                <a:solidFill>
                  <a:schemeClr val="tx1"/>
                </a:solidFill>
              </a:rPr>
              <a:t>start()</a:t>
            </a:r>
            <a:r>
              <a:rPr lang="en-US" sz="1200" dirty="0">
                <a:solidFill>
                  <a:schemeClr val="tx1"/>
                </a:solidFill>
              </a:rPr>
              <a:t> method kicks off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2CC24BB-BA48-1713-63BF-437ED9FE6979}"/>
              </a:ext>
            </a:extLst>
          </p:cNvPr>
          <p:cNvSpPr/>
          <p:nvPr/>
        </p:nvSpPr>
        <p:spPr>
          <a:xfrm>
            <a:off x="8193195" y="3120546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870F73-B9F3-0FA9-68F6-739BD08B3EBD}"/>
              </a:ext>
            </a:extLst>
          </p:cNvPr>
          <p:cNvSpPr/>
          <p:nvPr/>
        </p:nvSpPr>
        <p:spPr>
          <a:xfrm>
            <a:off x="8193195" y="3501494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+start(simulator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27C0DA1-378A-3C62-78A8-B6ACC7BC7E1C}"/>
              </a:ext>
            </a:extLst>
          </p:cNvPr>
          <p:cNvSpPr/>
          <p:nvPr/>
        </p:nvSpPr>
        <p:spPr>
          <a:xfrm>
            <a:off x="2684040" y="2130420"/>
            <a:ext cx="3004492" cy="381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current_time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F3B683E-A875-E988-936D-CAB48316EF34}"/>
              </a:ext>
            </a:extLst>
          </p:cNvPr>
          <p:cNvCxnSpPr>
            <a:cxnSpLocks/>
          </p:cNvCxnSpPr>
          <p:nvPr/>
        </p:nvCxnSpPr>
        <p:spPr>
          <a:xfrm flipH="1">
            <a:off x="4595904" y="487080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9660B4F0-8C08-DEE4-7E8B-D75A0CD564D0}"/>
              </a:ext>
            </a:extLst>
          </p:cNvPr>
          <p:cNvSpPr txBox="1"/>
          <p:nvPr/>
        </p:nvSpPr>
        <p:spPr>
          <a:xfrm>
            <a:off x="4234110" y="174962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add(_compute() or </a:t>
            </a:r>
            <a:r>
              <a:rPr lang="en-US" sz="1050" dirty="0" err="1"/>
              <a:t>add_batch</a:t>
            </a:r>
            <a:r>
              <a:rPr lang="en-US" sz="1050" dirty="0"/>
              <a:t>()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233520B-3A17-2AD3-5B51-38650D4AA761}"/>
              </a:ext>
            </a:extLst>
          </p:cNvPr>
          <p:cNvCxnSpPr>
            <a:cxnSpLocks/>
          </p:cNvCxnSpPr>
          <p:nvPr/>
        </p:nvCxnSpPr>
        <p:spPr>
          <a:xfrm>
            <a:off x="4595904" y="66326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CC52BE4-66E8-12E4-30FB-70BBFF01CCCD}"/>
              </a:ext>
            </a:extLst>
          </p:cNvPr>
          <p:cNvSpPr txBox="1"/>
          <p:nvPr/>
        </p:nvSpPr>
        <p:spPr>
          <a:xfrm>
            <a:off x="4579557" y="719244"/>
            <a:ext cx="12137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Completion events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2005</TotalTime>
  <Words>538</Words>
  <Application>Microsoft Office PowerPoint</Application>
  <PresentationFormat>Widescreen</PresentationFormat>
  <Paragraphs>78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Discrete-Event Simulation (DES)</vt:lpstr>
      <vt:lpstr>DataBatch      Transfer Modeling</vt:lpstr>
      <vt:lpstr>ComputeJob      Modeling</vt:lpstr>
      <vt:lpstr>UML Class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289</cp:revision>
  <dcterms:created xsi:type="dcterms:W3CDTF">2026-01-07T03:01:36Z</dcterms:created>
  <dcterms:modified xsi:type="dcterms:W3CDTF">2026-01-17T08:50:25Z</dcterms:modified>
</cp:coreProperties>
</file>